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59" r:id="rId6"/>
    <p:sldId id="264" r:id="rId7"/>
    <p:sldId id="261" r:id="rId8"/>
    <p:sldId id="262" r:id="rId9"/>
    <p:sldId id="263" r:id="rId10"/>
  </p:sldIdLst>
  <p:sldSz cx="18288000" cy="10287000"/>
  <p:notesSz cx="6858000" cy="9144000"/>
  <p:embeddedFontLst>
    <p:embeddedFont>
      <p:font typeface="Canva Sans" panose="020B0604020202020204" charset="0"/>
      <p:regular r:id="rId11"/>
    </p:embeddedFont>
    <p:embeddedFont>
      <p:font typeface="Canva Sans Bold" panose="020B0604020202020204" charset="0"/>
      <p:regular r:id="rId12"/>
    </p:embeddedFon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13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345C">
                <a:alpha val="100000"/>
              </a:srgbClr>
            </a:gs>
            <a:gs pos="100000">
              <a:srgbClr val="284B7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2748834"/>
            <a:ext cx="5508101" cy="6520278"/>
            <a:chOff x="0" y="0"/>
            <a:chExt cx="1450693" cy="17172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0693" cy="1717275"/>
            </a:xfrm>
            <a:custGeom>
              <a:avLst/>
              <a:gdLst/>
              <a:ahLst/>
              <a:cxnLst/>
              <a:rect l="l" t="t" r="r" b="b"/>
              <a:pathLst>
                <a:path w="1450693" h="1717275">
                  <a:moveTo>
                    <a:pt x="0" y="0"/>
                  </a:moveTo>
                  <a:lnTo>
                    <a:pt x="1450693" y="0"/>
                  </a:lnTo>
                  <a:lnTo>
                    <a:pt x="1450693" y="1717275"/>
                  </a:lnTo>
                  <a:lnTo>
                    <a:pt x="0" y="1717275"/>
                  </a:lnTo>
                  <a:close/>
                </a:path>
              </a:pathLst>
            </a:custGeom>
            <a:gradFill rotWithShape="1">
              <a:gsLst>
                <a:gs pos="0">
                  <a:srgbClr val="9BC8D3">
                    <a:alpha val="100000"/>
                  </a:srgbClr>
                </a:gs>
                <a:gs pos="100000">
                  <a:srgbClr val="61B4BE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50693" cy="1755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018225" y="3017225"/>
            <a:ext cx="7269775" cy="7269775"/>
          </a:xfrm>
          <a:custGeom>
            <a:avLst/>
            <a:gdLst/>
            <a:ahLst/>
            <a:cxnLst/>
            <a:rect l="l" t="t" r="r" b="b"/>
            <a:pathLst>
              <a:path w="7269775" h="7269775">
                <a:moveTo>
                  <a:pt x="0" y="0"/>
                </a:moveTo>
                <a:lnTo>
                  <a:pt x="7269775" y="0"/>
                </a:lnTo>
                <a:lnTo>
                  <a:pt x="7269775" y="7269775"/>
                </a:lnTo>
                <a:lnTo>
                  <a:pt x="0" y="72697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028700" y="1028700"/>
            <a:ext cx="4007551" cy="8229600"/>
            <a:chOff x="0" y="0"/>
            <a:chExt cx="2847340" cy="58470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47340" cy="5847080"/>
            </a:xfrm>
            <a:custGeom>
              <a:avLst/>
              <a:gdLst/>
              <a:ahLst/>
              <a:cxnLst/>
              <a:rect l="l" t="t" r="r" b="b"/>
              <a:pathLst>
                <a:path w="2847340" h="5847080">
                  <a:moveTo>
                    <a:pt x="2847340" y="5847080"/>
                  </a:moveTo>
                  <a:lnTo>
                    <a:pt x="0" y="5847080"/>
                  </a:lnTo>
                  <a:lnTo>
                    <a:pt x="0" y="0"/>
                  </a:lnTo>
                  <a:lnTo>
                    <a:pt x="1280160" y="0"/>
                  </a:lnTo>
                  <a:cubicBezTo>
                    <a:pt x="2146300" y="0"/>
                    <a:pt x="2847340" y="702310"/>
                    <a:pt x="2847340" y="1567180"/>
                  </a:cubicBezTo>
                  <a:lnTo>
                    <a:pt x="2847340" y="5847080"/>
                  </a:lnTo>
                  <a:close/>
                </a:path>
              </a:pathLst>
            </a:custGeom>
            <a:blipFill>
              <a:blip r:embed="rId3"/>
              <a:stretch>
                <a:fillRect l="-71169" r="-137051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661756" y="729964"/>
            <a:ext cx="1436288" cy="1355333"/>
          </a:xfrm>
          <a:custGeom>
            <a:avLst/>
            <a:gdLst/>
            <a:ahLst/>
            <a:cxnLst/>
            <a:rect l="l" t="t" r="r" b="b"/>
            <a:pathLst>
              <a:path w="1436288" h="1355333">
                <a:moveTo>
                  <a:pt x="0" y="0"/>
                </a:moveTo>
                <a:lnTo>
                  <a:pt x="1436288" y="0"/>
                </a:lnTo>
                <a:lnTo>
                  <a:pt x="1436288" y="1355333"/>
                </a:lnTo>
                <a:lnTo>
                  <a:pt x="0" y="13553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2705119" y="-2231865"/>
            <a:ext cx="3895986" cy="389598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BC8D3">
                    <a:alpha val="100000"/>
                  </a:srgbClr>
                </a:gs>
                <a:gs pos="100000">
                  <a:srgbClr val="61B4BE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015828" y="6890885"/>
            <a:ext cx="984546" cy="984546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BC8D3">
                    <a:alpha val="100000"/>
                  </a:srgbClr>
                </a:gs>
                <a:gs pos="100000">
                  <a:srgbClr val="61B4BE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620492" y="1340955"/>
            <a:ext cx="9515921" cy="507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Zeroth Review – Phase 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858340" y="2446090"/>
            <a:ext cx="11820059" cy="1417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en-US" sz="2699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 Confidence-Driven Probabilistic Machine Learning Framework for Electricity Demand-Supply Gap Forecasting and RAG-Based Energy Planning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858341" y="4729734"/>
            <a:ext cx="3530560" cy="596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Members: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51717" y="5472801"/>
            <a:ext cx="4762148" cy="1417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 Udayakumar – 43120227</a:t>
            </a:r>
          </a:p>
          <a:p>
            <a:pPr algn="ctr">
              <a:lnSpc>
                <a:spcPts val="3780"/>
              </a:lnSpc>
            </a:pPr>
            <a:r>
              <a:rPr lang="en-US" sz="27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 </a:t>
            </a:r>
            <a:r>
              <a:rPr lang="en-US" sz="2700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Tamilarasu</a:t>
            </a:r>
            <a:r>
              <a:rPr lang="en-US" sz="27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- 43120224</a:t>
            </a:r>
          </a:p>
          <a:p>
            <a:pPr algn="ctr">
              <a:lnSpc>
                <a:spcPts val="3780"/>
              </a:lnSpc>
            </a:pPr>
            <a:r>
              <a:rPr lang="en-US" sz="27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Suganth Kesavan - 43120216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955613" y="5472800"/>
            <a:ext cx="6332387" cy="1417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Dr. Kamatchi K. S</a:t>
            </a:r>
          </a:p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Associate Professor</a:t>
            </a:r>
          </a:p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Department of Information Technology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613865" y="4729732"/>
            <a:ext cx="3236000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Guide Details : 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345C">
                <a:alpha val="100000"/>
              </a:srgbClr>
            </a:gs>
            <a:gs pos="100000">
              <a:srgbClr val="284B7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0970698" y="2091316"/>
            <a:ext cx="3596167" cy="359616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BC8D3">
                    <a:alpha val="100000"/>
                  </a:srgbClr>
                </a:gs>
                <a:gs pos="100000">
                  <a:srgbClr val="61B4BE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874429" y="3047689"/>
            <a:ext cx="5384871" cy="5147994"/>
            <a:chOff x="0" y="0"/>
            <a:chExt cx="834257" cy="7975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34257" cy="797559"/>
            </a:xfrm>
            <a:custGeom>
              <a:avLst/>
              <a:gdLst/>
              <a:ahLst/>
              <a:cxnLst/>
              <a:rect l="l" t="t" r="r" b="b"/>
              <a:pathLst>
                <a:path w="834257" h="797559">
                  <a:moveTo>
                    <a:pt x="0" y="0"/>
                  </a:moveTo>
                  <a:lnTo>
                    <a:pt x="834257" y="0"/>
                  </a:lnTo>
                  <a:lnTo>
                    <a:pt x="834257" y="797559"/>
                  </a:lnTo>
                  <a:lnTo>
                    <a:pt x="0" y="797559"/>
                  </a:lnTo>
                  <a:close/>
                </a:path>
              </a:pathLst>
            </a:custGeom>
            <a:blipFill>
              <a:blip r:embed="rId2"/>
              <a:stretch>
                <a:fillRect l="-21611" r="-21611"/>
              </a:stretch>
            </a:blipFill>
            <a:ln w="95250" cap="sq">
              <a:solidFill>
                <a:srgbClr val="61B4BE"/>
              </a:solidFill>
              <a:prstDash val="solid"/>
              <a:miter/>
            </a:ln>
          </p:spPr>
        </p:sp>
      </p:grpSp>
      <p:sp>
        <p:nvSpPr>
          <p:cNvPr id="7" name="Freeform 7"/>
          <p:cNvSpPr/>
          <p:nvPr/>
        </p:nvSpPr>
        <p:spPr>
          <a:xfrm>
            <a:off x="15823012" y="1028700"/>
            <a:ext cx="1436288" cy="1355333"/>
          </a:xfrm>
          <a:custGeom>
            <a:avLst/>
            <a:gdLst/>
            <a:ahLst/>
            <a:cxnLst/>
            <a:rect l="l" t="t" r="r" b="b"/>
            <a:pathLst>
              <a:path w="1436288" h="1355333">
                <a:moveTo>
                  <a:pt x="0" y="0"/>
                </a:moveTo>
                <a:lnTo>
                  <a:pt x="1436288" y="0"/>
                </a:lnTo>
                <a:lnTo>
                  <a:pt x="1436288" y="1355333"/>
                </a:lnTo>
                <a:lnTo>
                  <a:pt x="0" y="13553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213905" y="8662579"/>
            <a:ext cx="2045395" cy="595721"/>
          </a:xfrm>
          <a:custGeom>
            <a:avLst/>
            <a:gdLst/>
            <a:ahLst/>
            <a:cxnLst/>
            <a:rect l="l" t="t" r="r" b="b"/>
            <a:pathLst>
              <a:path w="2045395" h="595721">
                <a:moveTo>
                  <a:pt x="0" y="0"/>
                </a:moveTo>
                <a:lnTo>
                  <a:pt x="2045395" y="0"/>
                </a:lnTo>
                <a:lnTo>
                  <a:pt x="2045395" y="595721"/>
                </a:lnTo>
                <a:lnTo>
                  <a:pt x="0" y="5957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TextBox 12"/>
          <p:cNvSpPr txBox="1"/>
          <p:nvPr/>
        </p:nvSpPr>
        <p:spPr>
          <a:xfrm>
            <a:off x="5943600" y="1102095"/>
            <a:ext cx="9461520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6399" b="1" dirty="0">
                <a:solidFill>
                  <a:srgbClr val="CCDBE5"/>
                </a:solidFill>
                <a:latin typeface="Inter Bold"/>
                <a:ea typeface="Inter Bold"/>
                <a:cs typeface="Inter Bold"/>
                <a:sym typeface="Inter Bold"/>
              </a:rPr>
              <a:t>TITLE JUSTIFICATION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60251" y="2428456"/>
            <a:ext cx="9610447" cy="6775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 algn="l">
              <a:lnSpc>
                <a:spcPts val="3849"/>
              </a:lnSpc>
              <a:buFont typeface="Arial"/>
              <a:buChar char="•"/>
            </a:pPr>
            <a:r>
              <a:rPr lang="en-US" sz="2499" spc="11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Confidence-Driven: Shows how much we can trust the prediction.</a:t>
            </a:r>
          </a:p>
          <a:p>
            <a:pPr marL="539748" lvl="1" indent="-269874" algn="l">
              <a:lnSpc>
                <a:spcPts val="3849"/>
              </a:lnSpc>
              <a:buFont typeface="Arial"/>
              <a:buChar char="•"/>
            </a:pPr>
            <a:endParaRPr lang="en-US" sz="2499" spc="117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39748" lvl="1" indent="-269874" algn="l">
              <a:lnSpc>
                <a:spcPts val="3849"/>
              </a:lnSpc>
              <a:buFont typeface="Arial"/>
              <a:buChar char="•"/>
            </a:pPr>
            <a:r>
              <a:rPr lang="en-US" sz="2499" spc="11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Probabilistic Machine Learning: Predicts a range of possible future values instead of only one value.</a:t>
            </a:r>
          </a:p>
          <a:p>
            <a:pPr marL="539748" lvl="1" indent="-269874" algn="l">
              <a:lnSpc>
                <a:spcPts val="3849"/>
              </a:lnSpc>
              <a:buFont typeface="Arial"/>
              <a:buChar char="•"/>
            </a:pPr>
            <a:endParaRPr lang="en-US" sz="2499" spc="117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39748" lvl="1" indent="-269874" algn="l">
              <a:lnSpc>
                <a:spcPts val="3849"/>
              </a:lnSpc>
              <a:buFont typeface="Arial"/>
              <a:buChar char="•"/>
            </a:pPr>
            <a:r>
              <a:rPr lang="en-US" sz="2499" spc="11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Demand–Supply Gap Forecasting: Shows whether electricity supply is enough to meet the demand.</a:t>
            </a:r>
          </a:p>
          <a:p>
            <a:pPr marL="539748" lvl="1" indent="-269874" algn="l">
              <a:lnSpc>
                <a:spcPts val="3849"/>
              </a:lnSpc>
              <a:buFont typeface="Arial"/>
              <a:buChar char="•"/>
            </a:pPr>
            <a:endParaRPr lang="en-US" sz="2499" spc="117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39748" lvl="1" indent="-269874" algn="l">
              <a:lnSpc>
                <a:spcPts val="3849"/>
              </a:lnSpc>
              <a:buFont typeface="Arial"/>
              <a:buChar char="•"/>
            </a:pPr>
            <a:r>
              <a:rPr lang="en-US" sz="2499" spc="11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RAG-Based Energy </a:t>
            </a:r>
            <a:r>
              <a:rPr lang="en-US" sz="2499" spc="11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Planning:Suggests</a:t>
            </a:r>
            <a:r>
              <a:rPr lang="en-US" sz="2499" spc="11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the best actions to manage electricity efficiently.</a:t>
            </a:r>
          </a:p>
          <a:p>
            <a:pPr marL="539748" lvl="1" indent="-269874" algn="l">
              <a:lnSpc>
                <a:spcPts val="3849"/>
              </a:lnSpc>
              <a:buFont typeface="Arial"/>
              <a:buChar char="•"/>
            </a:pPr>
            <a:endParaRPr lang="en-US" sz="2499" spc="117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39748" lvl="1" indent="-269874" algn="l">
              <a:lnSpc>
                <a:spcPts val="3849"/>
              </a:lnSpc>
              <a:buFont typeface="Arial"/>
              <a:buChar char="•"/>
            </a:pPr>
            <a:r>
              <a:rPr lang="en-US" sz="2499" spc="11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Framework: Combines all the steps into one complete system.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345C">
                <a:alpha val="100000"/>
              </a:srgbClr>
            </a:gs>
            <a:gs pos="100000">
              <a:srgbClr val="284B7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 flipH="1">
            <a:off x="0" y="3017225"/>
            <a:ext cx="7269775" cy="7269775"/>
          </a:xfrm>
          <a:custGeom>
            <a:avLst/>
            <a:gdLst/>
            <a:ahLst/>
            <a:cxnLst/>
            <a:rect l="l" t="t" r="r" b="b"/>
            <a:pathLst>
              <a:path w="7269775" h="7269775">
                <a:moveTo>
                  <a:pt x="7269775" y="0"/>
                </a:moveTo>
                <a:lnTo>
                  <a:pt x="0" y="0"/>
                </a:lnTo>
                <a:lnTo>
                  <a:pt x="0" y="7269775"/>
                </a:lnTo>
                <a:lnTo>
                  <a:pt x="7269775" y="7269775"/>
                </a:lnTo>
                <a:lnTo>
                  <a:pt x="7269775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6781800" y="1036704"/>
            <a:ext cx="7025184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6399" b="1" dirty="0">
                <a:solidFill>
                  <a:srgbClr val="CCDBE5"/>
                </a:solidFill>
                <a:latin typeface="Inter Bold"/>
                <a:ea typeface="Inter Bold"/>
                <a:cs typeface="Inter Bold"/>
                <a:sym typeface="Inter Bold"/>
              </a:rPr>
              <a:t>ABSTRACT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5800" y="3159206"/>
            <a:ext cx="16459200" cy="3968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69874" lvl="1" algn="just">
              <a:lnSpc>
                <a:spcPts val="3899"/>
              </a:lnSpc>
            </a:pPr>
            <a:r>
              <a:rPr lang="en-IN" sz="2800" dirty="0">
                <a:solidFill>
                  <a:schemeClr val="bg1"/>
                </a:solidFill>
              </a:rPr>
              <a:t>This project proposes an AI-based framework for electricity demand–supply forecasting and demand–supply gap analysis in Tamil Nadu. The framework utilizes historical electricity demand, source-wise electricity generation, and weather data to forecast future demand and supply. It trains multiple machine learning models and selects the best-performing model for accurate prediction. The predicted demand and supply are then </a:t>
            </a:r>
            <a:r>
              <a:rPr lang="en-IN" sz="2800" dirty="0" err="1">
                <a:solidFill>
                  <a:schemeClr val="bg1"/>
                </a:solidFill>
              </a:rPr>
              <a:t>analyzed</a:t>
            </a:r>
            <a:r>
              <a:rPr lang="en-IN" sz="2800" dirty="0">
                <a:solidFill>
                  <a:schemeClr val="bg1"/>
                </a:solidFill>
              </a:rPr>
              <a:t> to identify the future demand–supply gap, along with multi-level confidence intervals (90%, 95%, and 99%) to show how confident the predictions are. Finally, the framework performs confidence-driven risk assessment and provides RAG-based energy planning recommendations to support better electricity planning and decision-making.</a:t>
            </a:r>
            <a:endParaRPr lang="en-US" sz="2499" dirty="0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345C">
                <a:alpha val="100000"/>
              </a:srgbClr>
            </a:gs>
            <a:gs pos="100000">
              <a:srgbClr val="284B7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572896" y="5936838"/>
            <a:ext cx="3321462" cy="332146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BC8D3">
                    <a:alpha val="100000"/>
                  </a:srgbClr>
                </a:gs>
                <a:gs pos="100000">
                  <a:srgbClr val="61B4BE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07558" y="3454173"/>
            <a:ext cx="6430414" cy="4710488"/>
            <a:chOff x="0" y="0"/>
            <a:chExt cx="996239" cy="7297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96239" cy="729778"/>
            </a:xfrm>
            <a:custGeom>
              <a:avLst/>
              <a:gdLst/>
              <a:ahLst/>
              <a:cxnLst/>
              <a:rect l="l" t="t" r="r" b="b"/>
              <a:pathLst>
                <a:path w="996239" h="729778">
                  <a:moveTo>
                    <a:pt x="0" y="0"/>
                  </a:moveTo>
                  <a:lnTo>
                    <a:pt x="996239" y="0"/>
                  </a:lnTo>
                  <a:lnTo>
                    <a:pt x="996239" y="729778"/>
                  </a:lnTo>
                  <a:lnTo>
                    <a:pt x="0" y="729778"/>
                  </a:lnTo>
                  <a:close/>
                </a:path>
              </a:pathLst>
            </a:custGeom>
            <a:blipFill>
              <a:blip r:embed="rId2"/>
              <a:stretch>
                <a:fillRect l="-5181" r="-5181"/>
              </a:stretch>
            </a:blipFill>
            <a:ln w="95250" cap="sq">
              <a:solidFill>
                <a:srgbClr val="61B4BE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224035" y="1114425"/>
            <a:ext cx="9392053" cy="749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500" b="1">
                <a:solidFill>
                  <a:srgbClr val="CCDBE5"/>
                </a:solidFill>
                <a:latin typeface="Inter Bold"/>
                <a:ea typeface="Inter Bold"/>
                <a:cs typeface="Inter Bold"/>
                <a:sym typeface="Inter Bold"/>
              </a:rPr>
              <a:t>PROBLEM STATEMENT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0" y="2621601"/>
            <a:ext cx="8928478" cy="581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8634" lvl="1" indent="-289317" algn="l">
              <a:lnSpc>
                <a:spcPts val="4234"/>
              </a:lnSpc>
              <a:buFont typeface="Arial"/>
              <a:buChar char="•"/>
            </a:pPr>
            <a:r>
              <a:rPr lang="en-US" sz="2680" dirty="0">
                <a:solidFill>
                  <a:srgbClr val="CCDBE5"/>
                </a:solidFill>
                <a:latin typeface="Inter"/>
                <a:ea typeface="Inter"/>
                <a:cs typeface="Inter"/>
                <a:sym typeface="Inter"/>
              </a:rPr>
              <a:t>Electricity demand and supply change every day, so they are difficult to predict.</a:t>
            </a:r>
          </a:p>
          <a:p>
            <a:pPr marL="578634" lvl="1" indent="-289317" algn="l">
              <a:lnSpc>
                <a:spcPts val="4234"/>
              </a:lnSpc>
              <a:buFont typeface="Arial"/>
              <a:buChar char="•"/>
            </a:pPr>
            <a:r>
              <a:rPr lang="en-US" sz="2680" dirty="0">
                <a:solidFill>
                  <a:srgbClr val="CCDBE5"/>
                </a:solidFill>
                <a:latin typeface="Inter"/>
                <a:ea typeface="Inter"/>
                <a:cs typeface="Inter"/>
                <a:sym typeface="Inter"/>
              </a:rPr>
              <a:t>Most existing methods predict only electricity demand and do not forecast electricity supply together.</a:t>
            </a:r>
          </a:p>
          <a:p>
            <a:pPr marL="578634" lvl="1" indent="-289317" algn="l">
              <a:lnSpc>
                <a:spcPts val="4234"/>
              </a:lnSpc>
              <a:buFont typeface="Arial"/>
              <a:buChar char="•"/>
            </a:pPr>
            <a:r>
              <a:rPr lang="en-US" sz="2680" dirty="0">
                <a:solidFill>
                  <a:srgbClr val="CCDBE5"/>
                </a:solidFill>
                <a:latin typeface="Inter"/>
                <a:ea typeface="Inter"/>
                <a:cs typeface="Inter"/>
                <a:sym typeface="Inter"/>
              </a:rPr>
              <a:t>Current methods give only one prediction and do not tell how confident the prediction is.</a:t>
            </a:r>
          </a:p>
          <a:p>
            <a:pPr marL="578634" lvl="1" indent="-289317" algn="l">
              <a:lnSpc>
                <a:spcPts val="4234"/>
              </a:lnSpc>
              <a:buFont typeface="Arial"/>
              <a:buChar char="•"/>
            </a:pPr>
            <a:r>
              <a:rPr lang="en-US" sz="2680" dirty="0">
                <a:solidFill>
                  <a:srgbClr val="CCDBE5"/>
                </a:solidFill>
                <a:latin typeface="Inter"/>
                <a:ea typeface="Inter"/>
                <a:cs typeface="Inter"/>
                <a:sym typeface="Inter"/>
              </a:rPr>
              <a:t>Power departments need a better system to plan electricity in advance.</a:t>
            </a:r>
          </a:p>
          <a:p>
            <a:pPr marL="578634" lvl="1" indent="-289317" algn="l">
              <a:lnSpc>
                <a:spcPts val="4234"/>
              </a:lnSpc>
              <a:buFont typeface="Arial"/>
              <a:buChar char="•"/>
            </a:pPr>
            <a:r>
              <a:rPr lang="en-US" sz="2680" dirty="0">
                <a:solidFill>
                  <a:srgbClr val="CCDBE5"/>
                </a:solidFill>
                <a:latin typeface="Inter"/>
                <a:ea typeface="Inter"/>
                <a:cs typeface="Inter"/>
                <a:sym typeface="Inter"/>
              </a:rPr>
              <a:t>An AI-based system can help make better energy planning decisions.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345C">
                <a:alpha val="100000"/>
              </a:srgbClr>
            </a:gs>
            <a:gs pos="100000">
              <a:srgbClr val="284B7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3017225"/>
            <a:ext cx="7269775" cy="7269775"/>
          </a:xfrm>
          <a:custGeom>
            <a:avLst/>
            <a:gdLst/>
            <a:ahLst/>
            <a:cxnLst/>
            <a:rect l="l" t="t" r="r" b="b"/>
            <a:pathLst>
              <a:path w="7269775" h="7269775">
                <a:moveTo>
                  <a:pt x="7269775" y="0"/>
                </a:moveTo>
                <a:lnTo>
                  <a:pt x="0" y="0"/>
                </a:lnTo>
                <a:lnTo>
                  <a:pt x="0" y="7269775"/>
                </a:lnTo>
                <a:lnTo>
                  <a:pt x="7269775" y="7269775"/>
                </a:lnTo>
                <a:lnTo>
                  <a:pt x="7269775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5400000">
            <a:off x="742134" y="2876306"/>
            <a:ext cx="3596167" cy="359616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BC8D3">
                    <a:alpha val="100000"/>
                  </a:srgbClr>
                </a:gs>
                <a:gs pos="100000">
                  <a:srgbClr val="61B4BE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063122" y="1028700"/>
            <a:ext cx="984546" cy="98454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BC8D3">
                    <a:alpha val="100000"/>
                  </a:srgbClr>
                </a:gs>
                <a:gs pos="100000">
                  <a:srgbClr val="61B4BE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45865" y="3832679"/>
            <a:ext cx="5384871" cy="5147994"/>
            <a:chOff x="0" y="0"/>
            <a:chExt cx="834257" cy="79755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34257" cy="797559"/>
            </a:xfrm>
            <a:custGeom>
              <a:avLst/>
              <a:gdLst/>
              <a:ahLst/>
              <a:cxnLst/>
              <a:rect l="l" t="t" r="r" b="b"/>
              <a:pathLst>
                <a:path w="834257" h="797559">
                  <a:moveTo>
                    <a:pt x="0" y="0"/>
                  </a:moveTo>
                  <a:lnTo>
                    <a:pt x="834257" y="0"/>
                  </a:lnTo>
                  <a:lnTo>
                    <a:pt x="834257" y="797559"/>
                  </a:lnTo>
                  <a:lnTo>
                    <a:pt x="0" y="797559"/>
                  </a:lnTo>
                  <a:close/>
                </a:path>
              </a:pathLst>
            </a:custGeom>
            <a:blipFill>
              <a:blip r:embed="rId3"/>
              <a:stretch>
                <a:fillRect l="-34978" r="-34978"/>
              </a:stretch>
            </a:blipFill>
            <a:ln w="95250" cap="sq">
              <a:solidFill>
                <a:srgbClr val="61B4BE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5086350" y="1133475"/>
            <a:ext cx="8540707" cy="858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42"/>
              </a:lnSpc>
            </a:pPr>
            <a:r>
              <a:rPr lang="en-US" sz="6342" b="1">
                <a:solidFill>
                  <a:srgbClr val="CCDBE5"/>
                </a:solidFill>
                <a:latin typeface="Inter Bold"/>
                <a:ea typeface="Inter Bold"/>
                <a:cs typeface="Inter Bold"/>
                <a:sym typeface="Inter Bold"/>
              </a:rPr>
              <a:t>SCOPE&amp; FEASIBILITY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74873" y="2247900"/>
            <a:ext cx="7562378" cy="695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24"/>
              </a:lnSpc>
            </a:pPr>
            <a:r>
              <a:rPr lang="en-US" sz="2499" b="1" dirty="0">
                <a:solidFill>
                  <a:srgbClr val="CCDBE5"/>
                </a:solidFill>
                <a:latin typeface="Inter Bold"/>
                <a:ea typeface="Inter Bold"/>
                <a:cs typeface="Inter Bold"/>
                <a:sym typeface="Inter Bold"/>
              </a:rPr>
              <a:t>Social:</a:t>
            </a:r>
          </a:p>
          <a:p>
            <a:pPr marL="496567" lvl="1" indent="-248284" algn="just">
              <a:lnSpc>
                <a:spcPts val="3610"/>
              </a:lnSpc>
              <a:buFont typeface="Arial"/>
              <a:buChar char="•"/>
            </a:pPr>
            <a:r>
              <a:rPr lang="en-US" sz="2299" dirty="0">
                <a:solidFill>
                  <a:srgbClr val="CCDBE5"/>
                </a:solidFill>
                <a:latin typeface="Inter"/>
                <a:ea typeface="Inter"/>
                <a:cs typeface="Inter"/>
                <a:sym typeface="Inter"/>
              </a:rPr>
              <a:t>Helps provide electricity without interruptions.</a:t>
            </a:r>
          </a:p>
          <a:p>
            <a:pPr marL="496567" lvl="1" indent="-248284" algn="just">
              <a:lnSpc>
                <a:spcPts val="3610"/>
              </a:lnSpc>
              <a:buFont typeface="Arial"/>
              <a:buChar char="•"/>
            </a:pPr>
            <a:r>
              <a:rPr lang="en-US" sz="2299" dirty="0">
                <a:solidFill>
                  <a:srgbClr val="CCDBE5"/>
                </a:solidFill>
                <a:latin typeface="Inter"/>
                <a:ea typeface="Inter"/>
                <a:cs typeface="Inter"/>
                <a:sym typeface="Inter"/>
              </a:rPr>
              <a:t>Helps find future power shortages early. </a:t>
            </a:r>
          </a:p>
          <a:p>
            <a:pPr marL="496567" lvl="1" indent="-248284" algn="just">
              <a:lnSpc>
                <a:spcPts val="3610"/>
              </a:lnSpc>
              <a:buFont typeface="Arial"/>
              <a:buChar char="•"/>
            </a:pPr>
            <a:r>
              <a:rPr lang="en-US" sz="2299" dirty="0">
                <a:solidFill>
                  <a:srgbClr val="CCDBE5"/>
                </a:solidFill>
                <a:latin typeface="Inter"/>
                <a:ea typeface="Inter"/>
                <a:cs typeface="Inter"/>
                <a:sym typeface="Inter"/>
              </a:rPr>
              <a:t>Improves electricity service for people.</a:t>
            </a:r>
          </a:p>
          <a:p>
            <a:pPr algn="just">
              <a:lnSpc>
                <a:spcPts val="3924"/>
              </a:lnSpc>
            </a:pPr>
            <a:r>
              <a:rPr lang="en-US" sz="2499" b="1" dirty="0">
                <a:solidFill>
                  <a:srgbClr val="CCDBE5"/>
                </a:solidFill>
                <a:latin typeface="Inter Bold"/>
                <a:ea typeface="Inter Bold"/>
                <a:cs typeface="Inter Bold"/>
                <a:sym typeface="Inter Bold"/>
              </a:rPr>
              <a:t>Technical:</a:t>
            </a:r>
          </a:p>
          <a:p>
            <a:pPr marL="496567" lvl="1" indent="-248284" algn="just">
              <a:lnSpc>
                <a:spcPts val="3610"/>
              </a:lnSpc>
              <a:buFont typeface="Arial"/>
              <a:buChar char="•"/>
            </a:pPr>
            <a:r>
              <a:rPr lang="en-US" sz="2299" dirty="0">
                <a:solidFill>
                  <a:srgbClr val="CCDBE5"/>
                </a:solidFill>
                <a:latin typeface="Inter"/>
                <a:ea typeface="Inter"/>
                <a:cs typeface="Inter"/>
                <a:sym typeface="Inter"/>
              </a:rPr>
              <a:t>Predicts electricity demand and supply for the next three months. </a:t>
            </a:r>
          </a:p>
          <a:p>
            <a:pPr marL="496567" lvl="1" indent="-248284" algn="just">
              <a:lnSpc>
                <a:spcPts val="3610"/>
              </a:lnSpc>
              <a:buFont typeface="Arial"/>
              <a:buChar char="•"/>
            </a:pPr>
            <a:r>
              <a:rPr lang="en-US" sz="2299" dirty="0">
                <a:solidFill>
                  <a:srgbClr val="CCDBE5"/>
                </a:solidFill>
                <a:latin typeface="Inter"/>
                <a:ea typeface="Inter"/>
                <a:cs typeface="Inter"/>
                <a:sym typeface="Inter"/>
              </a:rPr>
              <a:t>Checks whether the electricity supply is enough to meet the demand. </a:t>
            </a:r>
          </a:p>
          <a:p>
            <a:pPr marL="496567" lvl="1" indent="-248284" algn="just">
              <a:lnSpc>
                <a:spcPts val="3610"/>
              </a:lnSpc>
              <a:buFont typeface="Arial"/>
              <a:buChar char="•"/>
            </a:pPr>
            <a:r>
              <a:rPr lang="en-US" sz="2299" dirty="0">
                <a:solidFill>
                  <a:srgbClr val="CCDBE5"/>
                </a:solidFill>
                <a:latin typeface="Inter"/>
                <a:ea typeface="Inter"/>
                <a:cs typeface="Inter"/>
                <a:sym typeface="Inter"/>
              </a:rPr>
              <a:t>Gives smart suggestions for better energy planning.</a:t>
            </a:r>
          </a:p>
          <a:p>
            <a:pPr algn="just">
              <a:lnSpc>
                <a:spcPts val="3924"/>
              </a:lnSpc>
            </a:pPr>
            <a:r>
              <a:rPr lang="en-US" sz="2499" b="1" dirty="0">
                <a:solidFill>
                  <a:srgbClr val="CCDBE5"/>
                </a:solidFill>
                <a:latin typeface="Inter Bold"/>
                <a:ea typeface="Inter Bold"/>
                <a:cs typeface="Inter Bold"/>
                <a:sym typeface="Inter Bold"/>
              </a:rPr>
              <a:t>Economic:</a:t>
            </a:r>
          </a:p>
          <a:p>
            <a:pPr marL="496567" lvl="1" indent="-248284" algn="just">
              <a:lnSpc>
                <a:spcPts val="3610"/>
              </a:lnSpc>
              <a:buFont typeface="Arial"/>
              <a:buChar char="•"/>
            </a:pPr>
            <a:r>
              <a:rPr lang="en-US" sz="2299" dirty="0">
                <a:solidFill>
                  <a:srgbClr val="CCDBE5"/>
                </a:solidFill>
                <a:latin typeface="Inter"/>
                <a:ea typeface="Inter"/>
                <a:cs typeface="Inter"/>
                <a:sym typeface="Inter"/>
              </a:rPr>
              <a:t>Helps reduce electricity costs.</a:t>
            </a:r>
          </a:p>
          <a:p>
            <a:pPr marL="496567" lvl="1" indent="-248284" algn="just">
              <a:lnSpc>
                <a:spcPts val="3610"/>
              </a:lnSpc>
              <a:buFont typeface="Arial"/>
              <a:buChar char="•"/>
            </a:pPr>
            <a:r>
              <a:rPr lang="en-US" sz="2299" dirty="0">
                <a:solidFill>
                  <a:srgbClr val="CCDBE5"/>
                </a:solidFill>
                <a:latin typeface="Inter"/>
                <a:ea typeface="Inter"/>
                <a:cs typeface="Inter"/>
                <a:sym typeface="Inter"/>
              </a:rPr>
              <a:t>Makes better use of available electricity resources. </a:t>
            </a:r>
          </a:p>
          <a:p>
            <a:pPr marL="496567" lvl="1" indent="-248284" algn="just">
              <a:lnSpc>
                <a:spcPts val="3610"/>
              </a:lnSpc>
              <a:buFont typeface="Arial"/>
              <a:buChar char="•"/>
            </a:pPr>
            <a:r>
              <a:rPr lang="en-US" sz="2299" dirty="0">
                <a:solidFill>
                  <a:srgbClr val="CCDBE5"/>
                </a:solidFill>
                <a:latin typeface="Inter"/>
                <a:ea typeface="Inter"/>
                <a:cs typeface="Inter"/>
                <a:sym typeface="Inter"/>
              </a:rPr>
              <a:t>Helps electricity departments plan more efficiently.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345C">
                <a:alpha val="100000"/>
              </a:srgbClr>
            </a:gs>
            <a:gs pos="100000">
              <a:srgbClr val="284B70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B6C678-6A8A-17CA-6BFE-5E6375888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DC8EBEB-55F4-7D44-8027-D4EB99234DEB}"/>
              </a:ext>
            </a:extLst>
          </p:cNvPr>
          <p:cNvSpPr/>
          <p:nvPr/>
        </p:nvSpPr>
        <p:spPr>
          <a:xfrm flipH="1">
            <a:off x="0" y="3017225"/>
            <a:ext cx="7269775" cy="7269775"/>
          </a:xfrm>
          <a:custGeom>
            <a:avLst/>
            <a:gdLst/>
            <a:ahLst/>
            <a:cxnLst/>
            <a:rect l="l" t="t" r="r" b="b"/>
            <a:pathLst>
              <a:path w="7269775" h="7269775">
                <a:moveTo>
                  <a:pt x="7269775" y="0"/>
                </a:moveTo>
                <a:lnTo>
                  <a:pt x="0" y="0"/>
                </a:lnTo>
                <a:lnTo>
                  <a:pt x="0" y="7269775"/>
                </a:lnTo>
                <a:lnTo>
                  <a:pt x="7269775" y="7269775"/>
                </a:lnTo>
                <a:lnTo>
                  <a:pt x="7269775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83317D6-8695-45A9-C618-59373F7920D2}"/>
              </a:ext>
            </a:extLst>
          </p:cNvPr>
          <p:cNvSpPr/>
          <p:nvPr/>
        </p:nvSpPr>
        <p:spPr>
          <a:xfrm>
            <a:off x="1028700" y="1028700"/>
            <a:ext cx="2045395" cy="595721"/>
          </a:xfrm>
          <a:custGeom>
            <a:avLst/>
            <a:gdLst/>
            <a:ahLst/>
            <a:cxnLst/>
            <a:rect l="l" t="t" r="r" b="b"/>
            <a:pathLst>
              <a:path w="2045395" h="595721">
                <a:moveTo>
                  <a:pt x="0" y="0"/>
                </a:moveTo>
                <a:lnTo>
                  <a:pt x="2045395" y="0"/>
                </a:lnTo>
                <a:lnTo>
                  <a:pt x="2045395" y="595721"/>
                </a:lnTo>
                <a:lnTo>
                  <a:pt x="0" y="5957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FF8F0B7-E3DB-210D-E379-73161CF721B5}"/>
              </a:ext>
            </a:extLst>
          </p:cNvPr>
          <p:cNvSpPr txBox="1"/>
          <p:nvPr/>
        </p:nvSpPr>
        <p:spPr>
          <a:xfrm>
            <a:off x="3381375" y="1130370"/>
            <a:ext cx="11525250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42"/>
              </a:lnSpc>
            </a:pPr>
            <a:r>
              <a:rPr lang="en-US" sz="6342" b="1" dirty="0">
                <a:solidFill>
                  <a:srgbClr val="CCDBE5"/>
                </a:solidFill>
                <a:latin typeface="Inter Bold"/>
                <a:ea typeface="Inter Bold"/>
                <a:cs typeface="Inter Bold"/>
                <a:sym typeface="Inter Bold"/>
              </a:rPr>
              <a:t>ARCHITECTURE DIAGRAM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480C99A-D161-370B-4AF1-D73EA78AA9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013246"/>
            <a:ext cx="16573500" cy="792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0085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345C">
                <a:alpha val="100000"/>
              </a:srgbClr>
            </a:gs>
            <a:gs pos="100000">
              <a:srgbClr val="284B7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1364049" y="1104900"/>
            <a:ext cx="6014648" cy="575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0"/>
              </a:lnSpc>
            </a:pPr>
            <a:r>
              <a:rPr lang="en-US" sz="4300" b="1">
                <a:solidFill>
                  <a:srgbClr val="CCDBE5"/>
                </a:solidFill>
                <a:latin typeface="Inter Bold"/>
                <a:ea typeface="Inter Bold"/>
                <a:cs typeface="Inter Bold"/>
                <a:sym typeface="Inter Bold"/>
              </a:rPr>
              <a:t>EXPECTED OUTCOME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4359" y="3194560"/>
            <a:ext cx="10425349" cy="4851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6" lvl="1" indent="-269873" algn="just">
              <a:lnSpc>
                <a:spcPts val="4324"/>
              </a:lnSpc>
              <a:buFont typeface="Arial"/>
              <a:buChar char="•"/>
            </a:pPr>
            <a:r>
              <a:rPr lang="en-US" sz="2499" spc="64">
                <a:solidFill>
                  <a:srgbClr val="CCDBE5"/>
                </a:solidFill>
                <a:latin typeface="Inter"/>
                <a:ea typeface="Inter"/>
                <a:cs typeface="Inter"/>
                <a:sym typeface="Inter"/>
              </a:rPr>
              <a:t>Predicts electricity demand and supply for the next three months.</a:t>
            </a:r>
          </a:p>
          <a:p>
            <a:pPr marL="539746" lvl="1" indent="-269873" algn="just">
              <a:lnSpc>
                <a:spcPts val="4324"/>
              </a:lnSpc>
              <a:buFont typeface="Arial"/>
              <a:buChar char="•"/>
            </a:pPr>
            <a:r>
              <a:rPr lang="en-US" sz="2499" spc="64">
                <a:solidFill>
                  <a:srgbClr val="CCDBE5"/>
                </a:solidFill>
                <a:latin typeface="Inter"/>
                <a:ea typeface="Inter"/>
                <a:cs typeface="Inter"/>
                <a:sym typeface="Inter"/>
              </a:rPr>
              <a:t>Finds future electricity shortages or surpluses.</a:t>
            </a:r>
          </a:p>
          <a:p>
            <a:pPr marL="539746" lvl="1" indent="-269873" algn="just">
              <a:lnSpc>
                <a:spcPts val="4324"/>
              </a:lnSpc>
              <a:buFont typeface="Arial"/>
              <a:buChar char="•"/>
            </a:pPr>
            <a:r>
              <a:rPr lang="en-US" sz="2499" spc="64">
                <a:solidFill>
                  <a:srgbClr val="CCDBE5"/>
                </a:solidFill>
                <a:latin typeface="Inter"/>
                <a:ea typeface="Inter"/>
                <a:cs typeface="Inter"/>
                <a:sym typeface="Inter"/>
              </a:rPr>
              <a:t>Shows how sure the prediction is using confidence levels (90%, 95%, and 99%). </a:t>
            </a:r>
          </a:p>
          <a:p>
            <a:pPr marL="539746" lvl="1" indent="-269873" algn="just">
              <a:lnSpc>
                <a:spcPts val="4324"/>
              </a:lnSpc>
              <a:buFont typeface="Arial"/>
              <a:buChar char="•"/>
            </a:pPr>
            <a:r>
              <a:rPr lang="en-US" sz="2499" spc="64">
                <a:solidFill>
                  <a:srgbClr val="CCDBE5"/>
                </a:solidFill>
                <a:latin typeface="Inter"/>
                <a:ea typeface="Inter"/>
                <a:cs typeface="Inter"/>
                <a:sym typeface="Inter"/>
              </a:rPr>
              <a:t>Identifies the risk level based on the predicted demand–supply gap. </a:t>
            </a:r>
          </a:p>
          <a:p>
            <a:pPr marL="539746" lvl="1" indent="-269873" algn="just">
              <a:lnSpc>
                <a:spcPts val="4324"/>
              </a:lnSpc>
              <a:buFont typeface="Arial"/>
              <a:buChar char="•"/>
            </a:pPr>
            <a:r>
              <a:rPr lang="en-US" sz="2499" spc="64">
                <a:solidFill>
                  <a:srgbClr val="CCDBE5"/>
                </a:solidFill>
                <a:latin typeface="Inter"/>
                <a:ea typeface="Inter"/>
                <a:cs typeface="Inter"/>
                <a:sym typeface="Inter"/>
              </a:rPr>
              <a:t>Suggests the best actions for better energy planning using RAG. 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858366" y="2469229"/>
            <a:ext cx="7429634" cy="5138992"/>
            <a:chOff x="0" y="0"/>
            <a:chExt cx="500016" cy="34585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00016" cy="345855"/>
            </a:xfrm>
            <a:custGeom>
              <a:avLst/>
              <a:gdLst/>
              <a:ahLst/>
              <a:cxnLst/>
              <a:rect l="l" t="t" r="r" b="b"/>
              <a:pathLst>
                <a:path w="500016" h="345855">
                  <a:moveTo>
                    <a:pt x="0" y="0"/>
                  </a:moveTo>
                  <a:lnTo>
                    <a:pt x="500016" y="0"/>
                  </a:lnTo>
                  <a:lnTo>
                    <a:pt x="500016" y="345855"/>
                  </a:lnTo>
                  <a:lnTo>
                    <a:pt x="0" y="345855"/>
                  </a:lnTo>
                  <a:close/>
                </a:path>
              </a:pathLst>
            </a:custGeom>
            <a:blipFill>
              <a:blip r:embed="rId2"/>
              <a:stretch>
                <a:fillRect l="-1811" r="-1811"/>
              </a:stretch>
            </a:blipFill>
            <a:ln w="95250" cap="sq">
              <a:solidFill>
                <a:srgbClr val="61B4BE"/>
              </a:solidFill>
              <a:prstDash val="solid"/>
              <a:miter/>
            </a:ln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345C">
                <a:alpha val="100000"/>
              </a:srgbClr>
            </a:gs>
            <a:gs pos="100000">
              <a:srgbClr val="284B7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17173" y="1061720"/>
            <a:ext cx="13853654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99"/>
              </a:lnSpc>
            </a:pPr>
            <a:r>
              <a:rPr lang="en-US" sz="6399" b="1">
                <a:solidFill>
                  <a:srgbClr val="CCDBE5"/>
                </a:solidFill>
                <a:latin typeface="Inter Bold"/>
                <a:ea typeface="Inter Bold"/>
                <a:cs typeface="Inter Bold"/>
                <a:sym typeface="Inter Bold"/>
              </a:rPr>
              <a:t>REFERENCES</a:t>
            </a:r>
          </a:p>
        </p:txBody>
      </p:sp>
      <p:sp>
        <p:nvSpPr>
          <p:cNvPr id="9" name="Freeform 9"/>
          <p:cNvSpPr/>
          <p:nvPr/>
        </p:nvSpPr>
        <p:spPr>
          <a:xfrm>
            <a:off x="16851877" y="1241938"/>
            <a:ext cx="1436288" cy="1355333"/>
          </a:xfrm>
          <a:custGeom>
            <a:avLst/>
            <a:gdLst/>
            <a:ahLst/>
            <a:cxnLst/>
            <a:rect l="l" t="t" r="r" b="b"/>
            <a:pathLst>
              <a:path w="1436288" h="1355333">
                <a:moveTo>
                  <a:pt x="0" y="0"/>
                </a:moveTo>
                <a:lnTo>
                  <a:pt x="1436288" y="0"/>
                </a:lnTo>
                <a:lnTo>
                  <a:pt x="1436288" y="1355334"/>
                </a:lnTo>
                <a:lnTo>
                  <a:pt x="0" y="13553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1241938"/>
            <a:ext cx="1436288" cy="1355333"/>
          </a:xfrm>
          <a:custGeom>
            <a:avLst/>
            <a:gdLst/>
            <a:ahLst/>
            <a:cxnLst/>
            <a:rect l="l" t="t" r="r" b="b"/>
            <a:pathLst>
              <a:path w="1436288" h="1355333">
                <a:moveTo>
                  <a:pt x="0" y="0"/>
                </a:moveTo>
                <a:lnTo>
                  <a:pt x="1436288" y="0"/>
                </a:lnTo>
                <a:lnTo>
                  <a:pt x="1436288" y="1355334"/>
                </a:lnTo>
                <a:lnTo>
                  <a:pt x="0" y="13553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683500" y="2055565"/>
            <a:ext cx="12993476" cy="7743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6" lvl="1" indent="-269873" algn="just">
              <a:lnSpc>
                <a:spcPts val="3899"/>
              </a:lnSpc>
              <a:buFont typeface="Arial"/>
              <a:buChar char="•"/>
            </a:pPr>
            <a:r>
              <a:rPr lang="en-US" sz="2499" spc="129">
                <a:solidFill>
                  <a:srgbClr val="CCDBE5"/>
                </a:solidFill>
                <a:latin typeface="Inter"/>
                <a:ea typeface="Inter"/>
                <a:cs typeface="Inter"/>
                <a:sym typeface="Inter"/>
              </a:rPr>
              <a:t>KONSTANTINOS PLAKAS.,&amp;NIKOS ANDRIOPOULOS., “Prediction of Imbalance Prices Through Gradient Boosting Algorithms: An Application to the Greek Balancing Market”, IEEE Access, 2025</a:t>
            </a:r>
          </a:p>
          <a:p>
            <a:pPr marL="539746" lvl="1" indent="-269873" algn="just">
              <a:lnSpc>
                <a:spcPts val="3899"/>
              </a:lnSpc>
              <a:buFont typeface="Arial"/>
              <a:buChar char="•"/>
            </a:pPr>
            <a:r>
              <a:rPr lang="en-US" sz="2499" spc="129">
                <a:solidFill>
                  <a:srgbClr val="CCDBE5"/>
                </a:solidFill>
                <a:latin typeface="Inter"/>
                <a:ea typeface="Inter"/>
                <a:cs typeface="Inter"/>
                <a:sym typeface="Inter"/>
              </a:rPr>
              <a:t>S.Amosedinakaran.,&amp;K.Madumathi., “Forecasting the Electricity Demand of Tamil Nadu using Ant Colony Optimization Technique Based on Linear and Non-Linear Models”,IEEE Access,2023</a:t>
            </a:r>
          </a:p>
          <a:p>
            <a:pPr marL="539746" lvl="1" indent="-269873" algn="just">
              <a:lnSpc>
                <a:spcPts val="3899"/>
              </a:lnSpc>
              <a:buFont typeface="Arial"/>
              <a:buChar char="•"/>
            </a:pPr>
            <a:r>
              <a:rPr lang="en-US" sz="2499" spc="129">
                <a:solidFill>
                  <a:srgbClr val="CCDBE5"/>
                </a:solidFill>
                <a:latin typeface="Inter"/>
                <a:ea typeface="Inter"/>
                <a:cs typeface="Inter"/>
                <a:sym typeface="Inter"/>
              </a:rPr>
              <a:t>Jitendra Managrea*,&amp;Namit Guptab, “Demonstrate the Predictive Model of Machine Learning in Smart Grids to Process Large Electricity Data According to Power Demand and Supply”,Science Direct,2025</a:t>
            </a:r>
          </a:p>
          <a:p>
            <a:pPr marL="539746" lvl="1" indent="-269873" algn="just">
              <a:lnSpc>
                <a:spcPts val="3899"/>
              </a:lnSpc>
              <a:buFont typeface="Arial"/>
              <a:buChar char="•"/>
            </a:pPr>
            <a:r>
              <a:rPr lang="en-US" sz="2499" spc="129">
                <a:solidFill>
                  <a:srgbClr val="CCDBE5"/>
                </a:solidFill>
                <a:latin typeface="Inter"/>
                <a:ea typeface="Inter"/>
                <a:cs typeface="Inter"/>
                <a:sym typeface="Inter"/>
              </a:rPr>
              <a:t>HAMID MIRSHEKALI 1&amp; MOHAMMAD REZA SHADI review on “A Review of Large Language Models for Energy Systems: Applications, Challenges, and Future Prospects.”,IEEE Access,2025</a:t>
            </a:r>
          </a:p>
          <a:p>
            <a:pPr marL="539746" lvl="1" indent="-269873" algn="just">
              <a:lnSpc>
                <a:spcPts val="3899"/>
              </a:lnSpc>
              <a:buFont typeface="Arial"/>
              <a:buChar char="•"/>
            </a:pPr>
            <a:r>
              <a:rPr lang="en-US" sz="2499" spc="129">
                <a:solidFill>
                  <a:srgbClr val="CCDBE5"/>
                </a:solidFill>
                <a:latin typeface="Inter"/>
                <a:ea typeface="Inter"/>
                <a:cs typeface="Inter"/>
                <a:sym typeface="Inter"/>
              </a:rPr>
              <a:t>Alexandria Engineering Journal titled “Mathematical and statistical modelling of electricity demand forecasting using artificial neural networks and SARIMA: Implications for energy supply chain planning”,Science Direct,2026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345C">
                <a:alpha val="100000"/>
              </a:srgbClr>
            </a:gs>
            <a:gs pos="100000">
              <a:srgbClr val="284B7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3017225"/>
            <a:ext cx="7269775" cy="7269775"/>
          </a:xfrm>
          <a:custGeom>
            <a:avLst/>
            <a:gdLst/>
            <a:ahLst/>
            <a:cxnLst/>
            <a:rect l="l" t="t" r="r" b="b"/>
            <a:pathLst>
              <a:path w="7269775" h="7269775">
                <a:moveTo>
                  <a:pt x="7269775" y="0"/>
                </a:moveTo>
                <a:lnTo>
                  <a:pt x="0" y="0"/>
                </a:lnTo>
                <a:lnTo>
                  <a:pt x="0" y="7269775"/>
                </a:lnTo>
                <a:lnTo>
                  <a:pt x="7269775" y="7269775"/>
                </a:lnTo>
                <a:lnTo>
                  <a:pt x="7269775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018225" y="3217029"/>
            <a:ext cx="7269775" cy="7269775"/>
          </a:xfrm>
          <a:custGeom>
            <a:avLst/>
            <a:gdLst/>
            <a:ahLst/>
            <a:cxnLst/>
            <a:rect l="l" t="t" r="r" b="b"/>
            <a:pathLst>
              <a:path w="7269775" h="7269775">
                <a:moveTo>
                  <a:pt x="0" y="0"/>
                </a:moveTo>
                <a:lnTo>
                  <a:pt x="7269775" y="0"/>
                </a:lnTo>
                <a:lnTo>
                  <a:pt x="7269775" y="7269775"/>
                </a:lnTo>
                <a:lnTo>
                  <a:pt x="0" y="72697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795727" y="3217029"/>
            <a:ext cx="984546" cy="98454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BC8D3">
                    <a:alpha val="100000"/>
                  </a:srgbClr>
                </a:gs>
                <a:gs pos="100000">
                  <a:srgbClr val="61B4BE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823012" y="1028700"/>
            <a:ext cx="1436288" cy="1355333"/>
          </a:xfrm>
          <a:custGeom>
            <a:avLst/>
            <a:gdLst/>
            <a:ahLst/>
            <a:cxnLst/>
            <a:rect l="l" t="t" r="r" b="b"/>
            <a:pathLst>
              <a:path w="1436288" h="1355333">
                <a:moveTo>
                  <a:pt x="0" y="0"/>
                </a:moveTo>
                <a:lnTo>
                  <a:pt x="1436288" y="0"/>
                </a:lnTo>
                <a:lnTo>
                  <a:pt x="1436288" y="1355333"/>
                </a:lnTo>
                <a:lnTo>
                  <a:pt x="0" y="13553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28700" y="1110645"/>
            <a:ext cx="2045395" cy="595721"/>
          </a:xfrm>
          <a:custGeom>
            <a:avLst/>
            <a:gdLst/>
            <a:ahLst/>
            <a:cxnLst/>
            <a:rect l="l" t="t" r="r" b="b"/>
            <a:pathLst>
              <a:path w="2045395" h="595721">
                <a:moveTo>
                  <a:pt x="0" y="0"/>
                </a:moveTo>
                <a:lnTo>
                  <a:pt x="2045395" y="0"/>
                </a:lnTo>
                <a:lnTo>
                  <a:pt x="2045395" y="595722"/>
                </a:lnTo>
                <a:lnTo>
                  <a:pt x="0" y="5957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7" name="Group 17"/>
          <p:cNvGrpSpPr/>
          <p:nvPr/>
        </p:nvGrpSpPr>
        <p:grpSpPr>
          <a:xfrm>
            <a:off x="-318223" y="2524952"/>
            <a:ext cx="984546" cy="98454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BC8D3">
                    <a:alpha val="100000"/>
                  </a:srgbClr>
                </a:gs>
                <a:gs pos="100000">
                  <a:srgbClr val="61B4BE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724400" y="3253251"/>
            <a:ext cx="8218431" cy="1575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CCDBE5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612</Words>
  <Application>Microsoft Office PowerPoint</Application>
  <PresentationFormat>Custom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Canva Sans</vt:lpstr>
      <vt:lpstr>Arial</vt:lpstr>
      <vt:lpstr>Inter Bold</vt:lpstr>
      <vt:lpstr>Canva Sans Bold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 Presentation IV B.Tech IT– Phase I</dc:title>
  <dc:creator>TAMILARASU</dc:creator>
  <cp:lastModifiedBy>Tamil arasu</cp:lastModifiedBy>
  <cp:revision>9</cp:revision>
  <dcterms:created xsi:type="dcterms:W3CDTF">2006-08-16T00:00:00Z</dcterms:created>
  <dcterms:modified xsi:type="dcterms:W3CDTF">2026-06-29T04:58:26Z</dcterms:modified>
  <dc:identifier>DAHN2qN8UGU</dc:identifier>
</cp:coreProperties>
</file>