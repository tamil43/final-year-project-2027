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type="screen16x9"/>
  <p:notesSz cx="6858000" cy="9144000"/>
  <p:embeddedFontLst>
    <p:embeddedFont>
      <p:font typeface="Inter" panose="020B0604020202020204" charset="0"/>
      <p:regular r:id="rId19"/>
      <p:bold r:id="rId20"/>
      <p:italic r:id="rId21"/>
      <p:boldItalic r:id="rId22"/>
    </p:embeddedFont>
    <p:embeddedFont>
      <p:font typeface="Inter ExtraBold" panose="020B0604020202020204" charset="0"/>
      <p:bold r:id="rId23"/>
      <p:boldItalic r:id="rId24"/>
    </p:embeddedFont>
    <p:embeddedFont>
      <p:font typeface="Inter Medium" panose="020B0604020202020204" charset="0"/>
      <p:regular r:id="rId25"/>
      <p:bold r:id="rId26"/>
      <p:italic r:id="rId27"/>
      <p:boldItalic r:id="rId28"/>
    </p:embeddedFont>
    <p:embeddedFont>
      <p:font typeface="Inter SemiBold" panose="020B0604020202020204" charset="0"/>
      <p:regular r:id="rId29"/>
      <p:bold r:id="rId30"/>
      <p:italic r:id="rId31"/>
      <p:boldItalic r:id="rId32"/>
    </p:embeddedFont>
    <p:embeddedFont>
      <p:font typeface="Roboto Mono" panose="00000009000000000000" pitchFamily="49" charset="0"/>
      <p:regular r:id="rId33"/>
      <p:bold r:id="rId34"/>
      <p:italic r:id="rId35"/>
      <p:boldItalic r:id="rId36"/>
    </p:embeddedFont>
    <p:embeddedFont>
      <p:font typeface="Roboto Mono SemiBold" panose="020B060402020202020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5" d="100"/>
          <a:sy n="125" d="100"/>
        </p:scale>
        <p:origin x="138" y="6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8.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f75bd91c59_123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g3f75bd91c59_123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f75bd91c59_2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75bd91c59_2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f75bd91c59_2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f75bd91c59_2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f75bd91c59_2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f75bd91c59_2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f75bd91c59_2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f75bd91c59_2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f75bd91c59_2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f75bd91c59_2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f75bd91c59_0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f75bd91c59_0_5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f75bd91c59_0_7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f75bd91c59_0_7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f75bd91c59_2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3f75bd91c59_2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3f75bd91c59_19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3f75bd91c59_1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f75bd91c59_1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3f75bd91c59_18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f75bd91c59_1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g3f75bd91c59_1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f75bd91c59_1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3f75bd91c59_1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3f75bd91c59_1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3" name="Google Shape;703;g3f75bd91c59_1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3f75bd91c59_1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3f75bd91c59_1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ted (g3f75bd91c59_13_0)">
  <p:cSld name="Generated (g3f75bd91c59_13_0)">
    <p:spTree>
      <p:nvGrpSpPr>
        <p:cNvPr id="1"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1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10"/>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10"/>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1" name="Google Shape;4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1"/>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2"/>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8" name="Google Shape;4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7" name="Google Shape;57;p1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8" name="Google Shape;58;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Generated (g3f75bd91c59_13_0)">
  <p:cSld name="Generated (g3f75bd91c59_13_0)">
    <p:spTree>
      <p:nvGrpSpPr>
        <p:cNvPr id="1" name="Shape 59"/>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1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2" name="Google Shape;62;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Google Shape;64;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5" name="Google Shape;65;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6" name="Google Shape;66;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7"/>
        <p:cNvGrpSpPr/>
        <p:nvPr/>
      </p:nvGrpSpPr>
      <p:grpSpPr>
        <a:xfrm>
          <a:off x="0" y="0"/>
          <a:ext cx="0" cy="0"/>
          <a:chOff x="0" y="0"/>
          <a:chExt cx="0" cy="0"/>
        </a:xfrm>
      </p:grpSpPr>
      <p:sp>
        <p:nvSpPr>
          <p:cNvPr id="68" name="Google Shape;68;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9" name="Google Shape;69;p1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0" name="Google Shape;70;p1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1" name="Google Shape;71;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4" name="Google Shape;74;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5"/>
        <p:cNvGrpSpPr/>
        <p:nvPr/>
      </p:nvGrpSpPr>
      <p:grpSpPr>
        <a:xfrm>
          <a:off x="0" y="0"/>
          <a:ext cx="0" cy="0"/>
          <a:chOff x="0" y="0"/>
          <a:chExt cx="0" cy="0"/>
        </a:xfrm>
      </p:grpSpPr>
      <p:sp>
        <p:nvSpPr>
          <p:cNvPr id="76" name="Google Shape;76;p2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7" name="Google Shape;77;p2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8" name="Google Shape;78;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9"/>
        <p:cNvGrpSpPr/>
        <p:nvPr/>
      </p:nvGrpSpPr>
      <p:grpSpPr>
        <a:xfrm>
          <a:off x="0" y="0"/>
          <a:ext cx="0" cy="0"/>
          <a:chOff x="0" y="0"/>
          <a:chExt cx="0" cy="0"/>
        </a:xfrm>
      </p:grpSpPr>
      <p:sp>
        <p:nvSpPr>
          <p:cNvPr id="80" name="Google Shape;80;p2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1" name="Google Shape;81;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2"/>
        <p:cNvGrpSpPr/>
        <p:nvPr/>
      </p:nvGrpSpPr>
      <p:grpSpPr>
        <a:xfrm>
          <a:off x="0" y="0"/>
          <a:ext cx="0" cy="0"/>
          <a:chOff x="0" y="0"/>
          <a:chExt cx="0" cy="0"/>
        </a:xfrm>
      </p:grpSpPr>
      <p:sp>
        <p:nvSpPr>
          <p:cNvPr id="83" name="Google Shape;83;p2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2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5" name="Google Shape;85;p2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6" name="Google Shape;86;p2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7" name="Google Shape;87;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8"/>
        <p:cNvGrpSpPr/>
        <p:nvPr/>
      </p:nvGrpSpPr>
      <p:grpSpPr>
        <a:xfrm>
          <a:off x="0" y="0"/>
          <a:ext cx="0" cy="0"/>
          <a:chOff x="0" y="0"/>
          <a:chExt cx="0" cy="0"/>
        </a:xfrm>
      </p:grpSpPr>
      <p:sp>
        <p:nvSpPr>
          <p:cNvPr id="89" name="Google Shape;89;p2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90" name="Google Shape;90;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1"/>
        <p:cNvGrpSpPr/>
        <p:nvPr/>
      </p:nvGrpSpPr>
      <p:grpSpPr>
        <a:xfrm>
          <a:off x="0" y="0"/>
          <a:ext cx="0" cy="0"/>
          <a:chOff x="0" y="0"/>
          <a:chExt cx="0" cy="0"/>
        </a:xfrm>
      </p:grpSpPr>
      <p:sp>
        <p:nvSpPr>
          <p:cNvPr id="92" name="Google Shape;92;p2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2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4" name="Google Shape;94;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1"/>
        <p:cNvGrpSpPr/>
        <p:nvPr/>
      </p:nvGrpSpPr>
      <p:grpSpPr>
        <a:xfrm>
          <a:off x="0" y="0"/>
          <a:ext cx="0" cy="0"/>
          <a:chOff x="0" y="0"/>
          <a:chExt cx="0" cy="0"/>
        </a:xfrm>
      </p:grpSpPr>
      <p:sp>
        <p:nvSpPr>
          <p:cNvPr id="52" name="Google Shape;52;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3" name="Google Shape;53;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4" name="Google Shape;54;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7"/>
          <p:cNvSpPr txBox="1">
            <a:spLocks noGrp="1"/>
          </p:cNvSpPr>
          <p:nvPr>
            <p:ph type="ctrTitle"/>
          </p:nvPr>
        </p:nvSpPr>
        <p:spPr>
          <a:xfrm>
            <a:off x="1143000" y="1284578"/>
            <a:ext cx="6858000" cy="2352543"/>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5200"/>
              <a:buNone/>
            </a:pPr>
            <a:r>
              <a:rPr lang="en" sz="2000"/>
              <a:t>A Confidence-Driven Probabilistic Machine Learning Framework for Electricity Demand–Supply Gap Forecasting and RAG-Based Energy Planning</a:t>
            </a:r>
            <a:br>
              <a:rPr lang="en" sz="2000" b="1"/>
            </a:br>
            <a:br>
              <a:rPr lang="en" sz="2000" b="1"/>
            </a:br>
            <a:endParaRPr sz="2000" b="1"/>
          </a:p>
        </p:txBody>
      </p:sp>
      <p:sp>
        <p:nvSpPr>
          <p:cNvPr id="102" name="Google Shape;102;p27"/>
          <p:cNvSpPr txBox="1">
            <a:spLocks noGrp="1"/>
          </p:cNvSpPr>
          <p:nvPr>
            <p:ph type="subTitle" idx="1"/>
          </p:nvPr>
        </p:nvSpPr>
        <p:spPr>
          <a:xfrm>
            <a:off x="700300" y="3230637"/>
            <a:ext cx="8344640" cy="1703140"/>
          </a:xfrm>
          <a:prstGeom prst="rect">
            <a:avLst/>
          </a:prstGeom>
          <a:noFill/>
          <a:ln>
            <a:noFill/>
          </a:ln>
        </p:spPr>
        <p:txBody>
          <a:bodyPr spcFirstLastPara="1" wrap="square" lIns="91425" tIns="91425" rIns="91425" bIns="91425" anchor="t" anchorCtr="0">
            <a:normAutofit lnSpcReduction="10000"/>
          </a:bodyPr>
          <a:lstStyle/>
          <a:p>
            <a:pPr marL="457200" lvl="0" indent="-342900" algn="ctr" rtl="0">
              <a:lnSpc>
                <a:spcPct val="100000"/>
              </a:lnSpc>
              <a:spcBef>
                <a:spcPts val="0"/>
              </a:spcBef>
              <a:spcAft>
                <a:spcPts val="0"/>
              </a:spcAft>
              <a:buSzPts val="2800"/>
              <a:buNone/>
            </a:pPr>
            <a:r>
              <a:rPr lang="en" sz="1500" dirty="0"/>
              <a:t>Tamilarasu D (Reg no: 43120224)</a:t>
            </a:r>
            <a:endParaRPr dirty="0"/>
          </a:p>
          <a:p>
            <a:pPr marL="457200" lvl="0" indent="-342900" algn="ctr" rtl="0">
              <a:lnSpc>
                <a:spcPct val="100000"/>
              </a:lnSpc>
              <a:spcBef>
                <a:spcPts val="0"/>
              </a:spcBef>
              <a:spcAft>
                <a:spcPts val="0"/>
              </a:spcAft>
              <a:buSzPts val="2800"/>
              <a:buNone/>
            </a:pPr>
            <a:r>
              <a:rPr lang="en" sz="1500" dirty="0"/>
              <a:t>UdayaKumar S(Reg no: 43120227)</a:t>
            </a:r>
            <a:endParaRPr dirty="0"/>
          </a:p>
          <a:p>
            <a:pPr marL="457200" lvl="0" indent="-342900" algn="ctr" rtl="0">
              <a:lnSpc>
                <a:spcPct val="100000"/>
              </a:lnSpc>
              <a:spcBef>
                <a:spcPts val="0"/>
              </a:spcBef>
              <a:spcAft>
                <a:spcPts val="0"/>
              </a:spcAft>
              <a:buSzPts val="2800"/>
              <a:buNone/>
            </a:pPr>
            <a:r>
              <a:rPr lang="en" sz="1500" dirty="0"/>
              <a:t>Suganth Kesavan(Reg no: 43120216)  </a:t>
            </a:r>
            <a:endParaRPr dirty="0"/>
          </a:p>
          <a:p>
            <a:pPr marL="457200" lvl="0" indent="-342900" algn="ctr" rtl="0">
              <a:lnSpc>
                <a:spcPct val="100000"/>
              </a:lnSpc>
              <a:spcBef>
                <a:spcPts val="0"/>
              </a:spcBef>
              <a:spcAft>
                <a:spcPts val="0"/>
              </a:spcAft>
              <a:buSzPts val="2800"/>
              <a:buNone/>
            </a:pPr>
            <a:r>
              <a:rPr lang="en" sz="1500" dirty="0"/>
              <a:t>                                                                                        </a:t>
            </a:r>
            <a:endParaRPr dirty="0"/>
          </a:p>
          <a:p>
            <a:pPr marL="457200" lvl="0" indent="-342900" algn="ctr" rtl="0">
              <a:lnSpc>
                <a:spcPct val="100000"/>
              </a:lnSpc>
              <a:spcBef>
                <a:spcPts val="0"/>
              </a:spcBef>
              <a:spcAft>
                <a:spcPts val="0"/>
              </a:spcAft>
              <a:buSzPts val="2800"/>
              <a:buNone/>
            </a:pPr>
            <a:r>
              <a:rPr lang="en" sz="1500" dirty="0"/>
              <a:t>                                                       Guide:</a:t>
            </a:r>
            <a:endParaRPr dirty="0"/>
          </a:p>
          <a:p>
            <a:pPr marL="457200" lvl="0" indent="-342900" algn="ctr" rtl="0">
              <a:lnSpc>
                <a:spcPct val="100000"/>
              </a:lnSpc>
              <a:spcBef>
                <a:spcPts val="0"/>
              </a:spcBef>
              <a:spcAft>
                <a:spcPts val="0"/>
              </a:spcAft>
              <a:buSzPts val="2800"/>
              <a:buNone/>
            </a:pPr>
            <a:r>
              <a:rPr lang="en" sz="1500" dirty="0"/>
              <a:t>                                                                               Dr. Kamatchi K S, Associate Professor</a:t>
            </a:r>
            <a:endParaRPr dirty="0"/>
          </a:p>
          <a:p>
            <a:pPr marL="457200" lvl="0" indent="-342900" algn="ctr" rtl="0">
              <a:lnSpc>
                <a:spcPct val="100000"/>
              </a:lnSpc>
              <a:spcBef>
                <a:spcPts val="0"/>
              </a:spcBef>
              <a:spcAft>
                <a:spcPts val="0"/>
              </a:spcAft>
              <a:buSzPts val="2800"/>
              <a:buNone/>
            </a:pPr>
            <a:r>
              <a:rPr lang="en" sz="1500" dirty="0"/>
              <a:t>       </a:t>
            </a:r>
            <a:endParaRPr dirty="0"/>
          </a:p>
        </p:txBody>
      </p:sp>
      <p:pic>
        <p:nvPicPr>
          <p:cNvPr id="103" name="Google Shape;103;p27" descr="The image is a promotional banner for Sathyabama Institute of Science and Technology, showcasing its accreditation and achievements, including its 'A++' grade from NAAC and approval by AICTE.&#10;&#10;AI-generated content may be incorrect."/>
          <p:cNvPicPr preferRelativeResize="0"/>
          <p:nvPr/>
        </p:nvPicPr>
        <p:blipFill rotWithShape="1">
          <a:blip r:embed="rId3">
            <a:alphaModFix/>
          </a:blip>
          <a:srcRect/>
          <a:stretch/>
        </p:blipFill>
        <p:spPr>
          <a:xfrm>
            <a:off x="1238534" y="322318"/>
            <a:ext cx="6762466" cy="136874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8"/>
          <p:cNvSpPr/>
          <p:nvPr/>
        </p:nvSpPr>
        <p:spPr>
          <a:xfrm>
            <a:off x="60275"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11" name="Google Shape;111;p28"/>
          <p:cNvGrpSpPr/>
          <p:nvPr/>
        </p:nvGrpSpPr>
        <p:grpSpPr>
          <a:xfrm>
            <a:off x="381000" y="1524000"/>
            <a:ext cx="8382000" cy="2686200"/>
            <a:chOff x="0" y="0"/>
            <a:chExt cx="8382000" cy="2686200"/>
          </a:xfrm>
        </p:grpSpPr>
        <p:grpSp>
          <p:nvGrpSpPr>
            <p:cNvPr id="112" name="Google Shape;112;p28"/>
            <p:cNvGrpSpPr/>
            <p:nvPr/>
          </p:nvGrpSpPr>
          <p:grpSpPr>
            <a:xfrm>
              <a:off x="0" y="0"/>
              <a:ext cx="4000500" cy="2686200"/>
              <a:chOff x="0" y="0"/>
              <a:chExt cx="4000500" cy="2686200"/>
            </a:xfrm>
          </p:grpSpPr>
          <p:grpSp>
            <p:nvGrpSpPr>
              <p:cNvPr id="113" name="Google Shape;113;p28"/>
              <p:cNvGrpSpPr/>
              <p:nvPr/>
            </p:nvGrpSpPr>
            <p:grpSpPr>
              <a:xfrm>
                <a:off x="0" y="0"/>
                <a:ext cx="4000500" cy="285900"/>
                <a:chOff x="0" y="0"/>
                <a:chExt cx="4000500" cy="285900"/>
              </a:xfrm>
            </p:grpSpPr>
            <p:sp>
              <p:nvSpPr>
                <p:cNvPr id="114" name="Google Shape;114;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01</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Introduction &amp; Background</a:t>
                  </a:r>
                  <a:endParaRPr dirty="0"/>
                </a:p>
              </p:txBody>
            </p:sp>
            <p:cxnSp>
              <p:nvCxnSpPr>
                <p:cNvPr id="115" name="Google Shape;115;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116" name="Google Shape;116;p28"/>
              <p:cNvGrpSpPr/>
              <p:nvPr/>
            </p:nvGrpSpPr>
            <p:grpSpPr>
              <a:xfrm>
                <a:off x="0" y="400050"/>
                <a:ext cx="4000500" cy="285900"/>
                <a:chOff x="0" y="0"/>
                <a:chExt cx="4000500" cy="285900"/>
              </a:xfrm>
            </p:grpSpPr>
            <p:sp>
              <p:nvSpPr>
                <p:cNvPr id="117" name="Google Shape;117;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02</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Problem Statement</a:t>
                  </a:r>
                  <a:endParaRPr dirty="0"/>
                </a:p>
              </p:txBody>
            </p:sp>
            <p:cxnSp>
              <p:nvCxnSpPr>
                <p:cNvPr id="118" name="Google Shape;118;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119" name="Google Shape;119;p28"/>
              <p:cNvGrpSpPr/>
              <p:nvPr/>
            </p:nvGrpSpPr>
            <p:grpSpPr>
              <a:xfrm>
                <a:off x="0" y="800100"/>
                <a:ext cx="4000500" cy="285900"/>
                <a:chOff x="0" y="0"/>
                <a:chExt cx="4000500" cy="285900"/>
              </a:xfrm>
            </p:grpSpPr>
            <p:sp>
              <p:nvSpPr>
                <p:cNvPr id="120" name="Google Shape;120;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03</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Aim, Objectives &amp; Scope</a:t>
                  </a:r>
                  <a:endParaRPr dirty="0"/>
                </a:p>
              </p:txBody>
            </p:sp>
            <p:cxnSp>
              <p:nvCxnSpPr>
                <p:cNvPr id="121" name="Google Shape;121;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122" name="Google Shape;122;p28"/>
              <p:cNvGrpSpPr/>
              <p:nvPr/>
            </p:nvGrpSpPr>
            <p:grpSpPr>
              <a:xfrm>
                <a:off x="0" y="1200150"/>
                <a:ext cx="4000500" cy="285900"/>
                <a:chOff x="0" y="0"/>
                <a:chExt cx="4000500" cy="285900"/>
              </a:xfrm>
            </p:grpSpPr>
            <p:sp>
              <p:nvSpPr>
                <p:cNvPr id="123" name="Google Shape;123;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04</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Expected Outcomes</a:t>
                  </a:r>
                  <a:endParaRPr dirty="0"/>
                </a:p>
              </p:txBody>
            </p:sp>
            <p:cxnSp>
              <p:nvCxnSpPr>
                <p:cNvPr id="124" name="Google Shape;124;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125" name="Google Shape;125;p28"/>
              <p:cNvGrpSpPr/>
              <p:nvPr/>
            </p:nvGrpSpPr>
            <p:grpSpPr>
              <a:xfrm>
                <a:off x="0" y="1600200"/>
                <a:ext cx="4000500" cy="285900"/>
                <a:chOff x="0" y="0"/>
                <a:chExt cx="4000500" cy="285900"/>
              </a:xfrm>
            </p:grpSpPr>
            <p:sp>
              <p:nvSpPr>
                <p:cNvPr id="126" name="Google Shape;126;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05</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Literature Survey</a:t>
                  </a:r>
                  <a:endParaRPr dirty="0"/>
                </a:p>
              </p:txBody>
            </p:sp>
            <p:cxnSp>
              <p:nvCxnSpPr>
                <p:cNvPr id="127" name="Google Shape;127;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128" name="Google Shape;128;p28"/>
              <p:cNvGrpSpPr/>
              <p:nvPr/>
            </p:nvGrpSpPr>
            <p:grpSpPr>
              <a:xfrm>
                <a:off x="0" y="2000250"/>
                <a:ext cx="4000500" cy="285900"/>
                <a:chOff x="0" y="0"/>
                <a:chExt cx="4000500" cy="285900"/>
              </a:xfrm>
            </p:grpSpPr>
            <p:sp>
              <p:nvSpPr>
                <p:cNvPr id="129" name="Google Shape;129;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06</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Research Gap Analysis</a:t>
                  </a:r>
                  <a:endParaRPr dirty="0"/>
                </a:p>
              </p:txBody>
            </p:sp>
            <p:cxnSp>
              <p:nvCxnSpPr>
                <p:cNvPr id="130" name="Google Shape;130;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131" name="Google Shape;131;p28"/>
              <p:cNvGrpSpPr/>
              <p:nvPr/>
            </p:nvGrpSpPr>
            <p:grpSpPr>
              <a:xfrm>
                <a:off x="0" y="2400300"/>
                <a:ext cx="4000500" cy="285900"/>
                <a:chOff x="0" y="0"/>
                <a:chExt cx="4000500" cy="285900"/>
              </a:xfrm>
            </p:grpSpPr>
            <p:sp>
              <p:nvSpPr>
                <p:cNvPr id="132" name="Google Shape;132;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07</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Feasibility Analysis</a:t>
                  </a:r>
                  <a:endParaRPr dirty="0"/>
                </a:p>
              </p:txBody>
            </p:sp>
            <p:cxnSp>
              <p:nvCxnSpPr>
                <p:cNvPr id="133" name="Google Shape;133;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grpSp>
          <p:nvGrpSpPr>
            <p:cNvPr id="134" name="Google Shape;134;p28"/>
            <p:cNvGrpSpPr/>
            <p:nvPr/>
          </p:nvGrpSpPr>
          <p:grpSpPr>
            <a:xfrm>
              <a:off x="4381500" y="0"/>
              <a:ext cx="4000500" cy="2286150"/>
              <a:chOff x="0" y="0"/>
              <a:chExt cx="4000500" cy="2286150"/>
            </a:xfrm>
          </p:grpSpPr>
          <p:grpSp>
            <p:nvGrpSpPr>
              <p:cNvPr id="135" name="Google Shape;135;p28"/>
              <p:cNvGrpSpPr/>
              <p:nvPr/>
            </p:nvGrpSpPr>
            <p:grpSpPr>
              <a:xfrm>
                <a:off x="0" y="0"/>
                <a:ext cx="4000500" cy="285900"/>
                <a:chOff x="0" y="0"/>
                <a:chExt cx="4000500" cy="285900"/>
              </a:xfrm>
            </p:grpSpPr>
            <p:sp>
              <p:nvSpPr>
                <p:cNvPr id="136" name="Google Shape;136;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08</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Resources &amp; Risk Assessment</a:t>
                  </a:r>
                  <a:endParaRPr dirty="0"/>
                </a:p>
              </p:txBody>
            </p:sp>
            <p:cxnSp>
              <p:nvCxnSpPr>
                <p:cNvPr id="137" name="Google Shape;137;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138" name="Google Shape;138;p28"/>
              <p:cNvGrpSpPr/>
              <p:nvPr/>
            </p:nvGrpSpPr>
            <p:grpSpPr>
              <a:xfrm>
                <a:off x="0" y="400050"/>
                <a:ext cx="4000500" cy="285900"/>
                <a:chOff x="0" y="0"/>
                <a:chExt cx="4000500" cy="285900"/>
              </a:xfrm>
            </p:grpSpPr>
            <p:sp>
              <p:nvSpPr>
                <p:cNvPr id="139" name="Google Shape;139;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09</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Proposed System Overview</a:t>
                  </a:r>
                  <a:endParaRPr dirty="0"/>
                </a:p>
              </p:txBody>
            </p:sp>
            <p:cxnSp>
              <p:nvCxnSpPr>
                <p:cNvPr id="140" name="Google Shape;140;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141" name="Google Shape;141;p28"/>
              <p:cNvGrpSpPr/>
              <p:nvPr/>
            </p:nvGrpSpPr>
            <p:grpSpPr>
              <a:xfrm>
                <a:off x="0" y="800100"/>
                <a:ext cx="4000500" cy="285900"/>
                <a:chOff x="0" y="0"/>
                <a:chExt cx="4000500" cy="285900"/>
              </a:xfrm>
            </p:grpSpPr>
            <p:sp>
              <p:nvSpPr>
                <p:cNvPr id="142" name="Google Shape;142;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10</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Methodology Flow Chart</a:t>
                  </a:r>
                  <a:endParaRPr dirty="0"/>
                </a:p>
              </p:txBody>
            </p:sp>
            <p:cxnSp>
              <p:nvCxnSpPr>
                <p:cNvPr id="143" name="Google Shape;143;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144" name="Google Shape;144;p28"/>
              <p:cNvGrpSpPr/>
              <p:nvPr/>
            </p:nvGrpSpPr>
            <p:grpSpPr>
              <a:xfrm>
                <a:off x="0" y="1200150"/>
                <a:ext cx="4000500" cy="285900"/>
                <a:chOff x="0" y="0"/>
                <a:chExt cx="4000500" cy="285900"/>
              </a:xfrm>
            </p:grpSpPr>
            <p:sp>
              <p:nvSpPr>
                <p:cNvPr id="145" name="Google Shape;145;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11</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Materials, Methods &amp; Data Analysis</a:t>
                  </a:r>
                  <a:endParaRPr dirty="0"/>
                </a:p>
              </p:txBody>
            </p:sp>
            <p:cxnSp>
              <p:nvCxnSpPr>
                <p:cNvPr id="146" name="Google Shape;146;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147" name="Google Shape;147;p28"/>
              <p:cNvGrpSpPr/>
              <p:nvPr/>
            </p:nvGrpSpPr>
            <p:grpSpPr>
              <a:xfrm>
                <a:off x="0" y="1600200"/>
                <a:ext cx="4000500" cy="285900"/>
                <a:chOff x="0" y="0"/>
                <a:chExt cx="4000500" cy="285900"/>
              </a:xfrm>
            </p:grpSpPr>
            <p:sp>
              <p:nvSpPr>
                <p:cNvPr id="148" name="Google Shape;148;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12</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Validation, Timeline &amp; Budget</a:t>
                  </a:r>
                  <a:endParaRPr dirty="0"/>
                </a:p>
              </p:txBody>
            </p:sp>
            <p:cxnSp>
              <p:nvCxnSpPr>
                <p:cNvPr id="149" name="Google Shape;149;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nvGrpSpPr>
              <p:cNvPr id="150" name="Google Shape;150;p28"/>
              <p:cNvGrpSpPr/>
              <p:nvPr/>
            </p:nvGrpSpPr>
            <p:grpSpPr>
              <a:xfrm>
                <a:off x="0" y="2000250"/>
                <a:ext cx="4000500" cy="285900"/>
                <a:chOff x="0" y="0"/>
                <a:chExt cx="4000500" cy="285900"/>
              </a:xfrm>
            </p:grpSpPr>
            <p:sp>
              <p:nvSpPr>
                <p:cNvPr id="151" name="Google Shape;151;p28"/>
                <p:cNvSpPr txBox="1"/>
                <p:nvPr/>
              </p:nvSpPr>
              <p:spPr>
                <a:xfrm>
                  <a:off x="0" y="0"/>
                  <a:ext cx="40005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0" dirty="0">
                      <a:solidFill>
                        <a:schemeClr val="tx1">
                          <a:lumMod val="50000"/>
                          <a:lumOff val="50000"/>
                        </a:schemeClr>
                      </a:solidFill>
                      <a:latin typeface="Roboto Mono SemiBold"/>
                      <a:ea typeface="Roboto Mono SemiBold"/>
                      <a:cs typeface="Roboto Mono SemiBold"/>
                      <a:sym typeface="Roboto Mono SemiBold"/>
                    </a:rPr>
                    <a:t>13</a:t>
                  </a:r>
                  <a:r>
                    <a:rPr lang="en" sz="975" b="0" dirty="0">
                      <a:solidFill>
                        <a:srgbClr val="FF5500"/>
                      </a:solidFill>
                      <a:latin typeface="Roboto Mono SemiBold"/>
                      <a:ea typeface="Roboto Mono SemiBold"/>
                      <a:cs typeface="Roboto Mono SemiBold"/>
                      <a:sym typeface="Roboto Mono SemiBold"/>
                    </a:rPr>
                    <a:t> </a:t>
                  </a:r>
                  <a:r>
                    <a:rPr lang="en" sz="1050" b="0" dirty="0">
                      <a:solidFill>
                        <a:srgbClr val="0A192F"/>
                      </a:solidFill>
                      <a:latin typeface="Inter SemiBold"/>
                      <a:ea typeface="Inter SemiBold"/>
                      <a:cs typeface="Inter SemiBold"/>
                      <a:sym typeface="Inter SemiBold"/>
                    </a:rPr>
                    <a:t>Phase II &amp; Future Work</a:t>
                  </a:r>
                  <a:endParaRPr dirty="0"/>
                </a:p>
              </p:txBody>
            </p:sp>
            <p:cxnSp>
              <p:nvCxnSpPr>
                <p:cNvPr id="152" name="Google Shape;152;p28"/>
                <p:cNvCxnSpPr/>
                <p:nvPr/>
              </p:nvCxnSpPr>
              <p:spPr>
                <a:xfrm>
                  <a:off x="0" y="266700"/>
                  <a:ext cx="4000500" cy="0"/>
                </a:xfrm>
                <a:prstGeom prst="straightConnector1">
                  <a:avLst/>
                </a:prstGeom>
                <a:solidFill>
                  <a:srgbClr val="FFFFFF"/>
                </a:solidFill>
                <a:ln w="9525" cap="flat" cmpd="sng">
                  <a:solidFill>
                    <a:srgbClr val="E2E8F0"/>
                  </a:solidFill>
                  <a:prstDash val="solid"/>
                  <a:round/>
                  <a:headEnd type="none" w="sm" len="sm"/>
                  <a:tailEnd type="none" w="sm" len="sm"/>
                </a:ln>
              </p:spPr>
            </p:cxnSp>
          </p:grpSp>
        </p:grpSp>
      </p:grpSp>
      <p:sp>
        <p:nvSpPr>
          <p:cNvPr id="153" name="Google Shape;153;p28"/>
          <p:cNvSpPr txBox="1"/>
          <p:nvPr/>
        </p:nvSpPr>
        <p:spPr>
          <a:xfrm>
            <a:off x="289075" y="629725"/>
            <a:ext cx="5824500" cy="5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100">
                <a:solidFill>
                  <a:srgbClr val="0A192F"/>
                </a:solidFill>
                <a:latin typeface="Inter ExtraBold"/>
                <a:ea typeface="Inter ExtraBold"/>
                <a:cs typeface="Inter ExtraBold"/>
                <a:sym typeface="Inter ExtraBold"/>
              </a:rPr>
              <a:t>Presentation Agenda</a:t>
            </a:r>
            <a:endParaRPr sz="1800">
              <a:solidFill>
                <a:schemeClr val="dk2"/>
              </a:solidFill>
            </a:endParaRPr>
          </a:p>
        </p:txBody>
      </p:sp>
      <p:grpSp>
        <p:nvGrpSpPr>
          <p:cNvPr id="154" name="Google Shape;154;p28"/>
          <p:cNvGrpSpPr/>
          <p:nvPr/>
        </p:nvGrpSpPr>
        <p:grpSpPr>
          <a:xfrm>
            <a:off x="8239125" y="142875"/>
            <a:ext cx="190500" cy="190500"/>
            <a:chOff x="0" y="0"/>
            <a:chExt cx="190500" cy="190500"/>
          </a:xfrm>
        </p:grpSpPr>
        <p:sp>
          <p:nvSpPr>
            <p:cNvPr id="155" name="Google Shape;155;p28"/>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6" name="Google Shape;156;p28"/>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02</a:t>
              </a:r>
              <a:endParaRPr sz="750" b="1">
                <a:solidFill>
                  <a:srgbClr val="FFFFFF"/>
                </a:solidFill>
                <a:latin typeface="Roboto Mono"/>
                <a:ea typeface="Roboto Mono"/>
                <a:cs typeface="Roboto Mono"/>
                <a:sym typeface="Roboto Mon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grpSp>
        <p:nvGrpSpPr>
          <p:cNvPr id="165" name="Google Shape;165;p29"/>
          <p:cNvGrpSpPr/>
          <p:nvPr/>
        </p:nvGrpSpPr>
        <p:grpSpPr>
          <a:xfrm>
            <a:off x="381000" y="1428750"/>
            <a:ext cx="3524400" cy="1809600"/>
            <a:chOff x="0" y="0"/>
            <a:chExt cx="3524400" cy="1809600"/>
          </a:xfrm>
        </p:grpSpPr>
        <p:sp>
          <p:nvSpPr>
            <p:cNvPr id="166" name="Google Shape;166;p29"/>
            <p:cNvSpPr/>
            <p:nvPr/>
          </p:nvSpPr>
          <p:spPr>
            <a:xfrm>
              <a:off x="0" y="0"/>
              <a:ext cx="3524400" cy="1809600"/>
            </a:xfrm>
            <a:prstGeom prst="roundRect">
              <a:avLst>
                <a:gd name="adj" fmla="val 4210"/>
              </a:avLst>
            </a:prstGeom>
            <a:solidFill>
              <a:srgbClr val="F8FAFC"/>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7" name="Google Shape;167;p29"/>
            <p:cNvSpPr/>
            <p:nvPr/>
          </p:nvSpPr>
          <p:spPr>
            <a:xfrm>
              <a:off x="0" y="0"/>
              <a:ext cx="3524400" cy="114300"/>
            </a:xfrm>
            <a:custGeom>
              <a:avLst/>
              <a:gdLst/>
              <a:ahLst/>
              <a:cxnLst/>
              <a:rect l="l" t="t" r="r" b="b"/>
              <a:pathLst>
                <a:path w="120000" h="120000" extrusionOk="0">
                  <a:moveTo>
                    <a:pt x="0" y="80000"/>
                  </a:moveTo>
                  <a:cubicBezTo>
                    <a:pt x="0" y="35800"/>
                    <a:pt x="1161" y="0"/>
                    <a:pt x="2595" y="0"/>
                  </a:cubicBezTo>
                  <a:lnTo>
                    <a:pt x="117405" y="0"/>
                  </a:lnTo>
                  <a:cubicBezTo>
                    <a:pt x="118839" y="0"/>
                    <a:pt x="120000" y="35800"/>
                    <a:pt x="120000" y="80000"/>
                  </a:cubicBezTo>
                  <a:lnTo>
                    <a:pt x="120000" y="120000"/>
                  </a:lnTo>
                  <a:lnTo>
                    <a:pt x="0" y="120000"/>
                  </a:lnTo>
                  <a:close/>
                </a:path>
              </a:pathLst>
            </a:cu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8" name="Google Shape;168;p29"/>
            <p:cNvSpPr txBox="1"/>
            <p:nvPr/>
          </p:nvSpPr>
          <p:spPr>
            <a:xfrm>
              <a:off x="228600" y="266699"/>
              <a:ext cx="3067200" cy="1485897"/>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1" dirty="0">
                  <a:solidFill>
                    <a:srgbClr val="0A192F"/>
                  </a:solidFill>
                  <a:latin typeface="Roboto Mono"/>
                  <a:ea typeface="Roboto Mono"/>
                  <a:cs typeface="Roboto Mono"/>
                  <a:sym typeface="Roboto Mono"/>
                </a:rPr>
                <a:t>ELECTRICITY DEMAND</a:t>
              </a:r>
              <a:endParaRPr sz="1000" b="1" dirty="0">
                <a:solidFill>
                  <a:srgbClr val="0A192F"/>
                </a:solidFill>
                <a:latin typeface="Roboto Mono"/>
                <a:ea typeface="Roboto Mono"/>
                <a:cs typeface="Roboto Mono"/>
                <a:sym typeface="Roboto Mono"/>
              </a:endParaRPr>
            </a:p>
            <a:p>
              <a:pPr lvl="0">
                <a:spcBef>
                  <a:spcPts val="600"/>
                </a:spcBef>
              </a:pPr>
              <a:r>
                <a:rPr lang="en-IN" sz="1050" dirty="0"/>
                <a:t>Electricity demand changes based on weather, seasons, time, and other factors, so accurate forecasting is important for better energy planning and power supply.</a:t>
              </a:r>
              <a:endParaRPr sz="1050" b="0" dirty="0">
                <a:solidFill>
                  <a:srgbClr val="475569"/>
                </a:solidFill>
                <a:latin typeface="Inter"/>
                <a:ea typeface="Inter"/>
                <a:cs typeface="Inter"/>
                <a:sym typeface="Inter"/>
              </a:endParaRPr>
            </a:p>
            <a:p>
              <a:pPr lvl="0">
                <a:spcBef>
                  <a:spcPts val="900"/>
                </a:spcBef>
              </a:pPr>
              <a:r>
                <a:rPr lang="en" sz="1050" b="1" dirty="0">
                  <a:solidFill>
                    <a:srgbClr val="0055FF"/>
                  </a:solidFill>
                  <a:latin typeface="Inter"/>
                  <a:ea typeface="Inter"/>
                  <a:cs typeface="Inter"/>
                  <a:sym typeface="Inter"/>
                </a:rPr>
                <a:t>Critical Need:</a:t>
              </a:r>
              <a:r>
                <a:rPr lang="en" sz="1050" b="0" dirty="0">
                  <a:solidFill>
                    <a:srgbClr val="475569"/>
                  </a:solidFill>
                  <a:latin typeface="Inter"/>
                  <a:ea typeface="Inter"/>
                  <a:cs typeface="Inter"/>
                  <a:sym typeface="Inter"/>
                </a:rPr>
                <a:t> </a:t>
              </a:r>
              <a:r>
                <a:rPr lang="en-IN" sz="1050" dirty="0"/>
                <a:t>Accurate forecasting helps in planning electricity supply in advance and making better decisions</a:t>
              </a:r>
              <a:endParaRPr sz="1050" b="0" dirty="0">
                <a:solidFill>
                  <a:srgbClr val="475569"/>
                </a:solidFill>
                <a:latin typeface="Inter"/>
                <a:ea typeface="Inter"/>
                <a:cs typeface="Inter"/>
                <a:sym typeface="Inter"/>
              </a:endParaRPr>
            </a:p>
          </p:txBody>
        </p:sp>
      </p:grpSp>
      <p:grpSp>
        <p:nvGrpSpPr>
          <p:cNvPr id="169" name="Google Shape;169;p29"/>
          <p:cNvGrpSpPr/>
          <p:nvPr/>
        </p:nvGrpSpPr>
        <p:grpSpPr>
          <a:xfrm>
            <a:off x="5238750" y="1428750"/>
            <a:ext cx="3524400" cy="1809600"/>
            <a:chOff x="0" y="0"/>
            <a:chExt cx="3524400" cy="1809600"/>
          </a:xfrm>
        </p:grpSpPr>
        <p:sp>
          <p:nvSpPr>
            <p:cNvPr id="170" name="Google Shape;170;p29"/>
            <p:cNvSpPr/>
            <p:nvPr/>
          </p:nvSpPr>
          <p:spPr>
            <a:xfrm>
              <a:off x="0" y="0"/>
              <a:ext cx="3524400" cy="1809600"/>
            </a:xfrm>
            <a:prstGeom prst="roundRect">
              <a:avLst>
                <a:gd name="adj" fmla="val 4210"/>
              </a:avLst>
            </a:prstGeom>
            <a:solidFill>
              <a:srgbClr val="F8FAFC"/>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1" name="Google Shape;171;p29"/>
            <p:cNvSpPr/>
            <p:nvPr/>
          </p:nvSpPr>
          <p:spPr>
            <a:xfrm>
              <a:off x="0" y="0"/>
              <a:ext cx="3524400" cy="114300"/>
            </a:xfrm>
            <a:custGeom>
              <a:avLst/>
              <a:gdLst/>
              <a:ahLst/>
              <a:cxnLst/>
              <a:rect l="l" t="t" r="r" b="b"/>
              <a:pathLst>
                <a:path w="120000" h="120000" extrusionOk="0">
                  <a:moveTo>
                    <a:pt x="0" y="80000"/>
                  </a:moveTo>
                  <a:cubicBezTo>
                    <a:pt x="0" y="35800"/>
                    <a:pt x="1161" y="0"/>
                    <a:pt x="2595" y="0"/>
                  </a:cubicBezTo>
                  <a:lnTo>
                    <a:pt x="117405" y="0"/>
                  </a:lnTo>
                  <a:cubicBezTo>
                    <a:pt x="118839" y="0"/>
                    <a:pt x="120000" y="35800"/>
                    <a:pt x="120000" y="80000"/>
                  </a:cubicBezTo>
                  <a:lnTo>
                    <a:pt x="120000" y="120000"/>
                  </a:lnTo>
                  <a:lnTo>
                    <a:pt x="0" y="120000"/>
                  </a:lnTo>
                  <a:close/>
                </a:path>
              </a:pathLst>
            </a:cu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2" name="Google Shape;172;p29"/>
            <p:cNvSpPr txBox="1"/>
            <p:nvPr/>
          </p:nvSpPr>
          <p:spPr>
            <a:xfrm>
              <a:off x="228600" y="266700"/>
              <a:ext cx="3067200" cy="1381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b="1" dirty="0">
                  <a:solidFill>
                    <a:srgbClr val="0055FF"/>
                  </a:solidFill>
                  <a:latin typeface="Roboto Mono"/>
                  <a:ea typeface="Roboto Mono"/>
                  <a:cs typeface="Roboto Mono"/>
                  <a:sym typeface="Roboto Mono"/>
                </a:rPr>
                <a:t>ELECTRICITY SUPPLY</a:t>
              </a:r>
              <a:endParaRPr sz="1000" b="1" dirty="0">
                <a:solidFill>
                  <a:srgbClr val="0055FF"/>
                </a:solidFill>
                <a:latin typeface="Roboto Mono"/>
                <a:ea typeface="Roboto Mono"/>
                <a:cs typeface="Roboto Mono"/>
                <a:sym typeface="Roboto Mono"/>
              </a:endParaRPr>
            </a:p>
            <a:p>
              <a:pPr lvl="0">
                <a:spcBef>
                  <a:spcPts val="600"/>
                </a:spcBef>
              </a:pPr>
              <a:r>
                <a:rPr lang="en-IN" sz="1050" dirty="0"/>
                <a:t>Electricity generation and supply may not always match the actual demand, creating challenges for grid management.</a:t>
              </a:r>
              <a:endParaRPr sz="1050" b="0" dirty="0">
                <a:solidFill>
                  <a:srgbClr val="475569"/>
                </a:solidFill>
                <a:latin typeface="Inter"/>
                <a:ea typeface="Inter"/>
                <a:cs typeface="Inter"/>
                <a:sym typeface="Inter"/>
              </a:endParaRPr>
            </a:p>
            <a:p>
              <a:pPr lvl="0">
                <a:spcBef>
                  <a:spcPts val="900"/>
                </a:spcBef>
              </a:pPr>
              <a:r>
                <a:rPr lang="en" sz="1050" b="1" dirty="0">
                  <a:solidFill>
                    <a:srgbClr val="FF5500"/>
                  </a:solidFill>
                  <a:latin typeface="Inter"/>
                  <a:ea typeface="Inter"/>
                  <a:cs typeface="Inter"/>
                  <a:sym typeface="Inter"/>
                </a:rPr>
                <a:t>Consequences:</a:t>
              </a:r>
              <a:r>
                <a:rPr lang="en" sz="1050" b="0" dirty="0">
                  <a:solidFill>
                    <a:srgbClr val="475569"/>
                  </a:solidFill>
                  <a:latin typeface="Inter"/>
                  <a:ea typeface="Inter"/>
                  <a:cs typeface="Inter"/>
                  <a:sym typeface="Inter"/>
                </a:rPr>
                <a:t> </a:t>
              </a:r>
              <a:r>
                <a:rPr lang="en-IN" sz="1050" dirty="0"/>
                <a:t>Supply shortages can cause power disruptions, while excess supply can lead to energy wastage.</a:t>
              </a:r>
              <a:endParaRPr sz="1050" b="0" dirty="0">
                <a:solidFill>
                  <a:srgbClr val="475569"/>
                </a:solidFill>
                <a:latin typeface="Inter"/>
                <a:ea typeface="Inter"/>
                <a:cs typeface="Inter"/>
                <a:sym typeface="Inter"/>
              </a:endParaRPr>
            </a:p>
          </p:txBody>
        </p:sp>
      </p:grpSp>
      <p:grpSp>
        <p:nvGrpSpPr>
          <p:cNvPr id="173" name="Google Shape;173;p29"/>
          <p:cNvGrpSpPr/>
          <p:nvPr/>
        </p:nvGrpSpPr>
        <p:grpSpPr>
          <a:xfrm>
            <a:off x="3905250" y="1990725"/>
            <a:ext cx="1333575" cy="685800"/>
            <a:chOff x="0" y="561975"/>
            <a:chExt cx="1333575" cy="685800"/>
          </a:xfrm>
        </p:grpSpPr>
        <p:pic>
          <p:nvPicPr>
            <p:cNvPr id="174" name="Google Shape;174;p29"/>
            <p:cNvPicPr preferRelativeResize="0"/>
            <p:nvPr/>
          </p:nvPicPr>
          <p:blipFill rotWithShape="1">
            <a:blip r:embed="rId3">
              <a:alphaModFix/>
            </a:blip>
            <a:srcRect/>
            <a:stretch/>
          </p:blipFill>
          <p:spPr>
            <a:xfrm>
              <a:off x="323850" y="561975"/>
              <a:ext cx="685800" cy="685800"/>
            </a:xfrm>
            <a:prstGeom prst="rect">
              <a:avLst/>
            </a:prstGeom>
            <a:noFill/>
            <a:ln>
              <a:noFill/>
            </a:ln>
          </p:spPr>
        </p:pic>
        <p:sp>
          <p:nvSpPr>
            <p:cNvPr id="175" name="Google Shape;175;p29"/>
            <p:cNvSpPr txBox="1"/>
            <p:nvPr/>
          </p:nvSpPr>
          <p:spPr>
            <a:xfrm>
              <a:off x="333375" y="571500"/>
              <a:ext cx="666900" cy="666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100" b="0">
                  <a:solidFill>
                    <a:srgbClr val="FF5500"/>
                  </a:solidFill>
                  <a:latin typeface="Inter ExtraBold"/>
                  <a:ea typeface="Inter ExtraBold"/>
                  <a:cs typeface="Inter ExtraBold"/>
                  <a:sym typeface="Inter ExtraBold"/>
                </a:rPr>
                <a:t>GAP</a:t>
              </a:r>
              <a:endParaRPr sz="1100" b="0">
                <a:solidFill>
                  <a:srgbClr val="FF5500"/>
                </a:solidFill>
                <a:latin typeface="Inter ExtraBold"/>
                <a:ea typeface="Inter ExtraBold"/>
                <a:cs typeface="Inter ExtraBold"/>
                <a:sym typeface="Inter ExtraBold"/>
              </a:endParaRPr>
            </a:p>
          </p:txBody>
        </p:sp>
        <p:sp>
          <p:nvSpPr>
            <p:cNvPr id="176" name="Google Shape;176;p29"/>
            <p:cNvSpPr/>
            <p:nvPr/>
          </p:nvSpPr>
          <p:spPr>
            <a:xfrm>
              <a:off x="0" y="904875"/>
              <a:ext cx="238200" cy="0"/>
            </a:xfrm>
            <a:custGeom>
              <a:avLst/>
              <a:gdLst/>
              <a:ahLst/>
              <a:cxnLst/>
              <a:rect l="l" t="t" r="r" b="b"/>
              <a:pathLst>
                <a:path w="120000" h="120000" extrusionOk="0">
                  <a:moveTo>
                    <a:pt x="0" y="0"/>
                  </a:moveTo>
                  <a:lnTo>
                    <a:pt x="120000" y="0"/>
                  </a:lnTo>
                </a:path>
              </a:pathLst>
            </a:custGeom>
            <a:solidFill>
              <a:srgbClr val="000000">
                <a:alpha val="0"/>
              </a:srgbClr>
            </a:solidFill>
            <a:ln w="19050" cap="flat" cmpd="sng">
              <a:solidFill>
                <a:srgbClr val="FF55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7" name="Google Shape;177;p29"/>
            <p:cNvSpPr/>
            <p:nvPr/>
          </p:nvSpPr>
          <p:spPr>
            <a:xfrm>
              <a:off x="200025" y="866775"/>
              <a:ext cx="38100" cy="76200"/>
            </a:xfrm>
            <a:custGeom>
              <a:avLst/>
              <a:gdLst/>
              <a:ahLst/>
              <a:cxnLst/>
              <a:rect l="l" t="t" r="r" b="b"/>
              <a:pathLst>
                <a:path w="120000" h="120000" extrusionOk="0">
                  <a:moveTo>
                    <a:pt x="0" y="0"/>
                  </a:moveTo>
                  <a:lnTo>
                    <a:pt x="120000" y="60000"/>
                  </a:lnTo>
                  <a:lnTo>
                    <a:pt x="0" y="120000"/>
                  </a:lnTo>
                </a:path>
              </a:pathLst>
            </a:custGeom>
            <a:solidFill>
              <a:srgbClr val="000000">
                <a:alpha val="0"/>
              </a:srgbClr>
            </a:solidFill>
            <a:ln w="19050" cap="rnd" cmpd="sng">
              <a:solidFill>
                <a:srgbClr val="FF55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8" name="Google Shape;178;p29"/>
            <p:cNvSpPr/>
            <p:nvPr/>
          </p:nvSpPr>
          <p:spPr>
            <a:xfrm>
              <a:off x="1095375" y="904875"/>
              <a:ext cx="238200" cy="0"/>
            </a:xfrm>
            <a:custGeom>
              <a:avLst/>
              <a:gdLst/>
              <a:ahLst/>
              <a:cxnLst/>
              <a:rect l="l" t="t" r="r" b="b"/>
              <a:pathLst>
                <a:path w="120000" h="120000" extrusionOk="0">
                  <a:moveTo>
                    <a:pt x="120000" y="0"/>
                  </a:moveTo>
                  <a:lnTo>
                    <a:pt x="0" y="0"/>
                  </a:lnTo>
                </a:path>
              </a:pathLst>
            </a:custGeom>
            <a:solidFill>
              <a:srgbClr val="000000">
                <a:alpha val="0"/>
              </a:srgbClr>
            </a:solidFill>
            <a:ln w="19050" cap="flat" cmpd="sng">
              <a:solidFill>
                <a:srgbClr val="FF55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p29"/>
            <p:cNvSpPr/>
            <p:nvPr/>
          </p:nvSpPr>
          <p:spPr>
            <a:xfrm>
              <a:off x="1095375" y="866775"/>
              <a:ext cx="38100" cy="76200"/>
            </a:xfrm>
            <a:custGeom>
              <a:avLst/>
              <a:gdLst/>
              <a:ahLst/>
              <a:cxnLst/>
              <a:rect l="l" t="t" r="r" b="b"/>
              <a:pathLst>
                <a:path w="120000" h="120000" extrusionOk="0">
                  <a:moveTo>
                    <a:pt x="120000" y="0"/>
                  </a:moveTo>
                  <a:lnTo>
                    <a:pt x="0" y="60000"/>
                  </a:lnTo>
                  <a:lnTo>
                    <a:pt x="120000" y="120000"/>
                  </a:lnTo>
                </a:path>
              </a:pathLst>
            </a:custGeom>
            <a:solidFill>
              <a:srgbClr val="000000">
                <a:alpha val="0"/>
              </a:srgbClr>
            </a:solidFill>
            <a:ln w="19050" cap="rnd" cmpd="sng">
              <a:solidFill>
                <a:srgbClr val="FF55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180" name="Google Shape;180;p29"/>
          <p:cNvGrpSpPr/>
          <p:nvPr/>
        </p:nvGrpSpPr>
        <p:grpSpPr>
          <a:xfrm>
            <a:off x="381000" y="3476625"/>
            <a:ext cx="8382000" cy="1285800"/>
            <a:chOff x="0" y="0"/>
            <a:chExt cx="8382000" cy="1285800"/>
          </a:xfrm>
        </p:grpSpPr>
        <p:sp>
          <p:nvSpPr>
            <p:cNvPr id="181" name="Google Shape;181;p29"/>
            <p:cNvSpPr/>
            <p:nvPr/>
          </p:nvSpPr>
          <p:spPr>
            <a:xfrm>
              <a:off x="0" y="0"/>
              <a:ext cx="8382000" cy="1285800"/>
            </a:xfrm>
            <a:prstGeom prst="roundRect">
              <a:avLst>
                <a:gd name="adj" fmla="val 4444"/>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2" name="Google Shape;182;p29"/>
            <p:cNvSpPr/>
            <p:nvPr/>
          </p:nvSpPr>
          <p:spPr>
            <a:xfrm>
              <a:off x="0" y="0"/>
              <a:ext cx="57300" cy="1285800"/>
            </a:xfrm>
            <a:custGeom>
              <a:avLst/>
              <a:gdLst/>
              <a:ahLst/>
              <a:cxnLst/>
              <a:rect l="l" t="t" r="r" b="b"/>
              <a:pathLst>
                <a:path w="120000" h="120000" extrusionOk="0">
                  <a:moveTo>
                    <a:pt x="0" y="5333"/>
                  </a:moveTo>
                  <a:cubicBezTo>
                    <a:pt x="0" y="2382"/>
                    <a:pt x="53600" y="0"/>
                    <a:pt x="120000" y="0"/>
                  </a:cubicBezTo>
                  <a:lnTo>
                    <a:pt x="120000" y="120000"/>
                  </a:lnTo>
                  <a:lnTo>
                    <a:pt x="0" y="114667"/>
                  </a:lnTo>
                  <a:close/>
                </a:path>
              </a:pathLst>
            </a:cu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3" name="Google Shape;183;p29"/>
            <p:cNvSpPr txBox="1"/>
            <p:nvPr/>
          </p:nvSpPr>
          <p:spPr>
            <a:xfrm>
              <a:off x="285750" y="209550"/>
              <a:ext cx="7810500" cy="9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dirty="0">
                  <a:solidFill>
                    <a:srgbClr val="FF5500"/>
                  </a:solidFill>
                  <a:latin typeface="Roboto Mono"/>
                  <a:ea typeface="Roboto Mono"/>
                  <a:cs typeface="Roboto Mono"/>
                  <a:sym typeface="Roboto Mono"/>
                </a:rPr>
                <a:t>PROBABILISTIC GAP ANALYSIS </a:t>
              </a:r>
              <a:endParaRPr sz="900" b="1" dirty="0">
                <a:solidFill>
                  <a:srgbClr val="FF5500"/>
                </a:solidFill>
                <a:latin typeface="Roboto Mono"/>
                <a:ea typeface="Roboto Mono"/>
                <a:cs typeface="Roboto Mono"/>
                <a:sym typeface="Roboto Mono"/>
              </a:endParaRPr>
            </a:p>
            <a:p>
              <a:pPr>
                <a:spcBef>
                  <a:spcPts val="600"/>
                </a:spcBef>
              </a:pPr>
              <a:r>
                <a:rPr lang="en-IN" sz="1200" dirty="0">
                  <a:solidFill>
                    <a:schemeClr val="bg1"/>
                  </a:solidFill>
                </a:rPr>
                <a:t>This project independently forecasts demand and supply, then </a:t>
              </a:r>
              <a:r>
                <a:rPr lang="en-IN" sz="1200" dirty="0" err="1">
                  <a:solidFill>
                    <a:schemeClr val="bg1"/>
                  </a:solidFill>
                </a:rPr>
                <a:t>analyzes</a:t>
              </a:r>
              <a:r>
                <a:rPr lang="en-IN" sz="1200" dirty="0">
                  <a:solidFill>
                    <a:schemeClr val="bg1"/>
                  </a:solidFill>
                </a:rPr>
                <a:t> the gap using prediction intervals to support better grid planning and energy dispatch.</a:t>
              </a:r>
            </a:p>
            <a:p>
              <a:pPr marL="0" lvl="0" indent="0" algn="l" rtl="0">
                <a:spcBef>
                  <a:spcPts val="600"/>
                </a:spcBef>
                <a:spcAft>
                  <a:spcPts val="0"/>
                </a:spcAft>
                <a:buNone/>
              </a:pPr>
              <a:endParaRPr sz="1150" b="0" dirty="0">
                <a:solidFill>
                  <a:srgbClr val="E2E8F0"/>
                </a:solidFill>
                <a:latin typeface="Inter"/>
                <a:ea typeface="Inter"/>
                <a:cs typeface="Inter"/>
                <a:sym typeface="Inter"/>
              </a:endParaRPr>
            </a:p>
          </p:txBody>
        </p:sp>
      </p:grpSp>
      <p:sp>
        <p:nvSpPr>
          <p:cNvPr id="184" name="Google Shape;184;p29"/>
          <p:cNvSpPr txBox="1"/>
          <p:nvPr/>
        </p:nvSpPr>
        <p:spPr>
          <a:xfrm>
            <a:off x="381000" y="442875"/>
            <a:ext cx="6245400" cy="74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100">
                <a:solidFill>
                  <a:srgbClr val="0A192F"/>
                </a:solidFill>
                <a:latin typeface="Inter ExtraBold"/>
                <a:ea typeface="Inter ExtraBold"/>
                <a:cs typeface="Inter ExtraBold"/>
                <a:sym typeface="Inter ExtraBold"/>
              </a:rPr>
              <a:t>Introduction &amp; Background</a:t>
            </a:r>
            <a:endParaRPr>
              <a:solidFill>
                <a:schemeClr val="dk1"/>
              </a:solidFill>
            </a:endParaRPr>
          </a:p>
          <a:p>
            <a:pPr marL="0" lvl="0" indent="0" algn="l" rtl="0">
              <a:spcBef>
                <a:spcPts val="0"/>
              </a:spcBef>
              <a:spcAft>
                <a:spcPts val="0"/>
              </a:spcAft>
              <a:buNone/>
            </a:pPr>
            <a:endParaRPr sz="1800">
              <a:solidFill>
                <a:schemeClr val="dk2"/>
              </a:solidFill>
            </a:endParaRPr>
          </a:p>
        </p:txBody>
      </p:sp>
      <p:grpSp>
        <p:nvGrpSpPr>
          <p:cNvPr id="185" name="Google Shape;185;p29"/>
          <p:cNvGrpSpPr/>
          <p:nvPr/>
        </p:nvGrpSpPr>
        <p:grpSpPr>
          <a:xfrm>
            <a:off x="8239125" y="142875"/>
            <a:ext cx="190500" cy="190500"/>
            <a:chOff x="0" y="0"/>
            <a:chExt cx="190500" cy="190500"/>
          </a:xfrm>
        </p:grpSpPr>
        <p:sp>
          <p:nvSpPr>
            <p:cNvPr id="186" name="Google Shape;186;p29"/>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7" name="Google Shape;187;p29"/>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03</a:t>
              </a:r>
              <a:endParaRPr sz="750" b="1">
                <a:solidFill>
                  <a:srgbClr val="FFFFFF"/>
                </a:solidFill>
                <a:latin typeface="Roboto Mono"/>
                <a:ea typeface="Roboto Mono"/>
                <a:cs typeface="Roboto Mono"/>
                <a:sym typeface="Roboto Mon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1"/>
        <p:cNvGrpSpPr/>
        <p:nvPr/>
      </p:nvGrpSpPr>
      <p:grpSpPr>
        <a:xfrm>
          <a:off x="0" y="0"/>
          <a:ext cx="0" cy="0"/>
          <a:chOff x="0" y="0"/>
          <a:chExt cx="0" cy="0"/>
        </a:xfrm>
      </p:grpSpPr>
      <p:grpSp>
        <p:nvGrpSpPr>
          <p:cNvPr id="194" name="Google Shape;194;p30"/>
          <p:cNvGrpSpPr/>
          <p:nvPr/>
        </p:nvGrpSpPr>
        <p:grpSpPr>
          <a:xfrm>
            <a:off x="381000" y="381000"/>
            <a:ext cx="8382000" cy="714525"/>
            <a:chOff x="0" y="0"/>
            <a:chExt cx="8382000" cy="714525"/>
          </a:xfrm>
        </p:grpSpPr>
        <p:sp>
          <p:nvSpPr>
            <p:cNvPr id="195" name="Google Shape;195;p30"/>
            <p:cNvSpPr txBox="1"/>
            <p:nvPr/>
          </p:nvSpPr>
          <p:spPr>
            <a:xfrm>
              <a:off x="0" y="0"/>
              <a:ext cx="83820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0">
                  <a:solidFill>
                    <a:srgbClr val="0A192F"/>
                  </a:solidFill>
                  <a:latin typeface="Inter ExtraBold"/>
                  <a:ea typeface="Inter ExtraBold"/>
                  <a:cs typeface="Inter ExtraBold"/>
                  <a:sym typeface="Inter ExtraBold"/>
                </a:rPr>
                <a:t>Problem Statement</a:t>
              </a:r>
              <a:endParaRPr/>
            </a:p>
          </p:txBody>
        </p:sp>
        <p:sp>
          <p:nvSpPr>
            <p:cNvPr id="196" name="Google Shape;196;p30"/>
            <p:cNvSpPr txBox="1"/>
            <p:nvPr/>
          </p:nvSpPr>
          <p:spPr>
            <a:xfrm>
              <a:off x="0" y="428625"/>
              <a:ext cx="8382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50" b="0" dirty="0">
                  <a:solidFill>
                    <a:srgbClr val="0055FF"/>
                  </a:solidFill>
                  <a:latin typeface="Inter Medium"/>
                  <a:ea typeface="Inter Medium"/>
                  <a:cs typeface="Inter Medium"/>
                  <a:sym typeface="Inter Medium"/>
                </a:rPr>
                <a:t>Limitations of Traditional  Forecasting</a:t>
              </a:r>
              <a:endParaRPr dirty="0"/>
            </a:p>
          </p:txBody>
        </p:sp>
      </p:grpSp>
      <p:grpSp>
        <p:nvGrpSpPr>
          <p:cNvPr id="200" name="Google Shape;200;p30"/>
          <p:cNvGrpSpPr/>
          <p:nvPr/>
        </p:nvGrpSpPr>
        <p:grpSpPr>
          <a:xfrm>
            <a:off x="381000" y="1524000"/>
            <a:ext cx="8382000" cy="1619100"/>
            <a:chOff x="0" y="0"/>
            <a:chExt cx="8382000" cy="1619100"/>
          </a:xfrm>
        </p:grpSpPr>
        <p:sp>
          <p:nvSpPr>
            <p:cNvPr id="201" name="Google Shape;201;p30"/>
            <p:cNvSpPr txBox="1"/>
            <p:nvPr/>
          </p:nvSpPr>
          <p:spPr>
            <a:xfrm>
              <a:off x="0" y="0"/>
              <a:ext cx="4000500" cy="161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dirty="0">
                  <a:solidFill>
                    <a:srgbClr val="0A192F"/>
                  </a:solidFill>
                  <a:latin typeface="Roboto Mono SemiBold"/>
                  <a:ea typeface="Roboto Mono SemiBold"/>
                  <a:cs typeface="Roboto Mono SemiBold"/>
                  <a:sym typeface="Roboto Mono SemiBold"/>
                </a:rPr>
                <a:t>01 </a:t>
              </a:r>
              <a:endParaRPr sz="900" b="0" dirty="0">
                <a:solidFill>
                  <a:srgbClr val="0A192F"/>
                </a:solidFill>
                <a:latin typeface="Roboto Mono SemiBold"/>
                <a:ea typeface="Roboto Mono SemiBold"/>
                <a:cs typeface="Roboto Mono SemiBold"/>
                <a:sym typeface="Roboto Mono SemiBold"/>
              </a:endParaRPr>
            </a:p>
            <a:p>
              <a:pPr lvl="0" algn="just">
                <a:spcBef>
                  <a:spcPts val="900"/>
                </a:spcBef>
              </a:pPr>
              <a:r>
                <a:rPr lang="en-IN" sz="1050" dirty="0">
                  <a:latin typeface="Inter" panose="020B0604020202020204" charset="0"/>
                  <a:ea typeface="Inter" panose="020B0604020202020204" charset="0"/>
                </a:rPr>
                <a:t>Traditional forecasting usually predicts electricity demand alone and does not consider future supply. Since demand and supply are not predicted separately and compared together, it becomes difficult to know whether the grid will face a shortage or surplus.</a:t>
              </a:r>
              <a:endParaRPr sz="1050" b="0" dirty="0">
                <a:solidFill>
                  <a:srgbClr val="475569"/>
                </a:solidFill>
                <a:latin typeface="Inter" panose="020B0604020202020204" charset="0"/>
                <a:ea typeface="Inter" panose="020B0604020202020204" charset="0"/>
                <a:cs typeface="Inter"/>
                <a:sym typeface="Inter"/>
              </a:endParaRPr>
            </a:p>
          </p:txBody>
        </p:sp>
        <p:sp>
          <p:nvSpPr>
            <p:cNvPr id="202" name="Google Shape;202;p30"/>
            <p:cNvSpPr txBox="1"/>
            <p:nvPr/>
          </p:nvSpPr>
          <p:spPr>
            <a:xfrm>
              <a:off x="4381500" y="0"/>
              <a:ext cx="4000500" cy="1619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dirty="0">
                  <a:solidFill>
                    <a:schemeClr val="tx1"/>
                  </a:solidFill>
                  <a:latin typeface="Roboto Mono SemiBold"/>
                  <a:ea typeface="Roboto Mono SemiBold"/>
                  <a:cs typeface="Roboto Mono SemiBold"/>
                  <a:sym typeface="Roboto Mono SemiBold"/>
                </a:rPr>
                <a:t>02</a:t>
              </a:r>
              <a:endParaRPr sz="900" b="0" dirty="0">
                <a:solidFill>
                  <a:schemeClr val="tx1"/>
                </a:solidFill>
                <a:latin typeface="Roboto Mono SemiBold"/>
                <a:ea typeface="Roboto Mono SemiBold"/>
                <a:cs typeface="Roboto Mono SemiBold"/>
                <a:sym typeface="Roboto Mono SemiBold"/>
              </a:endParaRPr>
            </a:p>
            <a:p>
              <a:pPr algn="just">
                <a:spcBef>
                  <a:spcPts val="900"/>
                </a:spcBef>
              </a:pPr>
              <a:r>
                <a:rPr lang="en-IN" sz="1050" dirty="0">
                  <a:latin typeface="Inter" panose="020B0604020202020204" charset="0"/>
                  <a:ea typeface="Inter" panose="020B0604020202020204" charset="0"/>
                </a:rPr>
                <a:t>A single predicted value does not show how uncertain the forecast is. Without a prediction range, energy planners cannot clearly understand the possible worst-case shortage or surplus and prepare accordingly.</a:t>
              </a:r>
            </a:p>
            <a:p>
              <a:pPr marL="0" lvl="0" indent="0" algn="just" rtl="0">
                <a:spcBef>
                  <a:spcPts val="900"/>
                </a:spcBef>
                <a:spcAft>
                  <a:spcPts val="0"/>
                </a:spcAft>
                <a:buNone/>
              </a:pPr>
              <a:endParaRPr sz="1050" b="0" dirty="0">
                <a:solidFill>
                  <a:srgbClr val="475569"/>
                </a:solidFill>
                <a:latin typeface="Inter"/>
                <a:ea typeface="Inter"/>
                <a:cs typeface="Inter"/>
                <a:sym typeface="Inter"/>
              </a:endParaRPr>
            </a:p>
          </p:txBody>
        </p:sp>
      </p:grpSp>
      <p:grpSp>
        <p:nvGrpSpPr>
          <p:cNvPr id="203" name="Google Shape;203;p30"/>
          <p:cNvGrpSpPr/>
          <p:nvPr/>
        </p:nvGrpSpPr>
        <p:grpSpPr>
          <a:xfrm>
            <a:off x="381000" y="3429000"/>
            <a:ext cx="8382000" cy="1238400"/>
            <a:chOff x="0" y="0"/>
            <a:chExt cx="8382000" cy="1238400"/>
          </a:xfrm>
        </p:grpSpPr>
        <p:sp>
          <p:nvSpPr>
            <p:cNvPr id="204" name="Google Shape;204;p30"/>
            <p:cNvSpPr/>
            <p:nvPr/>
          </p:nvSpPr>
          <p:spPr>
            <a:xfrm>
              <a:off x="0" y="0"/>
              <a:ext cx="8382000" cy="1238400"/>
            </a:xfrm>
            <a:prstGeom prst="rect">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5" name="Google Shape;205;p30"/>
            <p:cNvSpPr/>
            <p:nvPr/>
          </p:nvSpPr>
          <p:spPr>
            <a:xfrm>
              <a:off x="0" y="0"/>
              <a:ext cx="76200" cy="12384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6" name="Google Shape;206;p30"/>
            <p:cNvSpPr txBox="1"/>
            <p:nvPr/>
          </p:nvSpPr>
          <p:spPr>
            <a:xfrm>
              <a:off x="342900" y="238125"/>
              <a:ext cx="7658100" cy="762000"/>
            </a:xfrm>
            <a:prstGeom prst="rect">
              <a:avLst/>
            </a:prstGeom>
            <a:noFill/>
            <a:ln>
              <a:noFill/>
            </a:ln>
          </p:spPr>
          <p:txBody>
            <a:bodyPr spcFirstLastPara="1" wrap="square" lIns="0" tIns="0" rIns="0" bIns="0" anchor="ctr" anchorCtr="0">
              <a:noAutofit/>
            </a:bodyPr>
            <a:lstStyle/>
            <a:p>
              <a:pPr lvl="0"/>
              <a:r>
                <a:rPr lang="en-IN" sz="1200" dirty="0">
                  <a:solidFill>
                    <a:schemeClr val="bg1"/>
                  </a:solidFill>
                </a:rPr>
                <a:t>Traditional systems only give forecast numbers and do not turn them into clear, practical energy planning   suggestions. </a:t>
              </a:r>
              <a:endParaRPr sz="1350" b="0" i="1" dirty="0">
                <a:solidFill>
                  <a:schemeClr val="bg1"/>
                </a:solidFill>
                <a:latin typeface="Inter Medium"/>
                <a:ea typeface="Inter Medium"/>
                <a:cs typeface="Inter Medium"/>
                <a:sym typeface="Inter Medium"/>
              </a:endParaRPr>
            </a:p>
          </p:txBody>
        </p:sp>
      </p:grpSp>
      <p:grpSp>
        <p:nvGrpSpPr>
          <p:cNvPr id="207" name="Google Shape;207;p30"/>
          <p:cNvGrpSpPr/>
          <p:nvPr/>
        </p:nvGrpSpPr>
        <p:grpSpPr>
          <a:xfrm>
            <a:off x="8239125" y="142875"/>
            <a:ext cx="190500" cy="190500"/>
            <a:chOff x="0" y="0"/>
            <a:chExt cx="190500" cy="190500"/>
          </a:xfrm>
        </p:grpSpPr>
        <p:sp>
          <p:nvSpPr>
            <p:cNvPr id="208" name="Google Shape;208;p30"/>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9" name="Google Shape;209;p30"/>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04</a:t>
              </a:r>
              <a:endParaRPr sz="750" b="1">
                <a:solidFill>
                  <a:srgbClr val="FFFFFF"/>
                </a:solidFill>
                <a:latin typeface="Roboto Mono"/>
                <a:ea typeface="Roboto Mono"/>
                <a:cs typeface="Roboto Mono"/>
                <a:sym typeface="Roboto Mono"/>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grpSp>
        <p:nvGrpSpPr>
          <p:cNvPr id="217" name="Google Shape;217;p31"/>
          <p:cNvGrpSpPr/>
          <p:nvPr/>
        </p:nvGrpSpPr>
        <p:grpSpPr>
          <a:xfrm>
            <a:off x="381000" y="333375"/>
            <a:ext cx="8382000" cy="714525"/>
            <a:chOff x="0" y="0"/>
            <a:chExt cx="8382000" cy="714525"/>
          </a:xfrm>
        </p:grpSpPr>
        <p:sp>
          <p:nvSpPr>
            <p:cNvPr id="218" name="Google Shape;218;p31"/>
            <p:cNvSpPr txBox="1"/>
            <p:nvPr/>
          </p:nvSpPr>
          <p:spPr>
            <a:xfrm>
              <a:off x="0" y="0"/>
              <a:ext cx="8382000" cy="362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0">
                  <a:solidFill>
                    <a:srgbClr val="0A192F"/>
                  </a:solidFill>
                  <a:latin typeface="Inter ExtraBold"/>
                  <a:ea typeface="Inter ExtraBold"/>
                  <a:cs typeface="Inter ExtraBold"/>
                  <a:sym typeface="Inter ExtraBold"/>
                </a:rPr>
                <a:t>Aim, Objectives &amp; Scope</a:t>
              </a:r>
              <a:endParaRPr/>
            </a:p>
          </p:txBody>
        </p:sp>
        <p:sp>
          <p:nvSpPr>
            <p:cNvPr id="219" name="Google Shape;219;p31"/>
            <p:cNvSpPr txBox="1"/>
            <p:nvPr/>
          </p:nvSpPr>
          <p:spPr>
            <a:xfrm>
              <a:off x="0" y="361950"/>
              <a:ext cx="83820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b="0">
                  <a:solidFill>
                    <a:srgbClr val="0055FF"/>
                  </a:solidFill>
                  <a:latin typeface="Inter Medium"/>
                  <a:ea typeface="Inter Medium"/>
                  <a:cs typeface="Inter Medium"/>
                  <a:sym typeface="Inter Medium"/>
                </a:rPr>
                <a:t>Machine-learning framework for forecasting electricity demand-supply gaps and risk classification</a:t>
              </a:r>
              <a:endParaRPr/>
            </a:p>
          </p:txBody>
        </p:sp>
        <p:grpSp>
          <p:nvGrpSpPr>
            <p:cNvPr id="220" name="Google Shape;220;p31"/>
            <p:cNvGrpSpPr/>
            <p:nvPr/>
          </p:nvGrpSpPr>
          <p:grpSpPr>
            <a:xfrm>
              <a:off x="0" y="657225"/>
              <a:ext cx="1581300" cy="57300"/>
              <a:chOff x="0" y="-28575"/>
              <a:chExt cx="1581300" cy="57300"/>
            </a:xfrm>
          </p:grpSpPr>
          <p:cxnSp>
            <p:nvCxnSpPr>
              <p:cNvPr id="221" name="Google Shape;221;p31"/>
              <p:cNvCxnSpPr/>
              <p:nvPr/>
            </p:nvCxnSpPr>
            <p:spPr>
              <a:xfrm>
                <a:off x="0" y="0"/>
                <a:ext cx="1524000" cy="0"/>
              </a:xfrm>
              <a:prstGeom prst="straightConnector1">
                <a:avLst/>
              </a:prstGeom>
              <a:solidFill>
                <a:srgbClr val="FFFFFF"/>
              </a:solidFill>
              <a:ln w="28575" cap="flat" cmpd="sng">
                <a:solidFill>
                  <a:srgbClr val="0055FF"/>
                </a:solidFill>
                <a:prstDash val="solid"/>
                <a:round/>
                <a:headEnd type="none" w="sm" len="sm"/>
                <a:tailEnd type="none" w="sm" len="sm"/>
              </a:ln>
            </p:spPr>
          </p:cxnSp>
          <p:sp>
            <p:nvSpPr>
              <p:cNvPr id="222" name="Google Shape;222;p31"/>
              <p:cNvSpPr/>
              <p:nvPr/>
            </p:nvSpPr>
            <p:spPr>
              <a:xfrm>
                <a:off x="1524000" y="-28575"/>
                <a:ext cx="57300" cy="573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grpSp>
        <p:nvGrpSpPr>
          <p:cNvPr id="223" name="Google Shape;223;p31"/>
          <p:cNvGrpSpPr/>
          <p:nvPr/>
        </p:nvGrpSpPr>
        <p:grpSpPr>
          <a:xfrm>
            <a:off x="381000" y="1381125"/>
            <a:ext cx="4000500" cy="3143175"/>
            <a:chOff x="0" y="0"/>
            <a:chExt cx="4000500" cy="3143175"/>
          </a:xfrm>
        </p:grpSpPr>
        <p:grpSp>
          <p:nvGrpSpPr>
            <p:cNvPr id="224" name="Google Shape;224;p31"/>
            <p:cNvGrpSpPr/>
            <p:nvPr/>
          </p:nvGrpSpPr>
          <p:grpSpPr>
            <a:xfrm>
              <a:off x="0" y="0"/>
              <a:ext cx="4000500" cy="1666800"/>
              <a:chOff x="0" y="0"/>
              <a:chExt cx="4000500" cy="1666800"/>
            </a:xfrm>
          </p:grpSpPr>
          <p:sp>
            <p:nvSpPr>
              <p:cNvPr id="225" name="Google Shape;225;p31"/>
              <p:cNvSpPr/>
              <p:nvPr/>
            </p:nvSpPr>
            <p:spPr>
              <a:xfrm>
                <a:off x="0" y="0"/>
                <a:ext cx="4000500" cy="16668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6" name="Google Shape;226;p31"/>
              <p:cNvSpPr/>
              <p:nvPr/>
            </p:nvSpPr>
            <p:spPr>
              <a:xfrm>
                <a:off x="0" y="0"/>
                <a:ext cx="38100" cy="16668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7" name="Google Shape;227;p31"/>
              <p:cNvSpPr txBox="1"/>
              <p:nvPr/>
            </p:nvSpPr>
            <p:spPr>
              <a:xfrm>
                <a:off x="190500" y="142875"/>
                <a:ext cx="3619500" cy="1381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dirty="0">
                    <a:solidFill>
                      <a:srgbClr val="0055FF"/>
                    </a:solidFill>
                    <a:latin typeface="Roboto Mono SemiBold"/>
                    <a:ea typeface="Roboto Mono SemiBold"/>
                    <a:cs typeface="Roboto Mono SemiBold"/>
                    <a:sym typeface="Roboto Mono SemiBold"/>
                  </a:rPr>
                  <a:t>Core Framework Aim</a:t>
                </a:r>
                <a:endParaRPr sz="900" b="0" dirty="0">
                  <a:solidFill>
                    <a:srgbClr val="0055FF"/>
                  </a:solidFill>
                  <a:latin typeface="Roboto Mono SemiBold"/>
                  <a:ea typeface="Roboto Mono SemiBold"/>
                  <a:cs typeface="Roboto Mono SemiBold"/>
                  <a:sym typeface="Roboto Mono SemiBold"/>
                </a:endParaRPr>
              </a:p>
              <a:p>
                <a:pPr lvl="0">
                  <a:spcBef>
                    <a:spcPts val="600"/>
                  </a:spcBef>
                </a:pPr>
                <a:r>
                  <a:rPr lang="en-IN" sz="1050" dirty="0">
                    <a:latin typeface="Inter" panose="020B0604020202020204" charset="0"/>
                    <a:ea typeface="Inter" panose="020B0604020202020204" charset="0"/>
                  </a:rPr>
                  <a:t>Our system predicts future electricity demand and supply, finds the shortage or surplus, measures the uncertainty, identifies the risk level, and gives useful planning suggestions.</a:t>
                </a:r>
                <a:endParaRPr sz="1050" b="0" dirty="0">
                  <a:solidFill>
                    <a:srgbClr val="475569"/>
                  </a:solidFill>
                  <a:latin typeface="Inter" panose="020B0604020202020204" charset="0"/>
                  <a:ea typeface="Inter" panose="020B0604020202020204" charset="0"/>
                  <a:cs typeface="Inter"/>
                  <a:sym typeface="Inter"/>
                </a:endParaRPr>
              </a:p>
            </p:txBody>
          </p:sp>
        </p:grpSp>
        <p:grpSp>
          <p:nvGrpSpPr>
            <p:cNvPr id="228" name="Google Shape;228;p31"/>
            <p:cNvGrpSpPr/>
            <p:nvPr/>
          </p:nvGrpSpPr>
          <p:grpSpPr>
            <a:xfrm>
              <a:off x="0" y="1857375"/>
              <a:ext cx="4000500" cy="1285800"/>
              <a:chOff x="0" y="0"/>
              <a:chExt cx="4000500" cy="1285800"/>
            </a:xfrm>
          </p:grpSpPr>
          <p:sp>
            <p:nvSpPr>
              <p:cNvPr id="229" name="Google Shape;229;p31"/>
              <p:cNvSpPr/>
              <p:nvPr/>
            </p:nvSpPr>
            <p:spPr>
              <a:xfrm>
                <a:off x="0" y="0"/>
                <a:ext cx="4000500" cy="12858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0" name="Google Shape;230;p31"/>
              <p:cNvSpPr/>
              <p:nvPr/>
            </p:nvSpPr>
            <p:spPr>
              <a:xfrm>
                <a:off x="0" y="0"/>
                <a:ext cx="38100" cy="12858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1" name="Google Shape;231;p31"/>
              <p:cNvSpPr txBox="1"/>
              <p:nvPr/>
            </p:nvSpPr>
            <p:spPr>
              <a:xfrm>
                <a:off x="190500" y="142875"/>
                <a:ext cx="3619500" cy="1000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dirty="0">
                    <a:solidFill>
                      <a:srgbClr val="FF5500"/>
                    </a:solidFill>
                    <a:latin typeface="Roboto Mono SemiBold"/>
                    <a:ea typeface="Roboto Mono SemiBold"/>
                    <a:cs typeface="Roboto Mono SemiBold"/>
                    <a:sym typeface="Roboto Mono SemiBold"/>
                  </a:rPr>
                  <a:t>Project Scope</a:t>
                </a:r>
                <a:endParaRPr sz="900" b="0" dirty="0">
                  <a:solidFill>
                    <a:srgbClr val="FF5500"/>
                  </a:solidFill>
                  <a:latin typeface="Roboto Mono SemiBold"/>
                  <a:ea typeface="Roboto Mono SemiBold"/>
                  <a:cs typeface="Roboto Mono SemiBold"/>
                  <a:sym typeface="Roboto Mono SemiBold"/>
                </a:endParaRPr>
              </a:p>
              <a:p>
                <a:pPr lvl="0">
                  <a:spcBef>
                    <a:spcPts val="600"/>
                  </a:spcBef>
                </a:pPr>
                <a:r>
                  <a:rPr lang="en-IN" sz="1050" dirty="0">
                    <a:latin typeface="Inter" panose="020B0604020202020204" charset="0"/>
                    <a:ea typeface="Inter" panose="020B0604020202020204" charset="0"/>
                  </a:rPr>
                  <a:t>We use past electricity data to build the models, calculate prediction ranges, and retrieve relevant information to provide energy planning suggestions.</a:t>
                </a:r>
                <a:endParaRPr sz="1050" b="0" dirty="0">
                  <a:solidFill>
                    <a:srgbClr val="475569"/>
                  </a:solidFill>
                  <a:latin typeface="Inter" panose="020B0604020202020204" charset="0"/>
                  <a:ea typeface="Inter" panose="020B0604020202020204" charset="0"/>
                  <a:cs typeface="Inter"/>
                  <a:sym typeface="Inter"/>
                </a:endParaRPr>
              </a:p>
            </p:txBody>
          </p:sp>
        </p:grpSp>
      </p:grpSp>
      <p:grpSp>
        <p:nvGrpSpPr>
          <p:cNvPr id="232" name="Google Shape;232;p31"/>
          <p:cNvGrpSpPr/>
          <p:nvPr/>
        </p:nvGrpSpPr>
        <p:grpSpPr>
          <a:xfrm>
            <a:off x="4667250" y="1381125"/>
            <a:ext cx="4095900" cy="2981475"/>
            <a:chOff x="0" y="0"/>
            <a:chExt cx="4095900" cy="2981475"/>
          </a:xfrm>
        </p:grpSpPr>
        <p:sp>
          <p:nvSpPr>
            <p:cNvPr id="233" name="Google Shape;233;p31"/>
            <p:cNvSpPr txBox="1"/>
            <p:nvPr/>
          </p:nvSpPr>
          <p:spPr>
            <a:xfrm>
              <a:off x="0" y="0"/>
              <a:ext cx="40959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0A192F"/>
                  </a:solidFill>
                  <a:latin typeface="Roboto Mono SemiBold"/>
                  <a:ea typeface="Roboto Mono SemiBold"/>
                  <a:cs typeface="Roboto Mono SemiBold"/>
                  <a:sym typeface="Roboto Mono SemiBold"/>
                </a:rPr>
                <a:t>Key Project Objectives</a:t>
              </a:r>
              <a:endParaRPr sz="900" b="0">
                <a:solidFill>
                  <a:srgbClr val="0A192F"/>
                </a:solidFill>
                <a:latin typeface="Roboto Mono SemiBold"/>
                <a:ea typeface="Roboto Mono SemiBold"/>
                <a:cs typeface="Roboto Mono SemiBold"/>
                <a:sym typeface="Roboto Mono SemiBold"/>
              </a:endParaRPr>
            </a:p>
          </p:txBody>
        </p:sp>
        <p:grpSp>
          <p:nvGrpSpPr>
            <p:cNvPr id="234" name="Google Shape;234;p31"/>
            <p:cNvGrpSpPr/>
            <p:nvPr/>
          </p:nvGrpSpPr>
          <p:grpSpPr>
            <a:xfrm>
              <a:off x="0" y="333375"/>
              <a:ext cx="4095900" cy="333300"/>
              <a:chOff x="0" y="0"/>
              <a:chExt cx="4095900" cy="333300"/>
            </a:xfrm>
          </p:grpSpPr>
          <p:sp>
            <p:nvSpPr>
              <p:cNvPr id="235" name="Google Shape;235;p31"/>
              <p:cNvSpPr/>
              <p:nvPr/>
            </p:nvSpPr>
            <p:spPr>
              <a:xfrm>
                <a:off x="0" y="47625"/>
                <a:ext cx="57300" cy="573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6" name="Google Shape;236;p31"/>
              <p:cNvSpPr txBox="1"/>
              <p:nvPr/>
            </p:nvSpPr>
            <p:spPr>
              <a:xfrm>
                <a:off x="190500" y="0"/>
                <a:ext cx="3905400" cy="333300"/>
              </a:xfrm>
              <a:prstGeom prst="rect">
                <a:avLst/>
              </a:prstGeom>
              <a:noFill/>
              <a:ln>
                <a:noFill/>
              </a:ln>
            </p:spPr>
            <p:txBody>
              <a:bodyPr spcFirstLastPara="1" wrap="square" lIns="0" tIns="0" rIns="0" bIns="0" anchor="t" anchorCtr="0">
                <a:noAutofit/>
              </a:bodyPr>
              <a:lstStyle/>
              <a:p>
                <a:pPr lvl="0"/>
                <a:r>
                  <a:rPr lang="en-IN" sz="1050" dirty="0">
                    <a:latin typeface="Inter" panose="020B0604020202020204" charset="0"/>
                    <a:ea typeface="Inter" panose="020B0604020202020204" charset="0"/>
                  </a:rPr>
                  <a:t>Clean the old electricity data and other related data before using them for prediction.</a:t>
                </a:r>
                <a:endParaRPr sz="1050" b="0" dirty="0">
                  <a:solidFill>
                    <a:srgbClr val="475569"/>
                  </a:solidFill>
                  <a:latin typeface="Inter" panose="020B0604020202020204" charset="0"/>
                  <a:ea typeface="Inter" panose="020B0604020202020204" charset="0"/>
                  <a:cs typeface="Inter"/>
                  <a:sym typeface="Inter"/>
                </a:endParaRPr>
              </a:p>
            </p:txBody>
          </p:sp>
        </p:grpSp>
        <p:grpSp>
          <p:nvGrpSpPr>
            <p:cNvPr id="237" name="Google Shape;237;p31"/>
            <p:cNvGrpSpPr/>
            <p:nvPr/>
          </p:nvGrpSpPr>
          <p:grpSpPr>
            <a:xfrm>
              <a:off x="0" y="742950"/>
              <a:ext cx="4095900" cy="400200"/>
              <a:chOff x="0" y="0"/>
              <a:chExt cx="4095900" cy="400200"/>
            </a:xfrm>
          </p:grpSpPr>
          <p:sp>
            <p:nvSpPr>
              <p:cNvPr id="238" name="Google Shape;238;p31"/>
              <p:cNvSpPr/>
              <p:nvPr/>
            </p:nvSpPr>
            <p:spPr>
              <a:xfrm>
                <a:off x="0" y="47625"/>
                <a:ext cx="57300" cy="573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9" name="Google Shape;239;p31"/>
              <p:cNvSpPr txBox="1"/>
              <p:nvPr/>
            </p:nvSpPr>
            <p:spPr>
              <a:xfrm>
                <a:off x="190500" y="0"/>
                <a:ext cx="3905400" cy="400200"/>
              </a:xfrm>
              <a:prstGeom prst="rect">
                <a:avLst/>
              </a:prstGeom>
              <a:noFill/>
              <a:ln>
                <a:noFill/>
              </a:ln>
            </p:spPr>
            <p:txBody>
              <a:bodyPr spcFirstLastPara="1" wrap="square" lIns="0" tIns="0" rIns="0" bIns="0" anchor="t" anchorCtr="0">
                <a:noAutofit/>
              </a:bodyPr>
              <a:lstStyle/>
              <a:p>
                <a:pPr lvl="0"/>
                <a:r>
                  <a:rPr lang="en-IN" sz="1050" dirty="0">
                    <a:latin typeface="Inter" panose="020B0604020202020204" charset="0"/>
                    <a:ea typeface="Inter" panose="020B0604020202020204" charset="0"/>
                  </a:rPr>
                  <a:t>We test different ML models and compare their performance to find which one works better</a:t>
                </a:r>
                <a:endParaRPr sz="1050" dirty="0">
                  <a:solidFill>
                    <a:srgbClr val="475569"/>
                  </a:solidFill>
                  <a:latin typeface="Inter" panose="020B0604020202020204" charset="0"/>
                  <a:ea typeface="Inter" panose="020B0604020202020204" charset="0"/>
                  <a:cs typeface="Inter"/>
                  <a:sym typeface="Inter"/>
                </a:endParaRPr>
              </a:p>
            </p:txBody>
          </p:sp>
        </p:grpSp>
        <p:grpSp>
          <p:nvGrpSpPr>
            <p:cNvPr id="240" name="Google Shape;240;p31"/>
            <p:cNvGrpSpPr/>
            <p:nvPr/>
          </p:nvGrpSpPr>
          <p:grpSpPr>
            <a:xfrm>
              <a:off x="0" y="1219200"/>
              <a:ext cx="4095900" cy="304875"/>
              <a:chOff x="0" y="0"/>
              <a:chExt cx="4095900" cy="304875"/>
            </a:xfrm>
          </p:grpSpPr>
          <p:sp>
            <p:nvSpPr>
              <p:cNvPr id="241" name="Google Shape;241;p31"/>
              <p:cNvSpPr/>
              <p:nvPr/>
            </p:nvSpPr>
            <p:spPr>
              <a:xfrm>
                <a:off x="0" y="47625"/>
                <a:ext cx="57300" cy="573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2" name="Google Shape;242;p31"/>
              <p:cNvSpPr txBox="1"/>
              <p:nvPr/>
            </p:nvSpPr>
            <p:spPr>
              <a:xfrm>
                <a:off x="190500" y="0"/>
                <a:ext cx="3905400" cy="304875"/>
              </a:xfrm>
              <a:prstGeom prst="rect">
                <a:avLst/>
              </a:prstGeom>
              <a:noFill/>
              <a:ln>
                <a:noFill/>
              </a:ln>
            </p:spPr>
            <p:txBody>
              <a:bodyPr spcFirstLastPara="1" wrap="square" lIns="0" tIns="0" rIns="0" bIns="0" anchor="t" anchorCtr="0">
                <a:noAutofit/>
              </a:bodyPr>
              <a:lstStyle/>
              <a:p>
                <a:pPr lvl="0"/>
                <a:r>
                  <a:rPr lang="en-IN" sz="1050" dirty="0">
                    <a:latin typeface="Inter" panose="020B0604020202020204" charset="0"/>
                    <a:ea typeface="Inter" panose="020B0604020202020204" charset="0"/>
                  </a:rPr>
                  <a:t>After predicting both values, we subtract supply from demand.</a:t>
                </a:r>
                <a:endParaRPr sz="1050" b="0" dirty="0">
                  <a:solidFill>
                    <a:srgbClr val="475569"/>
                  </a:solidFill>
                  <a:latin typeface="Inter" panose="020B0604020202020204" charset="0"/>
                  <a:ea typeface="Inter" panose="020B0604020202020204" charset="0"/>
                  <a:cs typeface="Inter"/>
                  <a:sym typeface="Inter"/>
                </a:endParaRPr>
              </a:p>
            </p:txBody>
          </p:sp>
        </p:grpSp>
        <p:grpSp>
          <p:nvGrpSpPr>
            <p:cNvPr id="243" name="Google Shape;243;p31"/>
            <p:cNvGrpSpPr/>
            <p:nvPr/>
          </p:nvGrpSpPr>
          <p:grpSpPr>
            <a:xfrm>
              <a:off x="0" y="1695450"/>
              <a:ext cx="4095900" cy="400200"/>
              <a:chOff x="0" y="0"/>
              <a:chExt cx="4095900" cy="400200"/>
            </a:xfrm>
          </p:grpSpPr>
          <p:sp>
            <p:nvSpPr>
              <p:cNvPr id="244" name="Google Shape;244;p31"/>
              <p:cNvSpPr/>
              <p:nvPr/>
            </p:nvSpPr>
            <p:spPr>
              <a:xfrm>
                <a:off x="0" y="47625"/>
                <a:ext cx="57300" cy="573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5" name="Google Shape;245;p31"/>
              <p:cNvSpPr txBox="1"/>
              <p:nvPr/>
            </p:nvSpPr>
            <p:spPr>
              <a:xfrm>
                <a:off x="190500" y="0"/>
                <a:ext cx="3905400" cy="400200"/>
              </a:xfrm>
              <a:prstGeom prst="rect">
                <a:avLst/>
              </a:prstGeom>
              <a:noFill/>
              <a:ln>
                <a:noFill/>
              </a:ln>
            </p:spPr>
            <p:txBody>
              <a:bodyPr spcFirstLastPara="1" wrap="square" lIns="0" tIns="0" rIns="0" bIns="0" anchor="t" anchorCtr="0">
                <a:noAutofit/>
              </a:bodyPr>
              <a:lstStyle/>
              <a:p>
                <a:pPr lvl="0"/>
                <a:r>
                  <a:rPr lang="en-IN" sz="1050" dirty="0">
                    <a:latin typeface="Inter" panose="020B0604020202020204" charset="0"/>
                    <a:ea typeface="Inter" panose="020B0604020202020204" charset="0"/>
                  </a:rPr>
                  <a:t>Instead of giving only one predicted number, we give a range showing where the actual value is likely to fall.</a:t>
                </a:r>
                <a:endParaRPr sz="1050" dirty="0">
                  <a:solidFill>
                    <a:srgbClr val="475569"/>
                  </a:solidFill>
                  <a:latin typeface="Inter" panose="020B0604020202020204" charset="0"/>
                  <a:ea typeface="Inter" panose="020B0604020202020204" charset="0"/>
                  <a:cs typeface="Inter"/>
                  <a:sym typeface="Inter"/>
                </a:endParaRPr>
              </a:p>
            </p:txBody>
          </p:sp>
        </p:grpSp>
        <p:grpSp>
          <p:nvGrpSpPr>
            <p:cNvPr id="246" name="Google Shape;246;p31"/>
            <p:cNvGrpSpPr/>
            <p:nvPr/>
          </p:nvGrpSpPr>
          <p:grpSpPr>
            <a:xfrm>
              <a:off x="0" y="2171700"/>
              <a:ext cx="4095900" cy="333300"/>
              <a:chOff x="0" y="0"/>
              <a:chExt cx="4095900" cy="333300"/>
            </a:xfrm>
          </p:grpSpPr>
          <p:sp>
            <p:nvSpPr>
              <p:cNvPr id="247" name="Google Shape;247;p31"/>
              <p:cNvSpPr/>
              <p:nvPr/>
            </p:nvSpPr>
            <p:spPr>
              <a:xfrm>
                <a:off x="0" y="47625"/>
                <a:ext cx="57300" cy="573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8" name="Google Shape;248;p31"/>
              <p:cNvSpPr txBox="1"/>
              <p:nvPr/>
            </p:nvSpPr>
            <p:spPr>
              <a:xfrm>
                <a:off x="190500" y="0"/>
                <a:ext cx="3905400" cy="333300"/>
              </a:xfrm>
              <a:prstGeom prst="rect">
                <a:avLst/>
              </a:prstGeom>
              <a:noFill/>
              <a:ln>
                <a:noFill/>
              </a:ln>
            </p:spPr>
            <p:txBody>
              <a:bodyPr spcFirstLastPara="1" wrap="square" lIns="0" tIns="0" rIns="0" bIns="0" anchor="t" anchorCtr="0">
                <a:noAutofit/>
              </a:bodyPr>
              <a:lstStyle/>
              <a:p>
                <a:pPr lvl="0"/>
                <a:r>
                  <a:rPr lang="en-IN" sz="1050" dirty="0">
                    <a:latin typeface="Inter" panose="020B0604020202020204" charset="0"/>
                    <a:ea typeface="Inter" panose="020B0604020202020204" charset="0"/>
                  </a:rPr>
                  <a:t>We set limits for the demand-supply gap and use them to determine the risk level.</a:t>
                </a:r>
                <a:endParaRPr sz="1050" dirty="0">
                  <a:solidFill>
                    <a:srgbClr val="475569"/>
                  </a:solidFill>
                  <a:latin typeface="Inter" panose="020B0604020202020204" charset="0"/>
                  <a:ea typeface="Inter" panose="020B0604020202020204" charset="0"/>
                  <a:cs typeface="Inter"/>
                  <a:sym typeface="Inter"/>
                </a:endParaRPr>
              </a:p>
            </p:txBody>
          </p:sp>
        </p:grpSp>
        <p:grpSp>
          <p:nvGrpSpPr>
            <p:cNvPr id="249" name="Google Shape;249;p31"/>
            <p:cNvGrpSpPr/>
            <p:nvPr/>
          </p:nvGrpSpPr>
          <p:grpSpPr>
            <a:xfrm>
              <a:off x="0" y="2581275"/>
              <a:ext cx="4095900" cy="400200"/>
              <a:chOff x="0" y="0"/>
              <a:chExt cx="4095900" cy="400200"/>
            </a:xfrm>
          </p:grpSpPr>
          <p:sp>
            <p:nvSpPr>
              <p:cNvPr id="250" name="Google Shape;250;p31"/>
              <p:cNvSpPr/>
              <p:nvPr/>
            </p:nvSpPr>
            <p:spPr>
              <a:xfrm>
                <a:off x="0" y="47625"/>
                <a:ext cx="57300" cy="573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1" name="Google Shape;251;p31"/>
              <p:cNvSpPr txBox="1"/>
              <p:nvPr/>
            </p:nvSpPr>
            <p:spPr>
              <a:xfrm>
                <a:off x="190500" y="0"/>
                <a:ext cx="3905400" cy="400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50" b="0" dirty="0">
                    <a:solidFill>
                      <a:srgbClr val="475569"/>
                    </a:solidFill>
                    <a:latin typeface="Inter"/>
                    <a:ea typeface="Inter"/>
                    <a:cs typeface="Inter"/>
                    <a:sym typeface="Inter"/>
                  </a:rPr>
                  <a:t>Utilizing a Retrieval-Augmented Generation engine for policy-grounded plans.</a:t>
                </a:r>
                <a:endParaRPr sz="1050" b="0" dirty="0">
                  <a:solidFill>
                    <a:srgbClr val="475569"/>
                  </a:solidFill>
                  <a:latin typeface="Inter"/>
                  <a:ea typeface="Inter"/>
                  <a:cs typeface="Inter"/>
                  <a:sym typeface="Inter"/>
                </a:endParaRPr>
              </a:p>
            </p:txBody>
          </p:sp>
        </p:grpSp>
      </p:grpSp>
      <p:grpSp>
        <p:nvGrpSpPr>
          <p:cNvPr id="252" name="Google Shape;252;p31"/>
          <p:cNvGrpSpPr/>
          <p:nvPr/>
        </p:nvGrpSpPr>
        <p:grpSpPr>
          <a:xfrm>
            <a:off x="8239125" y="142875"/>
            <a:ext cx="190500" cy="190500"/>
            <a:chOff x="0" y="0"/>
            <a:chExt cx="190500" cy="190500"/>
          </a:xfrm>
        </p:grpSpPr>
        <p:sp>
          <p:nvSpPr>
            <p:cNvPr id="253" name="Google Shape;253;p31"/>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4" name="Google Shape;254;p31"/>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05</a:t>
              </a:r>
              <a:endParaRPr sz="750" b="1">
                <a:solidFill>
                  <a:srgbClr val="FFFFFF"/>
                </a:solidFill>
                <a:latin typeface="Roboto Mono"/>
                <a:ea typeface="Roboto Mono"/>
                <a:cs typeface="Roboto Mono"/>
                <a:sym typeface="Roboto Mon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grpSp>
        <p:nvGrpSpPr>
          <p:cNvPr id="264" name="Google Shape;264;p32"/>
          <p:cNvGrpSpPr/>
          <p:nvPr/>
        </p:nvGrpSpPr>
        <p:grpSpPr>
          <a:xfrm>
            <a:off x="381000" y="110645"/>
            <a:ext cx="8382000" cy="956305"/>
            <a:chOff x="0" y="-270355"/>
            <a:chExt cx="8382000" cy="956305"/>
          </a:xfrm>
        </p:grpSpPr>
        <p:sp>
          <p:nvSpPr>
            <p:cNvPr id="265" name="Google Shape;265;p32"/>
            <p:cNvSpPr txBox="1"/>
            <p:nvPr/>
          </p:nvSpPr>
          <p:spPr>
            <a:xfrm>
              <a:off x="0" y="-270355"/>
              <a:ext cx="8382000" cy="381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100" b="0">
                  <a:solidFill>
                    <a:srgbClr val="0A192F"/>
                  </a:solidFill>
                  <a:latin typeface="Inter ExtraBold"/>
                  <a:ea typeface="Inter ExtraBold"/>
                  <a:cs typeface="Inter ExtraBold"/>
                  <a:sym typeface="Inter ExtraBold"/>
                </a:rPr>
                <a:t>Expected Outcomes</a:t>
              </a:r>
              <a:endParaRPr/>
            </a:p>
          </p:txBody>
        </p:sp>
        <p:sp>
          <p:nvSpPr>
            <p:cNvPr id="266" name="Google Shape;266;p32"/>
            <p:cNvSpPr txBox="1"/>
            <p:nvPr/>
          </p:nvSpPr>
          <p:spPr>
            <a:xfrm>
              <a:off x="0" y="400050"/>
              <a:ext cx="8382000" cy="285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endParaRPr dirty="0"/>
            </a:p>
          </p:txBody>
        </p:sp>
      </p:grpSp>
      <p:sp>
        <p:nvSpPr>
          <p:cNvPr id="271" name="Google Shape;271;p32"/>
          <p:cNvSpPr txBox="1"/>
          <p:nvPr/>
        </p:nvSpPr>
        <p:spPr>
          <a:xfrm>
            <a:off x="304973" y="1428600"/>
            <a:ext cx="4508385" cy="3333900"/>
          </a:xfrm>
          <a:prstGeom prst="rect">
            <a:avLst/>
          </a:prstGeom>
          <a:noFill/>
          <a:ln>
            <a:noFill/>
          </a:ln>
        </p:spPr>
        <p:txBody>
          <a:bodyPr spcFirstLastPara="1" wrap="square" lIns="0" tIns="0" rIns="0" bIns="0" anchor="t" anchorCtr="0">
            <a:noAutofit/>
          </a:bodyPr>
          <a:lstStyle/>
          <a:p>
            <a:pPr lvl="0"/>
            <a:endParaRPr sz="1050" dirty="0">
              <a:solidFill>
                <a:srgbClr val="475569"/>
              </a:solidFill>
              <a:latin typeface="Inter" panose="020B0604020202020204" charset="0"/>
              <a:ea typeface="Inter" panose="020B0604020202020204" charset="0"/>
              <a:cs typeface="Inter"/>
              <a:sym typeface="Inter"/>
            </a:endParaRPr>
          </a:p>
        </p:txBody>
      </p:sp>
      <p:grpSp>
        <p:nvGrpSpPr>
          <p:cNvPr id="284" name="Google Shape;284;p32"/>
          <p:cNvGrpSpPr/>
          <p:nvPr/>
        </p:nvGrpSpPr>
        <p:grpSpPr>
          <a:xfrm>
            <a:off x="8239125" y="142875"/>
            <a:ext cx="190500" cy="190500"/>
            <a:chOff x="0" y="0"/>
            <a:chExt cx="190500" cy="190500"/>
          </a:xfrm>
        </p:grpSpPr>
        <p:sp>
          <p:nvSpPr>
            <p:cNvPr id="285" name="Google Shape;285;p32"/>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6" name="Google Shape;286;p32"/>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06</a:t>
              </a:r>
              <a:endParaRPr sz="750" b="1">
                <a:solidFill>
                  <a:srgbClr val="FFFFFF"/>
                </a:solidFill>
                <a:latin typeface="Roboto Mono"/>
                <a:ea typeface="Roboto Mono"/>
                <a:cs typeface="Roboto Mono"/>
                <a:sym typeface="Roboto Mono"/>
              </a:endParaRPr>
            </a:p>
          </p:txBody>
        </p:sp>
      </p:grpSp>
      <p:pic>
        <p:nvPicPr>
          <p:cNvPr id="3" name="Picture 2">
            <a:extLst>
              <a:ext uri="{FF2B5EF4-FFF2-40B4-BE49-F238E27FC236}">
                <a16:creationId xmlns:a16="http://schemas.microsoft.com/office/drawing/2014/main" id="{606285E7-32C5-6056-5F6D-792C54E1C751}"/>
              </a:ext>
            </a:extLst>
          </p:cNvPr>
          <p:cNvPicPr>
            <a:picLocks noChangeAspect="1"/>
          </p:cNvPicPr>
          <p:nvPr/>
        </p:nvPicPr>
        <p:blipFill>
          <a:blip r:embed="rId3"/>
          <a:stretch>
            <a:fillRect/>
          </a:stretch>
        </p:blipFill>
        <p:spPr>
          <a:xfrm>
            <a:off x="144780" y="552140"/>
            <a:ext cx="8854440" cy="40392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2" name="Google Shape;292;p33"/>
          <p:cNvSpPr/>
          <p:nvPr/>
        </p:nvSpPr>
        <p:spPr>
          <a:xfrm>
            <a:off x="0" y="0"/>
            <a:ext cx="9144000" cy="5143500"/>
          </a:xfrm>
          <a:custGeom>
            <a:avLst/>
            <a:gdLst/>
            <a:ahLst/>
            <a:cxnLst/>
            <a:rect l="l" t="t" r="r" b="b"/>
            <a:pathLst>
              <a:path w="120000" h="120000" extrusionOk="0">
                <a:moveTo>
                  <a:pt x="0" y="8889"/>
                </a:moveTo>
                <a:lnTo>
                  <a:pt x="120000" y="8889"/>
                </a:lnTo>
                <a:moveTo>
                  <a:pt x="0" y="17778"/>
                </a:moveTo>
                <a:lnTo>
                  <a:pt x="120000" y="17778"/>
                </a:lnTo>
                <a:moveTo>
                  <a:pt x="0" y="26667"/>
                </a:moveTo>
                <a:lnTo>
                  <a:pt x="120000" y="26667"/>
                </a:lnTo>
                <a:moveTo>
                  <a:pt x="0" y="35556"/>
                </a:moveTo>
                <a:lnTo>
                  <a:pt x="120000" y="35556"/>
                </a:lnTo>
                <a:moveTo>
                  <a:pt x="0" y="44444"/>
                </a:moveTo>
                <a:lnTo>
                  <a:pt x="120000" y="44444"/>
                </a:lnTo>
                <a:moveTo>
                  <a:pt x="0" y="53333"/>
                </a:moveTo>
                <a:lnTo>
                  <a:pt x="120000" y="53333"/>
                </a:lnTo>
                <a:moveTo>
                  <a:pt x="0" y="62222"/>
                </a:moveTo>
                <a:lnTo>
                  <a:pt x="120000" y="62222"/>
                </a:lnTo>
                <a:moveTo>
                  <a:pt x="0" y="71111"/>
                </a:moveTo>
                <a:lnTo>
                  <a:pt x="120000" y="71111"/>
                </a:lnTo>
                <a:moveTo>
                  <a:pt x="0" y="80000"/>
                </a:moveTo>
                <a:lnTo>
                  <a:pt x="120000" y="80000"/>
                </a:lnTo>
                <a:moveTo>
                  <a:pt x="0" y="88889"/>
                </a:moveTo>
                <a:lnTo>
                  <a:pt x="120000" y="88889"/>
                </a:lnTo>
                <a:moveTo>
                  <a:pt x="0" y="97778"/>
                </a:moveTo>
                <a:lnTo>
                  <a:pt x="120000" y="97778"/>
                </a:lnTo>
                <a:moveTo>
                  <a:pt x="0" y="106667"/>
                </a:moveTo>
                <a:lnTo>
                  <a:pt x="120000" y="106667"/>
                </a:lnTo>
                <a:moveTo>
                  <a:pt x="0" y="115556"/>
                </a:moveTo>
                <a:lnTo>
                  <a:pt x="120000" y="115556"/>
                </a:lnTo>
                <a:moveTo>
                  <a:pt x="5000" y="0"/>
                </a:moveTo>
                <a:lnTo>
                  <a:pt x="5000" y="120000"/>
                </a:lnTo>
                <a:moveTo>
                  <a:pt x="10000" y="0"/>
                </a:moveTo>
                <a:lnTo>
                  <a:pt x="10000" y="120000"/>
                </a:lnTo>
                <a:moveTo>
                  <a:pt x="15000" y="0"/>
                </a:moveTo>
                <a:lnTo>
                  <a:pt x="15000" y="120000"/>
                </a:lnTo>
                <a:moveTo>
                  <a:pt x="20000" y="0"/>
                </a:moveTo>
                <a:lnTo>
                  <a:pt x="20000" y="120000"/>
                </a:lnTo>
                <a:moveTo>
                  <a:pt x="25000" y="0"/>
                </a:moveTo>
                <a:lnTo>
                  <a:pt x="25000" y="120000"/>
                </a:lnTo>
                <a:moveTo>
                  <a:pt x="30000" y="0"/>
                </a:moveTo>
                <a:lnTo>
                  <a:pt x="30000" y="120000"/>
                </a:lnTo>
                <a:moveTo>
                  <a:pt x="35000" y="0"/>
                </a:moveTo>
                <a:lnTo>
                  <a:pt x="35000" y="120000"/>
                </a:lnTo>
                <a:moveTo>
                  <a:pt x="40000" y="0"/>
                </a:moveTo>
                <a:lnTo>
                  <a:pt x="40000" y="120000"/>
                </a:lnTo>
                <a:moveTo>
                  <a:pt x="45000" y="0"/>
                </a:moveTo>
                <a:lnTo>
                  <a:pt x="45000" y="120000"/>
                </a:lnTo>
                <a:moveTo>
                  <a:pt x="50000" y="0"/>
                </a:moveTo>
                <a:lnTo>
                  <a:pt x="50000" y="120000"/>
                </a:lnTo>
                <a:moveTo>
                  <a:pt x="55000" y="0"/>
                </a:moveTo>
                <a:lnTo>
                  <a:pt x="55000" y="120000"/>
                </a:lnTo>
                <a:moveTo>
                  <a:pt x="60000" y="0"/>
                </a:moveTo>
                <a:lnTo>
                  <a:pt x="60000" y="120000"/>
                </a:lnTo>
                <a:moveTo>
                  <a:pt x="65000" y="0"/>
                </a:moveTo>
                <a:lnTo>
                  <a:pt x="65000" y="120000"/>
                </a:lnTo>
                <a:moveTo>
                  <a:pt x="70000" y="0"/>
                </a:moveTo>
                <a:lnTo>
                  <a:pt x="70000" y="120000"/>
                </a:lnTo>
                <a:moveTo>
                  <a:pt x="75000" y="0"/>
                </a:moveTo>
                <a:lnTo>
                  <a:pt x="75000" y="120000"/>
                </a:lnTo>
                <a:moveTo>
                  <a:pt x="80000" y="0"/>
                </a:moveTo>
                <a:lnTo>
                  <a:pt x="80000" y="120000"/>
                </a:lnTo>
                <a:moveTo>
                  <a:pt x="85000" y="0"/>
                </a:moveTo>
                <a:lnTo>
                  <a:pt x="85000" y="120000"/>
                </a:lnTo>
                <a:moveTo>
                  <a:pt x="90000" y="0"/>
                </a:moveTo>
                <a:lnTo>
                  <a:pt x="90000" y="120000"/>
                </a:lnTo>
                <a:moveTo>
                  <a:pt x="95000" y="0"/>
                </a:moveTo>
                <a:lnTo>
                  <a:pt x="95000" y="120000"/>
                </a:lnTo>
                <a:moveTo>
                  <a:pt x="100000" y="0"/>
                </a:moveTo>
                <a:lnTo>
                  <a:pt x="100000" y="120000"/>
                </a:lnTo>
                <a:moveTo>
                  <a:pt x="105000" y="0"/>
                </a:moveTo>
                <a:lnTo>
                  <a:pt x="105000" y="120000"/>
                </a:lnTo>
                <a:moveTo>
                  <a:pt x="110000" y="0"/>
                </a:moveTo>
                <a:lnTo>
                  <a:pt x="110000" y="120000"/>
                </a:lnTo>
                <a:moveTo>
                  <a:pt x="115000" y="0"/>
                </a:moveTo>
                <a:lnTo>
                  <a:pt x="115000" y="120000"/>
                </a:lnTo>
              </a:path>
            </a:pathLst>
          </a:custGeom>
          <a:solidFill>
            <a:srgbClr val="000000"/>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95" name="Google Shape;295;p33"/>
          <p:cNvGrpSpPr/>
          <p:nvPr/>
        </p:nvGrpSpPr>
        <p:grpSpPr>
          <a:xfrm>
            <a:off x="381000" y="381000"/>
            <a:ext cx="8382000" cy="495300"/>
            <a:chOff x="0" y="0"/>
            <a:chExt cx="8382000" cy="495300"/>
          </a:xfrm>
        </p:grpSpPr>
        <p:sp>
          <p:nvSpPr>
            <p:cNvPr id="296" name="Google Shape;296;p33"/>
            <p:cNvSpPr txBox="1"/>
            <p:nvPr/>
          </p:nvSpPr>
          <p:spPr>
            <a:xfrm>
              <a:off x="0" y="0"/>
              <a:ext cx="8382000" cy="30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000" b="0">
                  <a:solidFill>
                    <a:srgbClr val="0A192F"/>
                  </a:solidFill>
                  <a:latin typeface="Inter ExtraBold"/>
                  <a:ea typeface="Inter ExtraBold"/>
                  <a:cs typeface="Inter ExtraBold"/>
                  <a:sym typeface="Inter ExtraBold"/>
                </a:rPr>
                <a:t>Literature Survey</a:t>
              </a:r>
              <a:endParaRPr sz="2000" b="0">
                <a:solidFill>
                  <a:srgbClr val="0A192F"/>
                </a:solidFill>
                <a:latin typeface="Inter ExtraBold"/>
                <a:ea typeface="Inter ExtraBold"/>
                <a:cs typeface="Inter ExtraBold"/>
                <a:sym typeface="Inter ExtraBold"/>
              </a:endParaRPr>
            </a:p>
          </p:txBody>
        </p:sp>
        <p:sp>
          <p:nvSpPr>
            <p:cNvPr id="297" name="Google Shape;297;p33"/>
            <p:cNvSpPr txBox="1"/>
            <p:nvPr/>
          </p:nvSpPr>
          <p:spPr>
            <a:xfrm>
              <a:off x="0" y="304800"/>
              <a:ext cx="83820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b="0">
                  <a:solidFill>
                    <a:srgbClr val="0055FF"/>
                  </a:solidFill>
                  <a:latin typeface="Inter Medium"/>
                  <a:ea typeface="Inter Medium"/>
                  <a:cs typeface="Inter Medium"/>
                  <a:sym typeface="Inter Medium"/>
                </a:rPr>
                <a:t>Academic Review of Previous Research</a:t>
              </a:r>
              <a:endParaRPr sz="1200" b="0">
                <a:solidFill>
                  <a:srgbClr val="0055FF"/>
                </a:solidFill>
                <a:latin typeface="Inter Medium"/>
                <a:ea typeface="Inter Medium"/>
                <a:cs typeface="Inter Medium"/>
                <a:sym typeface="Inter Medium"/>
              </a:endParaRPr>
            </a:p>
          </p:txBody>
        </p:sp>
      </p:grpSp>
      <p:grpSp>
        <p:nvGrpSpPr>
          <p:cNvPr id="300" name="Google Shape;300;p33"/>
          <p:cNvGrpSpPr/>
          <p:nvPr/>
        </p:nvGrpSpPr>
        <p:grpSpPr>
          <a:xfrm>
            <a:off x="381000" y="1285875"/>
            <a:ext cx="8382000" cy="285900"/>
            <a:chOff x="0" y="0"/>
            <a:chExt cx="8382000" cy="285900"/>
          </a:xfrm>
        </p:grpSpPr>
        <p:sp>
          <p:nvSpPr>
            <p:cNvPr id="301" name="Google Shape;301;p33"/>
            <p:cNvSpPr/>
            <p:nvPr/>
          </p:nvSpPr>
          <p:spPr>
            <a:xfrm>
              <a:off x="0" y="0"/>
              <a:ext cx="8382000" cy="285900"/>
            </a:xfrm>
            <a:prstGeom prst="rect">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2" name="Google Shape;302;p33"/>
            <p:cNvSpPr txBox="1"/>
            <p:nvPr/>
          </p:nvSpPr>
          <p:spPr>
            <a:xfrm>
              <a:off x="142875" y="0"/>
              <a:ext cx="12858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FFFFFF"/>
                  </a:solidFill>
                  <a:latin typeface="Inter"/>
                  <a:ea typeface="Inter"/>
                  <a:cs typeface="Inter"/>
                  <a:sym typeface="Inter"/>
                </a:rPr>
                <a:t>Author / Year</a:t>
              </a:r>
              <a:endParaRPr sz="850" b="1">
                <a:solidFill>
                  <a:srgbClr val="FFFFFF"/>
                </a:solidFill>
                <a:latin typeface="Inter"/>
                <a:ea typeface="Inter"/>
                <a:cs typeface="Inter"/>
                <a:sym typeface="Inter"/>
              </a:endParaRPr>
            </a:p>
          </p:txBody>
        </p:sp>
        <p:sp>
          <p:nvSpPr>
            <p:cNvPr id="303" name="Google Shape;303;p33"/>
            <p:cNvSpPr txBox="1"/>
            <p:nvPr/>
          </p:nvSpPr>
          <p:spPr>
            <a:xfrm>
              <a:off x="1571625" y="0"/>
              <a:ext cx="15717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FFFFFF"/>
                  </a:solidFill>
                  <a:latin typeface="Inter"/>
                  <a:ea typeface="Inter"/>
                  <a:cs typeface="Inter"/>
                  <a:sym typeface="Inter"/>
                </a:rPr>
                <a:t>Method / Model</a:t>
              </a:r>
              <a:endParaRPr sz="850" b="1">
                <a:solidFill>
                  <a:srgbClr val="FFFFFF"/>
                </a:solidFill>
                <a:latin typeface="Inter"/>
                <a:ea typeface="Inter"/>
                <a:cs typeface="Inter"/>
                <a:sym typeface="Inter"/>
              </a:endParaRPr>
            </a:p>
          </p:txBody>
        </p:sp>
        <p:sp>
          <p:nvSpPr>
            <p:cNvPr id="304" name="Google Shape;304;p33"/>
            <p:cNvSpPr txBox="1"/>
            <p:nvPr/>
          </p:nvSpPr>
          <p:spPr>
            <a:xfrm>
              <a:off x="3286125" y="0"/>
              <a:ext cx="13812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FFFFFF"/>
                  </a:solidFill>
                  <a:latin typeface="Inter"/>
                  <a:ea typeface="Inter"/>
                  <a:cs typeface="Inter"/>
                  <a:sym typeface="Inter"/>
                </a:rPr>
                <a:t>Application Domain</a:t>
              </a:r>
              <a:endParaRPr sz="850" b="1">
                <a:solidFill>
                  <a:srgbClr val="FFFFFF"/>
                </a:solidFill>
                <a:latin typeface="Inter"/>
                <a:ea typeface="Inter"/>
                <a:cs typeface="Inter"/>
                <a:sym typeface="Inter"/>
              </a:endParaRPr>
            </a:p>
          </p:txBody>
        </p:sp>
        <p:sp>
          <p:nvSpPr>
            <p:cNvPr id="305" name="Google Shape;305;p33"/>
            <p:cNvSpPr txBox="1"/>
            <p:nvPr/>
          </p:nvSpPr>
          <p:spPr>
            <a:xfrm>
              <a:off x="4810125" y="0"/>
              <a:ext cx="17145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FFFFFF"/>
                  </a:solidFill>
                  <a:latin typeface="Inter"/>
                  <a:ea typeface="Inter"/>
                  <a:cs typeface="Inter"/>
                  <a:sym typeface="Inter"/>
                </a:rPr>
                <a:t>Major Finding</a:t>
              </a:r>
              <a:endParaRPr sz="850" b="1">
                <a:solidFill>
                  <a:srgbClr val="FFFFFF"/>
                </a:solidFill>
                <a:latin typeface="Inter"/>
                <a:ea typeface="Inter"/>
                <a:cs typeface="Inter"/>
                <a:sym typeface="Inter"/>
              </a:endParaRPr>
            </a:p>
          </p:txBody>
        </p:sp>
        <p:sp>
          <p:nvSpPr>
            <p:cNvPr id="306" name="Google Shape;306;p33"/>
            <p:cNvSpPr txBox="1"/>
            <p:nvPr/>
          </p:nvSpPr>
          <p:spPr>
            <a:xfrm>
              <a:off x="6667500" y="0"/>
              <a:ext cx="15717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50" b="1">
                  <a:solidFill>
                    <a:srgbClr val="FFFFFF"/>
                  </a:solidFill>
                  <a:latin typeface="Inter"/>
                  <a:ea typeface="Inter"/>
                  <a:cs typeface="Inter"/>
                  <a:sym typeface="Inter"/>
                </a:rPr>
                <a:t>Identified Limitation</a:t>
              </a:r>
              <a:endParaRPr sz="850" b="1">
                <a:solidFill>
                  <a:srgbClr val="FFFFFF"/>
                </a:solidFill>
                <a:latin typeface="Inter"/>
                <a:ea typeface="Inter"/>
                <a:cs typeface="Inter"/>
                <a:sym typeface="Inter"/>
              </a:endParaRPr>
            </a:p>
          </p:txBody>
        </p:sp>
      </p:grpSp>
      <p:grpSp>
        <p:nvGrpSpPr>
          <p:cNvPr id="307" name="Google Shape;307;p33"/>
          <p:cNvGrpSpPr/>
          <p:nvPr/>
        </p:nvGrpSpPr>
        <p:grpSpPr>
          <a:xfrm>
            <a:off x="381000" y="1571625"/>
            <a:ext cx="8382000" cy="590700"/>
            <a:chOff x="0" y="0"/>
            <a:chExt cx="8382000" cy="590700"/>
          </a:xfrm>
        </p:grpSpPr>
        <p:sp>
          <p:nvSpPr>
            <p:cNvPr id="308" name="Google Shape;308;p33"/>
            <p:cNvSpPr/>
            <p:nvPr/>
          </p:nvSpPr>
          <p:spPr>
            <a:xfrm>
              <a:off x="0" y="0"/>
              <a:ext cx="8382000" cy="5907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9" name="Google Shape;309;p33"/>
            <p:cNvSpPr txBox="1"/>
            <p:nvPr/>
          </p:nvSpPr>
          <p:spPr>
            <a:xfrm>
              <a:off x="142875" y="0"/>
              <a:ext cx="12858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A192F"/>
                  </a:solidFill>
                  <a:latin typeface="Inter"/>
                  <a:ea typeface="Inter"/>
                  <a:cs typeface="Inter"/>
                  <a:sym typeface="Inter"/>
                </a:rPr>
                <a:t>Chisale et al. (2025) [5]</a:t>
              </a:r>
              <a:endParaRPr sz="800" b="1">
                <a:solidFill>
                  <a:srgbClr val="0A192F"/>
                </a:solidFill>
                <a:latin typeface="Inter"/>
                <a:ea typeface="Inter"/>
                <a:cs typeface="Inter"/>
                <a:sym typeface="Inter"/>
              </a:endParaRPr>
            </a:p>
          </p:txBody>
        </p:sp>
        <p:sp>
          <p:nvSpPr>
            <p:cNvPr id="310" name="Google Shape;310;p33"/>
            <p:cNvSpPr txBox="1"/>
            <p:nvPr/>
          </p:nvSpPr>
          <p:spPr>
            <a:xfrm>
              <a:off x="1571625" y="0"/>
              <a:ext cx="15717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334155"/>
                  </a:solidFill>
                  <a:latin typeface="Inter"/>
                  <a:ea typeface="Inter"/>
                  <a:cs typeface="Inter"/>
                  <a:sym typeface="Inter"/>
                </a:rPr>
                <a:t>ECEEMDAN-BiGRU</a:t>
              </a:r>
              <a:r>
                <a:rPr lang="en" sz="800" b="0">
                  <a:solidFill>
                    <a:srgbClr val="334155"/>
                  </a:solidFill>
                  <a:latin typeface="Inter"/>
                  <a:ea typeface="Inter"/>
                  <a:cs typeface="Inter"/>
                  <a:sym typeface="Inter"/>
                </a:rPr>
                <a:t> &amp; </a:t>
              </a:r>
              <a:r>
                <a:rPr lang="en" sz="800" b="1">
                  <a:solidFill>
                    <a:srgbClr val="334155"/>
                  </a:solidFill>
                  <a:latin typeface="Inter"/>
                  <a:ea typeface="Inter"/>
                  <a:cs typeface="Inter"/>
                  <a:sym typeface="Inter"/>
                </a:rPr>
                <a:t>Quantile Regression</a:t>
              </a:r>
              <a:endParaRPr sz="800" b="0">
                <a:solidFill>
                  <a:srgbClr val="334155"/>
                </a:solidFill>
                <a:latin typeface="Inter"/>
                <a:ea typeface="Inter"/>
                <a:cs typeface="Inter"/>
                <a:sym typeface="Inter"/>
              </a:endParaRPr>
            </a:p>
          </p:txBody>
        </p:sp>
        <p:sp>
          <p:nvSpPr>
            <p:cNvPr id="311" name="Google Shape;311;p33"/>
            <p:cNvSpPr txBox="1"/>
            <p:nvPr/>
          </p:nvSpPr>
          <p:spPr>
            <a:xfrm>
              <a:off x="3286125" y="0"/>
              <a:ext cx="13812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Inter"/>
                  <a:ea typeface="Inter"/>
                  <a:cs typeface="Inter"/>
                  <a:sym typeface="Inter"/>
                </a:rPr>
                <a:t>Electricity Demand Forecasting</a:t>
              </a:r>
              <a:endParaRPr sz="800" b="0">
                <a:solidFill>
                  <a:srgbClr val="334155"/>
                </a:solidFill>
                <a:latin typeface="Inter"/>
                <a:ea typeface="Inter"/>
                <a:cs typeface="Inter"/>
                <a:sym typeface="Inter"/>
              </a:endParaRPr>
            </a:p>
          </p:txBody>
        </p:sp>
        <p:sp>
          <p:nvSpPr>
            <p:cNvPr id="312" name="Google Shape;312;p33"/>
            <p:cNvSpPr txBox="1"/>
            <p:nvPr/>
          </p:nvSpPr>
          <p:spPr>
            <a:xfrm>
              <a:off x="4810125" y="0"/>
              <a:ext cx="17145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Inter"/>
                  <a:ea typeface="Inter"/>
                  <a:cs typeface="Inter"/>
                  <a:sym typeface="Inter"/>
                </a:rPr>
                <a:t>Signal decomposition effectively extracts non-linear trends; quantile regression yields robust demand intervals.</a:t>
              </a:r>
              <a:endParaRPr sz="800" b="0">
                <a:solidFill>
                  <a:srgbClr val="334155"/>
                </a:solidFill>
                <a:latin typeface="Inter"/>
                <a:ea typeface="Inter"/>
                <a:cs typeface="Inter"/>
                <a:sym typeface="Inter"/>
              </a:endParaRPr>
            </a:p>
          </p:txBody>
        </p:sp>
        <p:sp>
          <p:nvSpPr>
            <p:cNvPr id="313" name="Google Shape;313;p33"/>
            <p:cNvSpPr txBox="1"/>
            <p:nvPr/>
          </p:nvSpPr>
          <p:spPr>
            <a:xfrm>
              <a:off x="6667500" y="0"/>
              <a:ext cx="15717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dirty="0">
                  <a:solidFill>
                    <a:srgbClr val="0A192F"/>
                  </a:solidFill>
                  <a:latin typeface="Inter"/>
                  <a:ea typeface="Inter"/>
                  <a:cs typeface="Inter"/>
                  <a:sym typeface="Inter"/>
                </a:rPr>
                <a:t>Focuses exclusively on demand; completely omits supply-side forecasting and gap estimation.</a:t>
              </a:r>
              <a:endParaRPr sz="800" b="0" dirty="0">
                <a:solidFill>
                  <a:srgbClr val="0A192F"/>
                </a:solidFill>
                <a:latin typeface="Inter"/>
                <a:ea typeface="Inter"/>
                <a:cs typeface="Inter"/>
                <a:sym typeface="Inter"/>
              </a:endParaRPr>
            </a:p>
          </p:txBody>
        </p:sp>
      </p:grpSp>
      <p:grpSp>
        <p:nvGrpSpPr>
          <p:cNvPr id="314" name="Google Shape;314;p33"/>
          <p:cNvGrpSpPr/>
          <p:nvPr/>
        </p:nvGrpSpPr>
        <p:grpSpPr>
          <a:xfrm>
            <a:off x="381000" y="2162175"/>
            <a:ext cx="8382000" cy="590700"/>
            <a:chOff x="0" y="0"/>
            <a:chExt cx="8382000" cy="590700"/>
          </a:xfrm>
        </p:grpSpPr>
        <p:sp>
          <p:nvSpPr>
            <p:cNvPr id="315" name="Google Shape;315;p33"/>
            <p:cNvSpPr/>
            <p:nvPr/>
          </p:nvSpPr>
          <p:spPr>
            <a:xfrm>
              <a:off x="0" y="0"/>
              <a:ext cx="8382000" cy="5907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316" name="Google Shape;316;p33"/>
            <p:cNvCxnSpPr/>
            <p:nvPr/>
          </p:nvCxnSpPr>
          <p:spPr>
            <a:xfrm>
              <a:off x="0" y="0"/>
              <a:ext cx="83820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317" name="Google Shape;317;p33"/>
            <p:cNvSpPr txBox="1"/>
            <p:nvPr/>
          </p:nvSpPr>
          <p:spPr>
            <a:xfrm>
              <a:off x="142875" y="0"/>
              <a:ext cx="12858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A192F"/>
                  </a:solidFill>
                  <a:latin typeface="Inter"/>
                  <a:ea typeface="Inter"/>
                  <a:cs typeface="Inter"/>
                  <a:sym typeface="Inter"/>
                </a:rPr>
                <a:t>Cao et al. (2022) [15]</a:t>
              </a:r>
              <a:endParaRPr sz="800" b="1">
                <a:solidFill>
                  <a:srgbClr val="0A192F"/>
                </a:solidFill>
                <a:latin typeface="Inter"/>
                <a:ea typeface="Inter"/>
                <a:cs typeface="Inter"/>
                <a:sym typeface="Inter"/>
              </a:endParaRPr>
            </a:p>
          </p:txBody>
        </p:sp>
        <p:sp>
          <p:nvSpPr>
            <p:cNvPr id="318" name="Google Shape;318;p33"/>
            <p:cNvSpPr txBox="1"/>
            <p:nvPr/>
          </p:nvSpPr>
          <p:spPr>
            <a:xfrm>
              <a:off x="1571625" y="0"/>
              <a:ext cx="15717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334155"/>
                  </a:solidFill>
                  <a:latin typeface="Inter"/>
                  <a:ea typeface="Inter"/>
                  <a:cs typeface="Inter"/>
                  <a:sym typeface="Inter"/>
                </a:rPr>
                <a:t>Transformer-Guided State Space</a:t>
              </a:r>
              <a:r>
                <a:rPr lang="en" sz="800" b="0">
                  <a:solidFill>
                    <a:srgbClr val="334155"/>
                  </a:solidFill>
                  <a:latin typeface="Inter"/>
                  <a:ea typeface="Inter"/>
                  <a:cs typeface="Inter"/>
                  <a:sym typeface="Inter"/>
                </a:rPr>
                <a:t> (TPEDF)</a:t>
              </a:r>
              <a:endParaRPr sz="800" b="0">
                <a:solidFill>
                  <a:srgbClr val="334155"/>
                </a:solidFill>
                <a:latin typeface="Inter"/>
                <a:ea typeface="Inter"/>
                <a:cs typeface="Inter"/>
                <a:sym typeface="Inter"/>
              </a:endParaRPr>
            </a:p>
          </p:txBody>
        </p:sp>
        <p:sp>
          <p:nvSpPr>
            <p:cNvPr id="319" name="Google Shape;319;p33"/>
            <p:cNvSpPr txBox="1"/>
            <p:nvPr/>
          </p:nvSpPr>
          <p:spPr>
            <a:xfrm>
              <a:off x="3286125" y="0"/>
              <a:ext cx="13812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Inter"/>
                  <a:ea typeface="Inter"/>
                  <a:cs typeface="Inter"/>
                  <a:sym typeface="Inter"/>
                </a:rPr>
                <a:t>Probabilistic Demand Forecasting</a:t>
              </a:r>
              <a:endParaRPr sz="800" b="0">
                <a:solidFill>
                  <a:srgbClr val="334155"/>
                </a:solidFill>
                <a:latin typeface="Inter"/>
                <a:ea typeface="Inter"/>
                <a:cs typeface="Inter"/>
                <a:sym typeface="Inter"/>
              </a:endParaRPr>
            </a:p>
          </p:txBody>
        </p:sp>
        <p:sp>
          <p:nvSpPr>
            <p:cNvPr id="320" name="Google Shape;320;p33"/>
            <p:cNvSpPr txBox="1"/>
            <p:nvPr/>
          </p:nvSpPr>
          <p:spPr>
            <a:xfrm>
              <a:off x="4810125" y="0"/>
              <a:ext cx="17145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Inter"/>
                  <a:ea typeface="Inter"/>
                  <a:cs typeface="Inter"/>
                  <a:sym typeface="Inter"/>
                </a:rPr>
                <a:t>Transformer attention captures long-term dependencies while state-space modeling quantifies uncertainty distributions.</a:t>
              </a:r>
              <a:endParaRPr sz="800" b="0">
                <a:solidFill>
                  <a:srgbClr val="334155"/>
                </a:solidFill>
                <a:latin typeface="Inter"/>
                <a:ea typeface="Inter"/>
                <a:cs typeface="Inter"/>
                <a:sym typeface="Inter"/>
              </a:endParaRPr>
            </a:p>
          </p:txBody>
        </p:sp>
        <p:sp>
          <p:nvSpPr>
            <p:cNvPr id="321" name="Google Shape;321;p33"/>
            <p:cNvSpPr txBox="1"/>
            <p:nvPr/>
          </p:nvSpPr>
          <p:spPr>
            <a:xfrm>
              <a:off x="6667500" y="0"/>
              <a:ext cx="15717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dirty="0">
                  <a:solidFill>
                    <a:srgbClr val="0A192F"/>
                  </a:solidFill>
                  <a:latin typeface="Inter"/>
                  <a:ea typeface="Inter"/>
                  <a:cs typeface="Inter"/>
                  <a:sym typeface="Inter"/>
                </a:rPr>
                <a:t>Single-side forecasting; lacks demand-supply integration and actionable decision support.</a:t>
              </a:r>
              <a:endParaRPr sz="800" b="0" dirty="0">
                <a:solidFill>
                  <a:srgbClr val="0A192F"/>
                </a:solidFill>
                <a:latin typeface="Inter"/>
                <a:ea typeface="Inter"/>
                <a:cs typeface="Inter"/>
                <a:sym typeface="Inter"/>
              </a:endParaRPr>
            </a:p>
          </p:txBody>
        </p:sp>
      </p:grpSp>
      <p:grpSp>
        <p:nvGrpSpPr>
          <p:cNvPr id="322" name="Google Shape;322;p33"/>
          <p:cNvGrpSpPr/>
          <p:nvPr/>
        </p:nvGrpSpPr>
        <p:grpSpPr>
          <a:xfrm>
            <a:off x="381000" y="2752725"/>
            <a:ext cx="8382000" cy="590700"/>
            <a:chOff x="0" y="0"/>
            <a:chExt cx="8382000" cy="590700"/>
          </a:xfrm>
        </p:grpSpPr>
        <p:sp>
          <p:nvSpPr>
            <p:cNvPr id="323" name="Google Shape;323;p33"/>
            <p:cNvSpPr/>
            <p:nvPr/>
          </p:nvSpPr>
          <p:spPr>
            <a:xfrm>
              <a:off x="0" y="0"/>
              <a:ext cx="8382000" cy="5907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324" name="Google Shape;324;p33"/>
            <p:cNvCxnSpPr/>
            <p:nvPr/>
          </p:nvCxnSpPr>
          <p:spPr>
            <a:xfrm>
              <a:off x="0" y="0"/>
              <a:ext cx="83820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325" name="Google Shape;325;p33"/>
            <p:cNvSpPr txBox="1"/>
            <p:nvPr/>
          </p:nvSpPr>
          <p:spPr>
            <a:xfrm>
              <a:off x="142875" y="0"/>
              <a:ext cx="12858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A192F"/>
                  </a:solidFill>
                  <a:latin typeface="Inter"/>
                  <a:ea typeface="Inter"/>
                  <a:cs typeface="Inter"/>
                  <a:sym typeface="Inter"/>
                </a:rPr>
                <a:t>Terrón-Serrano et al. (2026) [13]</a:t>
              </a:r>
              <a:endParaRPr sz="800" b="1">
                <a:solidFill>
                  <a:srgbClr val="0A192F"/>
                </a:solidFill>
                <a:latin typeface="Inter"/>
                <a:ea typeface="Inter"/>
                <a:cs typeface="Inter"/>
                <a:sym typeface="Inter"/>
              </a:endParaRPr>
            </a:p>
          </p:txBody>
        </p:sp>
        <p:sp>
          <p:nvSpPr>
            <p:cNvPr id="326" name="Google Shape;326;p33"/>
            <p:cNvSpPr txBox="1"/>
            <p:nvPr/>
          </p:nvSpPr>
          <p:spPr>
            <a:xfrm>
              <a:off x="1571625" y="0"/>
              <a:ext cx="15717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334155"/>
                  </a:solidFill>
                  <a:latin typeface="Inter"/>
                  <a:ea typeface="Inter"/>
                  <a:cs typeface="Inter"/>
                  <a:sym typeface="Inter"/>
                </a:rPr>
                <a:t>Shared Probabilistic Distributions</a:t>
              </a:r>
              <a:endParaRPr sz="800" b="0">
                <a:solidFill>
                  <a:srgbClr val="334155"/>
                </a:solidFill>
                <a:latin typeface="Inter"/>
                <a:ea typeface="Inter"/>
                <a:cs typeface="Inter"/>
                <a:sym typeface="Inter"/>
              </a:endParaRPr>
            </a:p>
          </p:txBody>
        </p:sp>
        <p:sp>
          <p:nvSpPr>
            <p:cNvPr id="327" name="Google Shape;327;p33"/>
            <p:cNvSpPr txBox="1"/>
            <p:nvPr/>
          </p:nvSpPr>
          <p:spPr>
            <a:xfrm>
              <a:off x="3286125" y="0"/>
              <a:ext cx="13812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Inter"/>
                  <a:ea typeface="Inter"/>
                  <a:cs typeface="Inter"/>
                  <a:sym typeface="Inter"/>
                </a:rPr>
                <a:t>Day-Ahead Demand &amp; Renewables</a:t>
              </a:r>
              <a:endParaRPr sz="800" b="0">
                <a:solidFill>
                  <a:srgbClr val="334155"/>
                </a:solidFill>
                <a:latin typeface="Inter"/>
                <a:ea typeface="Inter"/>
                <a:cs typeface="Inter"/>
                <a:sym typeface="Inter"/>
              </a:endParaRPr>
            </a:p>
          </p:txBody>
        </p:sp>
        <p:sp>
          <p:nvSpPr>
            <p:cNvPr id="328" name="Google Shape;328;p33"/>
            <p:cNvSpPr txBox="1"/>
            <p:nvPr/>
          </p:nvSpPr>
          <p:spPr>
            <a:xfrm>
              <a:off x="4810125" y="0"/>
              <a:ext cx="17145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Inter"/>
                  <a:ea typeface="Inter"/>
                  <a:cs typeface="Inter"/>
                  <a:sym typeface="Inter"/>
                </a:rPr>
                <a:t>Joint probabilistic modeling of load and renewables using weather data improves reserve scheduling efficiency.</a:t>
              </a:r>
              <a:endParaRPr sz="800" b="0">
                <a:solidFill>
                  <a:srgbClr val="334155"/>
                </a:solidFill>
                <a:latin typeface="Inter"/>
                <a:ea typeface="Inter"/>
                <a:cs typeface="Inter"/>
                <a:sym typeface="Inter"/>
              </a:endParaRPr>
            </a:p>
          </p:txBody>
        </p:sp>
        <p:sp>
          <p:nvSpPr>
            <p:cNvPr id="329" name="Google Shape;329;p33"/>
            <p:cNvSpPr txBox="1"/>
            <p:nvPr/>
          </p:nvSpPr>
          <p:spPr>
            <a:xfrm>
              <a:off x="6667500" y="0"/>
              <a:ext cx="15717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dirty="0">
                  <a:solidFill>
                    <a:srgbClr val="0A192F"/>
                  </a:solidFill>
                  <a:latin typeface="Inter"/>
                  <a:ea typeface="Inter"/>
                  <a:cs typeface="Inter"/>
                  <a:sym typeface="Inter"/>
                </a:rPr>
                <a:t> Does not compute operational gap intervals or incorporate RAG-based regulatory planning.</a:t>
              </a:r>
              <a:endParaRPr sz="800" b="0" dirty="0">
                <a:solidFill>
                  <a:srgbClr val="0A192F"/>
                </a:solidFill>
                <a:latin typeface="Inter"/>
                <a:ea typeface="Inter"/>
                <a:cs typeface="Inter"/>
                <a:sym typeface="Inter"/>
              </a:endParaRPr>
            </a:p>
          </p:txBody>
        </p:sp>
      </p:grpSp>
      <p:grpSp>
        <p:nvGrpSpPr>
          <p:cNvPr id="330" name="Google Shape;330;p33"/>
          <p:cNvGrpSpPr/>
          <p:nvPr/>
        </p:nvGrpSpPr>
        <p:grpSpPr>
          <a:xfrm>
            <a:off x="381000" y="3343275"/>
            <a:ext cx="8382000" cy="590700"/>
            <a:chOff x="0" y="0"/>
            <a:chExt cx="8382000" cy="590700"/>
          </a:xfrm>
        </p:grpSpPr>
        <p:sp>
          <p:nvSpPr>
            <p:cNvPr id="331" name="Google Shape;331;p33"/>
            <p:cNvSpPr/>
            <p:nvPr/>
          </p:nvSpPr>
          <p:spPr>
            <a:xfrm>
              <a:off x="0" y="0"/>
              <a:ext cx="8382000" cy="5907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332" name="Google Shape;332;p33"/>
            <p:cNvCxnSpPr/>
            <p:nvPr/>
          </p:nvCxnSpPr>
          <p:spPr>
            <a:xfrm>
              <a:off x="0" y="0"/>
              <a:ext cx="83820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333" name="Google Shape;333;p33"/>
            <p:cNvSpPr txBox="1"/>
            <p:nvPr/>
          </p:nvSpPr>
          <p:spPr>
            <a:xfrm>
              <a:off x="142875" y="0"/>
              <a:ext cx="12858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A192F"/>
                  </a:solidFill>
                  <a:latin typeface="Inter"/>
                  <a:ea typeface="Inter"/>
                  <a:cs typeface="Inter"/>
                  <a:sym typeface="Inter"/>
                </a:rPr>
                <a:t>Ni et al. (2024) [16]</a:t>
              </a:r>
              <a:endParaRPr sz="800" b="1">
                <a:solidFill>
                  <a:srgbClr val="0A192F"/>
                </a:solidFill>
                <a:latin typeface="Inter"/>
                <a:ea typeface="Inter"/>
                <a:cs typeface="Inter"/>
                <a:sym typeface="Inter"/>
              </a:endParaRPr>
            </a:p>
          </p:txBody>
        </p:sp>
        <p:sp>
          <p:nvSpPr>
            <p:cNvPr id="334" name="Google Shape;334;p33"/>
            <p:cNvSpPr txBox="1"/>
            <p:nvPr/>
          </p:nvSpPr>
          <p:spPr>
            <a:xfrm>
              <a:off x="1571625" y="0"/>
              <a:ext cx="15717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334155"/>
                  </a:solidFill>
                  <a:latin typeface="Inter"/>
                  <a:ea typeface="Inter"/>
                  <a:cs typeface="Inter"/>
                  <a:sym typeface="Inter"/>
                </a:rPr>
                <a:t>ChatGrid: LLM + RAG Pipeline</a:t>
              </a:r>
              <a:endParaRPr sz="800" b="0">
                <a:solidFill>
                  <a:srgbClr val="334155"/>
                </a:solidFill>
                <a:latin typeface="Inter"/>
                <a:ea typeface="Inter"/>
                <a:cs typeface="Inter"/>
                <a:sym typeface="Inter"/>
              </a:endParaRPr>
            </a:p>
          </p:txBody>
        </p:sp>
        <p:sp>
          <p:nvSpPr>
            <p:cNvPr id="335" name="Google Shape;335;p33"/>
            <p:cNvSpPr txBox="1"/>
            <p:nvPr/>
          </p:nvSpPr>
          <p:spPr>
            <a:xfrm>
              <a:off x="3286125" y="0"/>
              <a:ext cx="13812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Inter"/>
                  <a:ea typeface="Inter"/>
                  <a:cs typeface="Inter"/>
                  <a:sym typeface="Inter"/>
                </a:rPr>
                <a:t>Power Dispatching Knowledge Q&amp;A</a:t>
              </a:r>
              <a:endParaRPr sz="800" b="0">
                <a:solidFill>
                  <a:srgbClr val="334155"/>
                </a:solidFill>
                <a:latin typeface="Inter"/>
                <a:ea typeface="Inter"/>
                <a:cs typeface="Inter"/>
                <a:sym typeface="Inter"/>
              </a:endParaRPr>
            </a:p>
          </p:txBody>
        </p:sp>
        <p:sp>
          <p:nvSpPr>
            <p:cNvPr id="336" name="Google Shape;336;p33"/>
            <p:cNvSpPr txBox="1"/>
            <p:nvPr/>
          </p:nvSpPr>
          <p:spPr>
            <a:xfrm>
              <a:off x="4810125" y="0"/>
              <a:ext cx="17145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Inter"/>
                  <a:ea typeface="Inter"/>
                  <a:cs typeface="Inter"/>
                  <a:sym typeface="Inter"/>
                </a:rPr>
                <a:t>Retrieval-Augmented Generation grounds LLM answers in grid dispatch rules, dramatically cutting hallucinations.</a:t>
              </a:r>
              <a:endParaRPr sz="800" b="0">
                <a:solidFill>
                  <a:srgbClr val="334155"/>
                </a:solidFill>
                <a:latin typeface="Inter"/>
                <a:ea typeface="Inter"/>
                <a:cs typeface="Inter"/>
                <a:sym typeface="Inter"/>
              </a:endParaRPr>
            </a:p>
          </p:txBody>
        </p:sp>
        <p:sp>
          <p:nvSpPr>
            <p:cNvPr id="337" name="Google Shape;337;p33"/>
            <p:cNvSpPr txBox="1"/>
            <p:nvPr/>
          </p:nvSpPr>
          <p:spPr>
            <a:xfrm>
              <a:off x="6667500" y="0"/>
              <a:ext cx="15717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dirty="0">
                  <a:solidFill>
                    <a:srgbClr val="0A192F"/>
                  </a:solidFill>
                  <a:latin typeface="Inter"/>
                  <a:ea typeface="Inter"/>
                  <a:cs typeface="Inter"/>
                  <a:sym typeface="Inter"/>
                </a:rPr>
                <a:t>Standalone conversational Q&amp;A system; lacks integration with numerical ML forecasting engines.</a:t>
              </a:r>
              <a:endParaRPr sz="800" b="0" dirty="0">
                <a:solidFill>
                  <a:srgbClr val="0A192F"/>
                </a:solidFill>
                <a:latin typeface="Inter"/>
                <a:ea typeface="Inter"/>
                <a:cs typeface="Inter"/>
                <a:sym typeface="Inter"/>
              </a:endParaRPr>
            </a:p>
          </p:txBody>
        </p:sp>
      </p:grpSp>
      <p:grpSp>
        <p:nvGrpSpPr>
          <p:cNvPr id="338" name="Google Shape;338;p33"/>
          <p:cNvGrpSpPr/>
          <p:nvPr/>
        </p:nvGrpSpPr>
        <p:grpSpPr>
          <a:xfrm>
            <a:off x="381000" y="3933825"/>
            <a:ext cx="8382000" cy="590700"/>
            <a:chOff x="0" y="0"/>
            <a:chExt cx="8382000" cy="590700"/>
          </a:xfrm>
        </p:grpSpPr>
        <p:sp>
          <p:nvSpPr>
            <p:cNvPr id="339" name="Google Shape;339;p33"/>
            <p:cNvSpPr/>
            <p:nvPr/>
          </p:nvSpPr>
          <p:spPr>
            <a:xfrm>
              <a:off x="0" y="0"/>
              <a:ext cx="8382000" cy="5907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340" name="Google Shape;340;p33"/>
            <p:cNvCxnSpPr/>
            <p:nvPr/>
          </p:nvCxnSpPr>
          <p:spPr>
            <a:xfrm>
              <a:off x="0" y="0"/>
              <a:ext cx="83820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341" name="Google Shape;341;p33"/>
            <p:cNvSpPr txBox="1"/>
            <p:nvPr/>
          </p:nvSpPr>
          <p:spPr>
            <a:xfrm>
              <a:off x="142875" y="0"/>
              <a:ext cx="12858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0A192F"/>
                  </a:solidFill>
                  <a:latin typeface="Inter"/>
                  <a:ea typeface="Inter"/>
                  <a:cs typeface="Inter"/>
                  <a:sym typeface="Inter"/>
                </a:rPr>
                <a:t>Debnath et al. (2025) [29]</a:t>
              </a:r>
              <a:endParaRPr sz="800" b="1">
                <a:solidFill>
                  <a:srgbClr val="0A192F"/>
                </a:solidFill>
                <a:latin typeface="Inter"/>
                <a:ea typeface="Inter"/>
                <a:cs typeface="Inter"/>
                <a:sym typeface="Inter"/>
              </a:endParaRPr>
            </a:p>
          </p:txBody>
        </p:sp>
        <p:sp>
          <p:nvSpPr>
            <p:cNvPr id="342" name="Google Shape;342;p33"/>
            <p:cNvSpPr txBox="1"/>
            <p:nvPr/>
          </p:nvSpPr>
          <p:spPr>
            <a:xfrm>
              <a:off x="1571625" y="0"/>
              <a:ext cx="15717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334155"/>
                  </a:solidFill>
                  <a:latin typeface="Inter"/>
                  <a:ea typeface="Inter"/>
                  <a:cs typeface="Inter"/>
                  <a:sym typeface="Inter"/>
                </a:rPr>
                <a:t>Weather-Informed LSTM</a:t>
              </a:r>
              <a:r>
                <a:rPr lang="en" sz="800" b="0">
                  <a:solidFill>
                    <a:srgbClr val="334155"/>
                  </a:solidFill>
                  <a:latin typeface="Inter"/>
                  <a:ea typeface="Inter"/>
                  <a:cs typeface="Inter"/>
                  <a:sym typeface="Inter"/>
                </a:rPr>
                <a:t> &amp; </a:t>
              </a:r>
              <a:r>
                <a:rPr lang="en" sz="800" b="1">
                  <a:solidFill>
                    <a:srgbClr val="334155"/>
                  </a:solidFill>
                  <a:latin typeface="Inter"/>
                  <a:ea typeface="Inter"/>
                  <a:cs typeface="Inter"/>
                  <a:sym typeface="Inter"/>
                </a:rPr>
                <a:t>Transformer</a:t>
              </a:r>
              <a:endParaRPr sz="800" b="0">
                <a:solidFill>
                  <a:srgbClr val="334155"/>
                </a:solidFill>
                <a:latin typeface="Inter"/>
                <a:ea typeface="Inter"/>
                <a:cs typeface="Inter"/>
                <a:sym typeface="Inter"/>
              </a:endParaRPr>
            </a:p>
          </p:txBody>
        </p:sp>
        <p:sp>
          <p:nvSpPr>
            <p:cNvPr id="343" name="Google Shape;343;p33"/>
            <p:cNvSpPr txBox="1"/>
            <p:nvPr/>
          </p:nvSpPr>
          <p:spPr>
            <a:xfrm>
              <a:off x="3286125" y="0"/>
              <a:ext cx="13812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Inter"/>
                  <a:ea typeface="Inter"/>
                  <a:cs typeface="Inter"/>
                  <a:sym typeface="Inter"/>
                </a:rPr>
                <a:t>Extreme Weather Grid Load Forecasting</a:t>
              </a:r>
              <a:endParaRPr sz="800" b="0">
                <a:solidFill>
                  <a:srgbClr val="334155"/>
                </a:solidFill>
                <a:latin typeface="Inter"/>
                <a:ea typeface="Inter"/>
                <a:cs typeface="Inter"/>
                <a:sym typeface="Inter"/>
              </a:endParaRPr>
            </a:p>
          </p:txBody>
        </p:sp>
        <p:sp>
          <p:nvSpPr>
            <p:cNvPr id="344" name="Google Shape;344;p33"/>
            <p:cNvSpPr txBox="1"/>
            <p:nvPr/>
          </p:nvSpPr>
          <p:spPr>
            <a:xfrm>
              <a:off x="4810125" y="0"/>
              <a:ext cx="17145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a:solidFill>
                    <a:srgbClr val="334155"/>
                  </a:solidFill>
                  <a:latin typeface="Inter"/>
                  <a:ea typeface="Inter"/>
                  <a:cs typeface="Inter"/>
                  <a:sym typeface="Inter"/>
                </a:rPr>
                <a:t>Incorporating multi-source weather variables (temperature, humidity) significantly reduces peak load forecast errors.</a:t>
              </a:r>
              <a:endParaRPr sz="800" b="0">
                <a:solidFill>
                  <a:srgbClr val="334155"/>
                </a:solidFill>
                <a:latin typeface="Inter"/>
                <a:ea typeface="Inter"/>
                <a:cs typeface="Inter"/>
                <a:sym typeface="Inter"/>
              </a:endParaRPr>
            </a:p>
          </p:txBody>
        </p:sp>
        <p:sp>
          <p:nvSpPr>
            <p:cNvPr id="345" name="Google Shape;345;p33"/>
            <p:cNvSpPr txBox="1"/>
            <p:nvPr/>
          </p:nvSpPr>
          <p:spPr>
            <a:xfrm>
              <a:off x="6667500" y="0"/>
              <a:ext cx="1571700" cy="59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800" b="0" dirty="0">
                  <a:solidFill>
                    <a:srgbClr val="0A192F"/>
                  </a:solidFill>
                  <a:latin typeface="Inter"/>
                  <a:ea typeface="Inter"/>
                  <a:cs typeface="Inter"/>
                  <a:sym typeface="Inter"/>
                </a:rPr>
                <a:t>Deterministic point predictions only; no confidence intervals or supply-gap risk assessment.</a:t>
              </a:r>
              <a:endParaRPr sz="800" b="0" dirty="0">
                <a:solidFill>
                  <a:srgbClr val="0A192F"/>
                </a:solidFill>
                <a:latin typeface="Inter"/>
                <a:ea typeface="Inter"/>
                <a:cs typeface="Inter"/>
                <a:sym typeface="Inter"/>
              </a:endParaRPr>
            </a:p>
          </p:txBody>
        </p:sp>
      </p:grpSp>
      <p:sp>
        <p:nvSpPr>
          <p:cNvPr id="348" name="Google Shape;348;p33"/>
          <p:cNvSpPr txBox="1"/>
          <p:nvPr/>
        </p:nvSpPr>
        <p:spPr>
          <a:xfrm>
            <a:off x="381000" y="4810125"/>
            <a:ext cx="8382000" cy="1905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750" b="0">
                <a:solidFill>
                  <a:srgbClr val="94A3B8"/>
                </a:solidFill>
                <a:latin typeface="Inter Medium"/>
                <a:ea typeface="Inter Medium"/>
                <a:cs typeface="Inter Medium"/>
                <a:sym typeface="Inter Medium"/>
              </a:rPr>
              <a:t>Literature Survey – Electricity Demand–Supply Gap Forecasting</a:t>
            </a:r>
            <a:endParaRPr sz="750" b="0">
              <a:solidFill>
                <a:srgbClr val="94A3B8"/>
              </a:solidFill>
              <a:latin typeface="Inter Medium"/>
              <a:ea typeface="Inter Medium"/>
              <a:cs typeface="Inter Medium"/>
              <a:sym typeface="Inter Medium"/>
            </a:endParaRPr>
          </a:p>
        </p:txBody>
      </p:sp>
      <p:grpSp>
        <p:nvGrpSpPr>
          <p:cNvPr id="349" name="Google Shape;349;p33"/>
          <p:cNvGrpSpPr/>
          <p:nvPr/>
        </p:nvGrpSpPr>
        <p:grpSpPr>
          <a:xfrm>
            <a:off x="8239125" y="142875"/>
            <a:ext cx="190500" cy="190500"/>
            <a:chOff x="0" y="0"/>
            <a:chExt cx="190500" cy="190500"/>
          </a:xfrm>
        </p:grpSpPr>
        <p:sp>
          <p:nvSpPr>
            <p:cNvPr id="350" name="Google Shape;350;p33"/>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1" name="Google Shape;351;p33"/>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07</a:t>
              </a:r>
              <a:endParaRPr sz="750" b="1">
                <a:solidFill>
                  <a:srgbClr val="FFFFFF"/>
                </a:solidFill>
                <a:latin typeface="Roboto Mono"/>
                <a:ea typeface="Roboto Mono"/>
                <a:cs typeface="Roboto Mono"/>
                <a:sym typeface="Roboto Mon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grpSp>
        <p:nvGrpSpPr>
          <p:cNvPr id="360" name="Google Shape;360;p34"/>
          <p:cNvGrpSpPr/>
          <p:nvPr/>
        </p:nvGrpSpPr>
        <p:grpSpPr>
          <a:xfrm>
            <a:off x="8239125" y="142875"/>
            <a:ext cx="190500" cy="190500"/>
            <a:chOff x="0" y="0"/>
            <a:chExt cx="190500" cy="190500"/>
          </a:xfrm>
        </p:grpSpPr>
        <p:sp>
          <p:nvSpPr>
            <p:cNvPr id="361" name="Google Shape;361;p34"/>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2" name="Google Shape;362;p34"/>
            <p:cNvSpPr txBox="1"/>
            <p:nvPr/>
          </p:nvSpPr>
          <p:spPr>
            <a:xfrm>
              <a:off x="0" y="0"/>
              <a:ext cx="190500" cy="19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08</a:t>
              </a:r>
              <a:endParaRPr sz="750" b="1">
                <a:solidFill>
                  <a:srgbClr val="FFFFFF"/>
                </a:solidFill>
                <a:latin typeface="Roboto Mono"/>
                <a:ea typeface="Roboto Mono"/>
                <a:cs typeface="Roboto Mono"/>
                <a:sym typeface="Roboto Mono"/>
              </a:endParaRPr>
            </a:p>
          </p:txBody>
        </p:sp>
      </p:grpSp>
      <p:sp>
        <p:nvSpPr>
          <p:cNvPr id="364" name="Google Shape;364;p34"/>
          <p:cNvSpPr txBox="1"/>
          <p:nvPr/>
        </p:nvSpPr>
        <p:spPr>
          <a:xfrm>
            <a:off x="381000" y="304800"/>
            <a:ext cx="83820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480" b="0" dirty="0">
                <a:solidFill>
                  <a:srgbClr val="0A192F"/>
                </a:solidFill>
                <a:latin typeface="Inter ExtraBold"/>
                <a:ea typeface="Inter ExtraBold"/>
                <a:cs typeface="Inter ExtraBold"/>
                <a:sym typeface="Inter ExtraBold"/>
              </a:rPr>
              <a:t>Research Gap Analysis: Conventional vs Proposed Framework</a:t>
            </a:r>
            <a:endParaRPr sz="1480" b="0" dirty="0">
              <a:solidFill>
                <a:srgbClr val="0A192F"/>
              </a:solidFill>
              <a:latin typeface="Inter ExtraBold"/>
              <a:ea typeface="Inter ExtraBold"/>
              <a:cs typeface="Inter ExtraBold"/>
              <a:sym typeface="Inter ExtraBold"/>
            </a:endParaRPr>
          </a:p>
        </p:txBody>
      </p:sp>
      <p:grpSp>
        <p:nvGrpSpPr>
          <p:cNvPr id="368" name="Google Shape;368;p34"/>
          <p:cNvGrpSpPr/>
          <p:nvPr/>
        </p:nvGrpSpPr>
        <p:grpSpPr>
          <a:xfrm>
            <a:off x="381000" y="1000125"/>
            <a:ext cx="8382150" cy="238200"/>
            <a:chOff x="0" y="0"/>
            <a:chExt cx="8382150" cy="238200"/>
          </a:xfrm>
        </p:grpSpPr>
        <p:sp>
          <p:nvSpPr>
            <p:cNvPr id="369" name="Google Shape;369;p34"/>
            <p:cNvSpPr/>
            <p:nvPr/>
          </p:nvSpPr>
          <p:spPr>
            <a:xfrm>
              <a:off x="0" y="0"/>
              <a:ext cx="8382000" cy="238200"/>
            </a:xfrm>
            <a:prstGeom prst="rect">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0" name="Google Shape;370;p34"/>
            <p:cNvSpPr/>
            <p:nvPr/>
          </p:nvSpPr>
          <p:spPr>
            <a:xfrm>
              <a:off x="0" y="0"/>
              <a:ext cx="1238400" cy="238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1" name="Google Shape;371;p34"/>
            <p:cNvSpPr/>
            <p:nvPr/>
          </p:nvSpPr>
          <p:spPr>
            <a:xfrm>
              <a:off x="1238250" y="0"/>
              <a:ext cx="2286000" cy="238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2" name="Google Shape;372;p34"/>
            <p:cNvSpPr/>
            <p:nvPr/>
          </p:nvSpPr>
          <p:spPr>
            <a:xfrm>
              <a:off x="3524250" y="0"/>
              <a:ext cx="2476500" cy="2382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3" name="Google Shape;373;p34"/>
            <p:cNvSpPr/>
            <p:nvPr/>
          </p:nvSpPr>
          <p:spPr>
            <a:xfrm>
              <a:off x="6000750" y="0"/>
              <a:ext cx="2381400" cy="2382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4" name="Google Shape;374;p34"/>
            <p:cNvSpPr/>
            <p:nvPr/>
          </p:nvSpPr>
          <p:spPr>
            <a:xfrm>
              <a:off x="0" y="238125"/>
              <a:ext cx="8382000" cy="0"/>
            </a:xfrm>
            <a:custGeom>
              <a:avLst/>
              <a:gdLst/>
              <a:ahLst/>
              <a:cxnLst/>
              <a:rect l="l" t="t" r="r" b="b"/>
              <a:pathLst>
                <a:path w="120000" h="120000" fill="none" extrusionOk="0">
                  <a:moveTo>
                    <a:pt x="0" y="0"/>
                  </a:moveTo>
                  <a:lnTo>
                    <a:pt x="120000" y="0"/>
                  </a:lnTo>
                </a:path>
              </a:pathLst>
            </a:cu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5" name="Google Shape;375;p34"/>
            <p:cNvSpPr txBox="1"/>
            <p:nvPr/>
          </p:nvSpPr>
          <p:spPr>
            <a:xfrm>
              <a:off x="0" y="0"/>
              <a:ext cx="1238400" cy="238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Inter"/>
                  <a:ea typeface="Inter"/>
                  <a:cs typeface="Inter"/>
                  <a:sym typeface="Inter"/>
                </a:rPr>
                <a:t>Evaluation Dimension</a:t>
              </a:r>
              <a:endParaRPr sz="750" b="1">
                <a:solidFill>
                  <a:srgbClr val="FFFFFF"/>
                </a:solidFill>
                <a:latin typeface="Inter"/>
                <a:ea typeface="Inter"/>
                <a:cs typeface="Inter"/>
                <a:sym typeface="Inter"/>
              </a:endParaRPr>
            </a:p>
          </p:txBody>
        </p:sp>
        <p:sp>
          <p:nvSpPr>
            <p:cNvPr id="376" name="Google Shape;376;p34"/>
            <p:cNvSpPr txBox="1"/>
            <p:nvPr/>
          </p:nvSpPr>
          <p:spPr>
            <a:xfrm>
              <a:off x="1238250" y="0"/>
              <a:ext cx="2286000" cy="238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Inter"/>
                  <a:ea typeface="Inter"/>
                  <a:cs typeface="Inter"/>
                  <a:sym typeface="Inter"/>
                </a:rPr>
                <a:t>Existing Approaches</a:t>
              </a:r>
              <a:endParaRPr sz="750" b="1">
                <a:solidFill>
                  <a:srgbClr val="FFFFFF"/>
                </a:solidFill>
                <a:latin typeface="Inter"/>
                <a:ea typeface="Inter"/>
                <a:cs typeface="Inter"/>
                <a:sym typeface="Inter"/>
              </a:endParaRPr>
            </a:p>
          </p:txBody>
        </p:sp>
        <p:sp>
          <p:nvSpPr>
            <p:cNvPr id="377" name="Google Shape;377;p34"/>
            <p:cNvSpPr txBox="1"/>
            <p:nvPr/>
          </p:nvSpPr>
          <p:spPr>
            <a:xfrm>
              <a:off x="3524250" y="0"/>
              <a:ext cx="2476500" cy="238200"/>
            </a:xfrm>
            <a:prstGeom prst="rect">
              <a:avLst/>
            </a:prstGeom>
            <a:solidFill>
              <a:schemeClr val="tx1"/>
            </a:solidFill>
            <a:ln>
              <a:solidFill>
                <a:schemeClr val="tx1"/>
              </a:solidFill>
            </a:ln>
          </p:spPr>
          <p:txBody>
            <a:bodyPr spcFirstLastPara="1" wrap="square" lIns="0" tIns="0" rIns="0" bIns="0" anchor="ctr" anchorCtr="0">
              <a:noAutofit/>
            </a:bodyPr>
            <a:lstStyle/>
            <a:p>
              <a:pPr marL="0" lvl="0" indent="0" algn="ctr" rtl="0">
                <a:spcBef>
                  <a:spcPts val="0"/>
                </a:spcBef>
                <a:spcAft>
                  <a:spcPts val="0"/>
                </a:spcAft>
                <a:buNone/>
              </a:pPr>
              <a:r>
                <a:rPr lang="en" sz="750" b="1" dirty="0">
                  <a:solidFill>
                    <a:srgbClr val="FFFFFF"/>
                  </a:solidFill>
                  <a:latin typeface="Inter"/>
                  <a:ea typeface="Inter"/>
                  <a:cs typeface="Inter"/>
                  <a:sym typeface="Inter"/>
                </a:rPr>
                <a:t>Proposed Framework</a:t>
              </a:r>
              <a:endParaRPr sz="750" b="1" dirty="0">
                <a:solidFill>
                  <a:srgbClr val="FFFFFF"/>
                </a:solidFill>
                <a:latin typeface="Inter"/>
                <a:ea typeface="Inter"/>
                <a:cs typeface="Inter"/>
                <a:sym typeface="Inter"/>
              </a:endParaRPr>
            </a:p>
          </p:txBody>
        </p:sp>
        <p:sp>
          <p:nvSpPr>
            <p:cNvPr id="378" name="Google Shape;378;p34"/>
            <p:cNvSpPr txBox="1"/>
            <p:nvPr/>
          </p:nvSpPr>
          <p:spPr>
            <a:xfrm>
              <a:off x="6000750" y="0"/>
              <a:ext cx="2381400" cy="2382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Inter"/>
                  <a:ea typeface="Inter"/>
                  <a:cs typeface="Inter"/>
                  <a:sym typeface="Inter"/>
                </a:rPr>
                <a:t>Research Gap Addressed</a:t>
              </a:r>
              <a:endParaRPr sz="750" b="1">
                <a:solidFill>
                  <a:srgbClr val="FFFFFF"/>
                </a:solidFill>
                <a:latin typeface="Inter"/>
                <a:ea typeface="Inter"/>
                <a:cs typeface="Inter"/>
                <a:sym typeface="Inter"/>
              </a:endParaRPr>
            </a:p>
          </p:txBody>
        </p:sp>
      </p:grpSp>
      <p:grpSp>
        <p:nvGrpSpPr>
          <p:cNvPr id="379" name="Google Shape;379;p34"/>
          <p:cNvGrpSpPr/>
          <p:nvPr/>
        </p:nvGrpSpPr>
        <p:grpSpPr>
          <a:xfrm>
            <a:off x="381000" y="1238250"/>
            <a:ext cx="8382000" cy="400200"/>
            <a:chOff x="0" y="0"/>
            <a:chExt cx="8382000" cy="400200"/>
          </a:xfrm>
        </p:grpSpPr>
        <p:sp>
          <p:nvSpPr>
            <p:cNvPr id="380" name="Google Shape;380;p34"/>
            <p:cNvSpPr/>
            <p:nvPr/>
          </p:nvSpPr>
          <p:spPr>
            <a:xfrm>
              <a:off x="0" y="0"/>
              <a:ext cx="8382000" cy="4002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381" name="Google Shape;381;p34"/>
            <p:cNvSpPr/>
            <p:nvPr/>
          </p:nvSpPr>
          <p:spPr>
            <a:xfrm>
              <a:off x="3524100" y="0"/>
              <a:ext cx="2476650" cy="400200"/>
            </a:xfrm>
            <a:prstGeom prst="rect">
              <a:avLst/>
            </a:prstGeom>
            <a:solidFill>
              <a:srgbClr val="F1F5F9"/>
            </a:solidFill>
            <a:ln w="9525" cap="flat" cmpd="sng">
              <a:solidFill>
                <a:schemeClr val="bg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2" name="Google Shape;382;p34"/>
            <p:cNvSpPr/>
            <p:nvPr/>
          </p:nvSpPr>
          <p:spPr>
            <a:xfrm>
              <a:off x="0" y="400050"/>
              <a:ext cx="8382000" cy="0"/>
            </a:xfrm>
            <a:custGeom>
              <a:avLst/>
              <a:gdLst/>
              <a:ahLst/>
              <a:cxnLst/>
              <a:rect l="l" t="t" r="r" b="b"/>
              <a:pathLst>
                <a:path w="120000" h="120000" fill="none" extrusionOk="0">
                  <a:moveTo>
                    <a:pt x="0" y="0"/>
                  </a:moveTo>
                  <a:lnTo>
                    <a:pt x="120000" y="0"/>
                  </a:lnTo>
                </a:path>
              </a:pathLst>
            </a:cu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3" name="Google Shape;383;p34"/>
            <p:cNvSpPr txBox="1"/>
            <p:nvPr/>
          </p:nvSpPr>
          <p:spPr>
            <a:xfrm>
              <a:off x="95250" y="0"/>
              <a:ext cx="1047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1">
                  <a:solidFill>
                    <a:srgbClr val="0A192F"/>
                  </a:solidFill>
                  <a:latin typeface="Inter"/>
                  <a:ea typeface="Inter"/>
                  <a:cs typeface="Inter"/>
                  <a:sym typeface="Inter"/>
                </a:rPr>
                <a:t>1. Forecasting Scope</a:t>
              </a:r>
              <a:endParaRPr sz="700" b="1">
                <a:solidFill>
                  <a:srgbClr val="0A192F"/>
                </a:solidFill>
                <a:latin typeface="Inter"/>
                <a:ea typeface="Inter"/>
                <a:cs typeface="Inter"/>
                <a:sym typeface="Inter"/>
              </a:endParaRPr>
            </a:p>
          </p:txBody>
        </p:sp>
        <p:sp>
          <p:nvSpPr>
            <p:cNvPr id="384" name="Google Shape;384;p34"/>
            <p:cNvSpPr txBox="1"/>
            <p:nvPr/>
          </p:nvSpPr>
          <p:spPr>
            <a:xfrm>
              <a:off x="1333500" y="0"/>
              <a:ext cx="20955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Inter"/>
                  <a:ea typeface="Inter"/>
                  <a:cs typeface="Inter"/>
                  <a:sym typeface="Inter"/>
                </a:rPr>
                <a:t>Forecasts demand or supply in isolation (siloed models)</a:t>
              </a:r>
              <a:endParaRPr sz="700" b="0">
                <a:solidFill>
                  <a:srgbClr val="334155"/>
                </a:solidFill>
                <a:latin typeface="Inter"/>
                <a:ea typeface="Inter"/>
                <a:cs typeface="Inter"/>
                <a:sym typeface="Inter"/>
              </a:endParaRPr>
            </a:p>
          </p:txBody>
        </p:sp>
        <p:sp>
          <p:nvSpPr>
            <p:cNvPr id="385" name="Google Shape;385;p34"/>
            <p:cNvSpPr txBox="1"/>
            <p:nvPr/>
          </p:nvSpPr>
          <p:spPr>
            <a:xfrm>
              <a:off x="3619500" y="0"/>
              <a:ext cx="22860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dirty="0">
                  <a:solidFill>
                    <a:schemeClr val="tx1"/>
                  </a:solidFill>
                  <a:latin typeface="Inter"/>
                  <a:ea typeface="Inter"/>
                  <a:cs typeface="Inter"/>
                  <a:sym typeface="Inter"/>
                </a:rPr>
                <a:t>Decoupled, synchronized dual-stream forecasting (Demand + Supply)</a:t>
              </a:r>
              <a:endParaRPr sz="700" dirty="0">
                <a:solidFill>
                  <a:schemeClr val="tx1"/>
                </a:solidFill>
                <a:latin typeface="Inter"/>
                <a:ea typeface="Inter"/>
                <a:cs typeface="Inter"/>
                <a:sym typeface="Inter"/>
              </a:endParaRPr>
            </a:p>
          </p:txBody>
        </p:sp>
        <p:sp>
          <p:nvSpPr>
            <p:cNvPr id="386" name="Google Shape;386;p34"/>
            <p:cNvSpPr txBox="1"/>
            <p:nvPr/>
          </p:nvSpPr>
          <p:spPr>
            <a:xfrm>
              <a:off x="6096000" y="0"/>
              <a:ext cx="2190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dirty="0">
                  <a:solidFill>
                    <a:srgbClr val="0A192F"/>
                  </a:solidFill>
                  <a:latin typeface="Inter" panose="020B0604020202020204" charset="0"/>
                  <a:ea typeface="Inter" panose="020B0604020202020204" charset="0"/>
                  <a:cs typeface="Inter SemiBold"/>
                  <a:sym typeface="Inter SemiBold"/>
                </a:rPr>
                <a:t>Eliminates operational mismatch between generation and load</a:t>
              </a:r>
              <a:endParaRPr sz="700" dirty="0">
                <a:solidFill>
                  <a:srgbClr val="0A192F"/>
                </a:solidFill>
                <a:latin typeface="Inter" panose="020B0604020202020204" charset="0"/>
                <a:ea typeface="Inter" panose="020B0604020202020204" charset="0"/>
                <a:cs typeface="Inter SemiBold"/>
                <a:sym typeface="Inter SemiBold"/>
              </a:endParaRPr>
            </a:p>
          </p:txBody>
        </p:sp>
      </p:grpSp>
      <p:grpSp>
        <p:nvGrpSpPr>
          <p:cNvPr id="387" name="Google Shape;387;p34"/>
          <p:cNvGrpSpPr/>
          <p:nvPr/>
        </p:nvGrpSpPr>
        <p:grpSpPr>
          <a:xfrm>
            <a:off x="381000" y="1638300"/>
            <a:ext cx="8382000" cy="400200"/>
            <a:chOff x="0" y="0"/>
            <a:chExt cx="8382000" cy="400200"/>
          </a:xfrm>
        </p:grpSpPr>
        <p:sp>
          <p:nvSpPr>
            <p:cNvPr id="388" name="Google Shape;388;p34"/>
            <p:cNvSpPr/>
            <p:nvPr/>
          </p:nvSpPr>
          <p:spPr>
            <a:xfrm>
              <a:off x="0" y="0"/>
              <a:ext cx="8382000" cy="4002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9" name="Google Shape;389;p34"/>
            <p:cNvSpPr/>
            <p:nvPr/>
          </p:nvSpPr>
          <p:spPr>
            <a:xfrm>
              <a:off x="3524250" y="0"/>
              <a:ext cx="2476500" cy="400200"/>
            </a:xfrm>
            <a:prstGeom prst="rect">
              <a:avLst/>
            </a:prstGeom>
            <a:solidFill>
              <a:schemeClr val="bg1"/>
            </a:solidFill>
            <a:ln w="9525" cap="flat" cmpd="sng">
              <a:solidFill>
                <a:schemeClr val="bg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dirty="0">
                <a:solidFill>
                  <a:schemeClr val="bg1"/>
                </a:solidFill>
              </a:endParaRPr>
            </a:p>
          </p:txBody>
        </p:sp>
        <p:sp>
          <p:nvSpPr>
            <p:cNvPr id="390" name="Google Shape;390;p34"/>
            <p:cNvSpPr/>
            <p:nvPr/>
          </p:nvSpPr>
          <p:spPr>
            <a:xfrm>
              <a:off x="0" y="400050"/>
              <a:ext cx="8382000" cy="0"/>
            </a:xfrm>
            <a:custGeom>
              <a:avLst/>
              <a:gdLst/>
              <a:ahLst/>
              <a:cxnLst/>
              <a:rect l="l" t="t" r="r" b="b"/>
              <a:pathLst>
                <a:path w="120000" h="120000" fill="none" extrusionOk="0">
                  <a:moveTo>
                    <a:pt x="0" y="0"/>
                  </a:moveTo>
                  <a:lnTo>
                    <a:pt x="120000" y="0"/>
                  </a:lnTo>
                </a:path>
              </a:pathLst>
            </a:cu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1" name="Google Shape;391;p34"/>
            <p:cNvSpPr txBox="1"/>
            <p:nvPr/>
          </p:nvSpPr>
          <p:spPr>
            <a:xfrm>
              <a:off x="95250" y="0"/>
              <a:ext cx="1047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1">
                  <a:solidFill>
                    <a:srgbClr val="0A192F"/>
                  </a:solidFill>
                  <a:latin typeface="Inter"/>
                  <a:ea typeface="Inter"/>
                  <a:cs typeface="Inter"/>
                  <a:sym typeface="Inter"/>
                </a:rPr>
                <a:t>2. Prediction Nature</a:t>
              </a:r>
              <a:endParaRPr sz="700" b="1">
                <a:solidFill>
                  <a:srgbClr val="0A192F"/>
                </a:solidFill>
                <a:latin typeface="Inter"/>
                <a:ea typeface="Inter"/>
                <a:cs typeface="Inter"/>
                <a:sym typeface="Inter"/>
              </a:endParaRPr>
            </a:p>
          </p:txBody>
        </p:sp>
        <p:sp>
          <p:nvSpPr>
            <p:cNvPr id="392" name="Google Shape;392;p34"/>
            <p:cNvSpPr txBox="1"/>
            <p:nvPr/>
          </p:nvSpPr>
          <p:spPr>
            <a:xfrm>
              <a:off x="1333500" y="0"/>
              <a:ext cx="20955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Inter"/>
                  <a:ea typeface="Inter"/>
                  <a:cs typeface="Inter"/>
                  <a:sym typeface="Inter"/>
                </a:rPr>
                <a:t>Deterministic point forecasts (single values)</a:t>
              </a:r>
              <a:endParaRPr sz="700" b="0">
                <a:solidFill>
                  <a:srgbClr val="334155"/>
                </a:solidFill>
                <a:latin typeface="Inter"/>
                <a:ea typeface="Inter"/>
                <a:cs typeface="Inter"/>
                <a:sym typeface="Inter"/>
              </a:endParaRPr>
            </a:p>
          </p:txBody>
        </p:sp>
        <p:sp>
          <p:nvSpPr>
            <p:cNvPr id="393" name="Google Shape;393;p34"/>
            <p:cNvSpPr txBox="1"/>
            <p:nvPr/>
          </p:nvSpPr>
          <p:spPr>
            <a:xfrm>
              <a:off x="3619500" y="0"/>
              <a:ext cx="22860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dirty="0">
                  <a:solidFill>
                    <a:schemeClr val="tx1"/>
                  </a:solidFill>
                  <a:latin typeface="Inter"/>
                  <a:ea typeface="Inter"/>
                  <a:cs typeface="Inter"/>
                  <a:sym typeface="Inter"/>
                </a:rPr>
                <a:t>Confidence-driven probabilistic forecasting with multi-level bounds</a:t>
              </a:r>
              <a:endParaRPr sz="700" dirty="0">
                <a:solidFill>
                  <a:schemeClr val="tx1"/>
                </a:solidFill>
                <a:latin typeface="Inter"/>
                <a:ea typeface="Inter"/>
                <a:cs typeface="Inter"/>
                <a:sym typeface="Inter"/>
              </a:endParaRPr>
            </a:p>
          </p:txBody>
        </p:sp>
        <p:sp>
          <p:nvSpPr>
            <p:cNvPr id="394" name="Google Shape;394;p34"/>
            <p:cNvSpPr txBox="1"/>
            <p:nvPr/>
          </p:nvSpPr>
          <p:spPr>
            <a:xfrm>
              <a:off x="6096000" y="0"/>
              <a:ext cx="2190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dirty="0">
                  <a:solidFill>
                    <a:srgbClr val="0A192F"/>
                  </a:solidFill>
                  <a:latin typeface="Inter" panose="020B0604020202020204" charset="0"/>
                  <a:ea typeface="Inter" panose="020B0604020202020204" charset="0"/>
                  <a:cs typeface="Inter SemiBold"/>
                  <a:sym typeface="Inter SemiBold"/>
                </a:rPr>
                <a:t>Quantifies prediction uncertainty for tail-risk management</a:t>
              </a:r>
              <a:endParaRPr sz="700" b="0" dirty="0">
                <a:solidFill>
                  <a:srgbClr val="0A192F"/>
                </a:solidFill>
                <a:latin typeface="Inter" panose="020B0604020202020204" charset="0"/>
                <a:ea typeface="Inter" panose="020B0604020202020204" charset="0"/>
                <a:cs typeface="Inter SemiBold"/>
                <a:sym typeface="Inter SemiBold"/>
              </a:endParaRPr>
            </a:p>
          </p:txBody>
        </p:sp>
      </p:grpSp>
      <p:grpSp>
        <p:nvGrpSpPr>
          <p:cNvPr id="395" name="Google Shape;395;p34"/>
          <p:cNvGrpSpPr/>
          <p:nvPr/>
        </p:nvGrpSpPr>
        <p:grpSpPr>
          <a:xfrm>
            <a:off x="381000" y="2038350"/>
            <a:ext cx="8382000" cy="400200"/>
            <a:chOff x="0" y="0"/>
            <a:chExt cx="8382000" cy="400200"/>
          </a:xfrm>
        </p:grpSpPr>
        <p:sp>
          <p:nvSpPr>
            <p:cNvPr id="396" name="Google Shape;396;p34"/>
            <p:cNvSpPr/>
            <p:nvPr/>
          </p:nvSpPr>
          <p:spPr>
            <a:xfrm>
              <a:off x="0" y="0"/>
              <a:ext cx="8382000" cy="4002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7" name="Google Shape;397;p34"/>
            <p:cNvSpPr/>
            <p:nvPr/>
          </p:nvSpPr>
          <p:spPr>
            <a:xfrm>
              <a:off x="3524250" y="0"/>
              <a:ext cx="2476500" cy="400200"/>
            </a:xfrm>
            <a:prstGeom prst="rect">
              <a:avLst/>
            </a:prstGeom>
            <a:solidFill>
              <a:srgbClr val="F1F5F9"/>
            </a:solidFill>
            <a:ln w="9525" cap="flat" cmpd="sng">
              <a:solidFill>
                <a:schemeClr val="bg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8" name="Google Shape;398;p34"/>
            <p:cNvSpPr/>
            <p:nvPr/>
          </p:nvSpPr>
          <p:spPr>
            <a:xfrm>
              <a:off x="0" y="400050"/>
              <a:ext cx="8382000" cy="0"/>
            </a:xfrm>
            <a:custGeom>
              <a:avLst/>
              <a:gdLst/>
              <a:ahLst/>
              <a:cxnLst/>
              <a:rect l="l" t="t" r="r" b="b"/>
              <a:pathLst>
                <a:path w="120000" h="120000" fill="none" extrusionOk="0">
                  <a:moveTo>
                    <a:pt x="0" y="0"/>
                  </a:moveTo>
                  <a:lnTo>
                    <a:pt x="120000" y="0"/>
                  </a:lnTo>
                </a:path>
              </a:pathLst>
            </a:cu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9" name="Google Shape;399;p34"/>
            <p:cNvSpPr txBox="1"/>
            <p:nvPr/>
          </p:nvSpPr>
          <p:spPr>
            <a:xfrm>
              <a:off x="95250" y="0"/>
              <a:ext cx="1047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1">
                  <a:solidFill>
                    <a:srgbClr val="0A192F"/>
                  </a:solidFill>
                  <a:latin typeface="Inter"/>
                  <a:ea typeface="Inter"/>
                  <a:cs typeface="Inter"/>
                  <a:sym typeface="Inter"/>
                </a:rPr>
                <a:t>3. Prediction Intervals</a:t>
              </a:r>
              <a:endParaRPr sz="700" b="1">
                <a:solidFill>
                  <a:srgbClr val="0A192F"/>
                </a:solidFill>
                <a:latin typeface="Inter"/>
                <a:ea typeface="Inter"/>
                <a:cs typeface="Inter"/>
                <a:sym typeface="Inter"/>
              </a:endParaRPr>
            </a:p>
          </p:txBody>
        </p:sp>
        <p:sp>
          <p:nvSpPr>
            <p:cNvPr id="400" name="Google Shape;400;p34"/>
            <p:cNvSpPr txBox="1"/>
            <p:nvPr/>
          </p:nvSpPr>
          <p:spPr>
            <a:xfrm>
              <a:off x="1333500" y="0"/>
              <a:ext cx="20955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Inter"/>
                  <a:ea typeface="Inter"/>
                  <a:cs typeface="Inter"/>
                  <a:sym typeface="Inter"/>
                </a:rPr>
                <a:t>Rarely implemented, or single-level (e.g., 95% only)</a:t>
              </a:r>
              <a:endParaRPr sz="700" b="0">
                <a:solidFill>
                  <a:srgbClr val="334155"/>
                </a:solidFill>
                <a:latin typeface="Inter"/>
                <a:ea typeface="Inter"/>
                <a:cs typeface="Inter"/>
                <a:sym typeface="Inter"/>
              </a:endParaRPr>
            </a:p>
          </p:txBody>
        </p:sp>
        <p:sp>
          <p:nvSpPr>
            <p:cNvPr id="401" name="Google Shape;401;p34"/>
            <p:cNvSpPr txBox="1"/>
            <p:nvPr/>
          </p:nvSpPr>
          <p:spPr>
            <a:xfrm>
              <a:off x="3619500" y="0"/>
              <a:ext cx="22860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dirty="0">
                  <a:solidFill>
                    <a:schemeClr val="tx1"/>
                  </a:solidFill>
                  <a:latin typeface="Inter"/>
                  <a:ea typeface="Inter"/>
                  <a:cs typeface="Inter"/>
                  <a:sym typeface="Inter"/>
                </a:rPr>
                <a:t>Multi-level 90%, 95%, and 99% symmetric prediction intervals</a:t>
              </a:r>
              <a:endParaRPr sz="700" dirty="0">
                <a:solidFill>
                  <a:schemeClr val="tx1"/>
                </a:solidFill>
                <a:latin typeface="Inter"/>
                <a:ea typeface="Inter"/>
                <a:cs typeface="Inter"/>
                <a:sym typeface="Inter"/>
              </a:endParaRPr>
            </a:p>
          </p:txBody>
        </p:sp>
        <p:sp>
          <p:nvSpPr>
            <p:cNvPr id="402" name="Google Shape;402;p34"/>
            <p:cNvSpPr txBox="1"/>
            <p:nvPr/>
          </p:nvSpPr>
          <p:spPr>
            <a:xfrm>
              <a:off x="6096000" y="0"/>
              <a:ext cx="2190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dirty="0">
                  <a:solidFill>
                    <a:srgbClr val="0A192F"/>
                  </a:solidFill>
                  <a:latin typeface="Inter" panose="020B0604020202020204" charset="0"/>
                  <a:ea typeface="Inter" panose="020B0604020202020204" charset="0"/>
                  <a:cs typeface="Inter SemiBold"/>
                  <a:sym typeface="Inter SemiBold"/>
                </a:rPr>
                <a:t>Offers customizable risk tolerance margins for SLDC operators</a:t>
              </a:r>
              <a:endParaRPr sz="700" b="0" dirty="0">
                <a:solidFill>
                  <a:srgbClr val="0A192F"/>
                </a:solidFill>
                <a:latin typeface="Inter" panose="020B0604020202020204" charset="0"/>
                <a:ea typeface="Inter" panose="020B0604020202020204" charset="0"/>
                <a:cs typeface="Inter SemiBold"/>
                <a:sym typeface="Inter SemiBold"/>
              </a:endParaRPr>
            </a:p>
          </p:txBody>
        </p:sp>
      </p:grpSp>
      <p:grpSp>
        <p:nvGrpSpPr>
          <p:cNvPr id="403" name="Google Shape;403;p34"/>
          <p:cNvGrpSpPr/>
          <p:nvPr/>
        </p:nvGrpSpPr>
        <p:grpSpPr>
          <a:xfrm>
            <a:off x="381000" y="2438400"/>
            <a:ext cx="8382000" cy="400200"/>
            <a:chOff x="0" y="0"/>
            <a:chExt cx="8382000" cy="400200"/>
          </a:xfrm>
        </p:grpSpPr>
        <p:sp>
          <p:nvSpPr>
            <p:cNvPr id="404" name="Google Shape;404;p34"/>
            <p:cNvSpPr/>
            <p:nvPr/>
          </p:nvSpPr>
          <p:spPr>
            <a:xfrm>
              <a:off x="0" y="0"/>
              <a:ext cx="8382000" cy="4002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5" name="Google Shape;405;p34"/>
            <p:cNvSpPr/>
            <p:nvPr/>
          </p:nvSpPr>
          <p:spPr>
            <a:xfrm>
              <a:off x="3524250" y="0"/>
              <a:ext cx="2476500" cy="400200"/>
            </a:xfrm>
            <a:prstGeom prst="rect">
              <a:avLst/>
            </a:prstGeom>
            <a:solidFill>
              <a:srgbClr val="F8FAFC"/>
            </a:solidFill>
            <a:ln w="9525" cap="flat" cmpd="sng">
              <a:solidFill>
                <a:schemeClr val="bg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Google Shape;406;p34"/>
            <p:cNvSpPr/>
            <p:nvPr/>
          </p:nvSpPr>
          <p:spPr>
            <a:xfrm>
              <a:off x="0" y="400050"/>
              <a:ext cx="8382000" cy="0"/>
            </a:xfrm>
            <a:custGeom>
              <a:avLst/>
              <a:gdLst/>
              <a:ahLst/>
              <a:cxnLst/>
              <a:rect l="l" t="t" r="r" b="b"/>
              <a:pathLst>
                <a:path w="120000" h="120000" fill="none" extrusionOk="0">
                  <a:moveTo>
                    <a:pt x="0" y="0"/>
                  </a:moveTo>
                  <a:lnTo>
                    <a:pt x="120000" y="0"/>
                  </a:lnTo>
                </a:path>
              </a:pathLst>
            </a:cu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7" name="Google Shape;407;p34"/>
            <p:cNvSpPr txBox="1"/>
            <p:nvPr/>
          </p:nvSpPr>
          <p:spPr>
            <a:xfrm>
              <a:off x="95250" y="0"/>
              <a:ext cx="1047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1">
                  <a:solidFill>
                    <a:srgbClr val="0A192F"/>
                  </a:solidFill>
                  <a:latin typeface="Inter"/>
                  <a:ea typeface="Inter"/>
                  <a:cs typeface="Inter"/>
                  <a:sym typeface="Inter"/>
                </a:rPr>
                <a:t>4. Demand–Supply Gap</a:t>
              </a:r>
              <a:endParaRPr sz="700" b="1">
                <a:solidFill>
                  <a:srgbClr val="0A192F"/>
                </a:solidFill>
                <a:latin typeface="Inter"/>
                <a:ea typeface="Inter"/>
                <a:cs typeface="Inter"/>
                <a:sym typeface="Inter"/>
              </a:endParaRPr>
            </a:p>
          </p:txBody>
        </p:sp>
        <p:sp>
          <p:nvSpPr>
            <p:cNvPr id="408" name="Google Shape;408;p34"/>
            <p:cNvSpPr txBox="1"/>
            <p:nvPr/>
          </p:nvSpPr>
          <p:spPr>
            <a:xfrm>
              <a:off x="1333500" y="0"/>
              <a:ext cx="20955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Inter"/>
                  <a:ea typeface="Inter"/>
                  <a:cs typeface="Inter"/>
                  <a:sym typeface="Inter"/>
                </a:rPr>
                <a:t>Heuristic or post-hoc comparison without uncertainty</a:t>
              </a:r>
              <a:endParaRPr sz="700" b="0">
                <a:solidFill>
                  <a:srgbClr val="334155"/>
                </a:solidFill>
                <a:latin typeface="Inter"/>
                <a:ea typeface="Inter"/>
                <a:cs typeface="Inter"/>
                <a:sym typeface="Inter"/>
              </a:endParaRPr>
            </a:p>
          </p:txBody>
        </p:sp>
        <p:sp>
          <p:nvSpPr>
            <p:cNvPr id="409" name="Google Shape;409;p34"/>
            <p:cNvSpPr txBox="1"/>
            <p:nvPr/>
          </p:nvSpPr>
          <p:spPr>
            <a:xfrm>
              <a:off x="3619500" y="0"/>
              <a:ext cx="22860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dirty="0">
                  <a:solidFill>
                    <a:schemeClr val="tx1"/>
                  </a:solidFill>
                  <a:latin typeface="Inter"/>
                  <a:ea typeface="Inter"/>
                  <a:cs typeface="Inter"/>
                  <a:sym typeface="Inter"/>
                </a:rPr>
                <a:t>Dedicated mathematical gap engine with combined sigma_G propagation</a:t>
              </a:r>
              <a:endParaRPr sz="700" dirty="0">
                <a:solidFill>
                  <a:schemeClr val="tx1"/>
                </a:solidFill>
                <a:latin typeface="Inter"/>
                <a:ea typeface="Inter"/>
                <a:cs typeface="Inter"/>
                <a:sym typeface="Inter"/>
              </a:endParaRPr>
            </a:p>
          </p:txBody>
        </p:sp>
        <p:sp>
          <p:nvSpPr>
            <p:cNvPr id="410" name="Google Shape;410;p34"/>
            <p:cNvSpPr txBox="1"/>
            <p:nvPr/>
          </p:nvSpPr>
          <p:spPr>
            <a:xfrm>
              <a:off x="6096000" y="0"/>
              <a:ext cx="2190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dirty="0">
                  <a:solidFill>
                    <a:srgbClr val="0A192F"/>
                  </a:solidFill>
                  <a:latin typeface="Inter" panose="020B0604020202020204" charset="0"/>
                  <a:ea typeface="Inter" panose="020B0604020202020204" charset="0"/>
                  <a:cs typeface="Inter SemiBold"/>
                  <a:sym typeface="Inter SemiBold"/>
                </a:rPr>
                <a:t>Provides rigorous statistical confidence bounds for net deficit/surplus</a:t>
              </a:r>
              <a:endParaRPr sz="700" b="0" dirty="0">
                <a:solidFill>
                  <a:srgbClr val="0A192F"/>
                </a:solidFill>
                <a:latin typeface="Inter" panose="020B0604020202020204" charset="0"/>
                <a:ea typeface="Inter" panose="020B0604020202020204" charset="0"/>
                <a:cs typeface="Inter SemiBold"/>
                <a:sym typeface="Inter SemiBold"/>
              </a:endParaRPr>
            </a:p>
          </p:txBody>
        </p:sp>
      </p:grpSp>
      <p:grpSp>
        <p:nvGrpSpPr>
          <p:cNvPr id="411" name="Google Shape;411;p34"/>
          <p:cNvGrpSpPr/>
          <p:nvPr/>
        </p:nvGrpSpPr>
        <p:grpSpPr>
          <a:xfrm>
            <a:off x="381000" y="2838450"/>
            <a:ext cx="8382000" cy="400200"/>
            <a:chOff x="0" y="0"/>
            <a:chExt cx="8382000" cy="400200"/>
          </a:xfrm>
        </p:grpSpPr>
        <p:sp>
          <p:nvSpPr>
            <p:cNvPr id="412" name="Google Shape;412;p34"/>
            <p:cNvSpPr/>
            <p:nvPr/>
          </p:nvSpPr>
          <p:spPr>
            <a:xfrm>
              <a:off x="0" y="0"/>
              <a:ext cx="8382000" cy="4002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3" name="Google Shape;413;p34"/>
            <p:cNvSpPr/>
            <p:nvPr/>
          </p:nvSpPr>
          <p:spPr>
            <a:xfrm>
              <a:off x="3524250" y="0"/>
              <a:ext cx="2476500" cy="400200"/>
            </a:xfrm>
            <a:prstGeom prst="rect">
              <a:avLst/>
            </a:prstGeom>
            <a:solidFill>
              <a:srgbClr val="F1F5F9"/>
            </a:solidFill>
            <a:ln w="9525" cap="flat" cmpd="sng">
              <a:solidFill>
                <a:schemeClr val="bg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4" name="Google Shape;414;p34"/>
            <p:cNvSpPr/>
            <p:nvPr/>
          </p:nvSpPr>
          <p:spPr>
            <a:xfrm>
              <a:off x="0" y="400050"/>
              <a:ext cx="8382000" cy="0"/>
            </a:xfrm>
            <a:custGeom>
              <a:avLst/>
              <a:gdLst/>
              <a:ahLst/>
              <a:cxnLst/>
              <a:rect l="l" t="t" r="r" b="b"/>
              <a:pathLst>
                <a:path w="120000" h="120000" fill="none" extrusionOk="0">
                  <a:moveTo>
                    <a:pt x="0" y="0"/>
                  </a:moveTo>
                  <a:lnTo>
                    <a:pt x="120000" y="0"/>
                  </a:lnTo>
                </a:path>
              </a:pathLst>
            </a:cu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5" name="Google Shape;415;p34"/>
            <p:cNvSpPr txBox="1"/>
            <p:nvPr/>
          </p:nvSpPr>
          <p:spPr>
            <a:xfrm>
              <a:off x="95250" y="0"/>
              <a:ext cx="1047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1">
                  <a:solidFill>
                    <a:srgbClr val="0A192F"/>
                  </a:solidFill>
                  <a:latin typeface="Inter"/>
                  <a:ea typeface="Inter"/>
                  <a:cs typeface="Inter"/>
                  <a:sym typeface="Inter"/>
                </a:rPr>
                <a:t>5. Risk Assessment</a:t>
              </a:r>
              <a:endParaRPr sz="700" b="1">
                <a:solidFill>
                  <a:srgbClr val="0A192F"/>
                </a:solidFill>
                <a:latin typeface="Inter"/>
                <a:ea typeface="Inter"/>
                <a:cs typeface="Inter"/>
                <a:sym typeface="Inter"/>
              </a:endParaRPr>
            </a:p>
          </p:txBody>
        </p:sp>
        <p:sp>
          <p:nvSpPr>
            <p:cNvPr id="416" name="Google Shape;416;p34"/>
            <p:cNvSpPr txBox="1"/>
            <p:nvPr/>
          </p:nvSpPr>
          <p:spPr>
            <a:xfrm>
              <a:off x="1333500" y="0"/>
              <a:ext cx="20955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Inter"/>
                  <a:ea typeface="Inter"/>
                  <a:cs typeface="Inter"/>
                  <a:sym typeface="Inter"/>
                </a:rPr>
                <a:t>Manual, ad-hoc threshold inspection by engineers</a:t>
              </a:r>
              <a:endParaRPr sz="700" b="0">
                <a:solidFill>
                  <a:srgbClr val="334155"/>
                </a:solidFill>
                <a:latin typeface="Inter"/>
                <a:ea typeface="Inter"/>
                <a:cs typeface="Inter"/>
                <a:sym typeface="Inter"/>
              </a:endParaRPr>
            </a:p>
          </p:txBody>
        </p:sp>
        <p:sp>
          <p:nvSpPr>
            <p:cNvPr id="417" name="Google Shape;417;p34"/>
            <p:cNvSpPr txBox="1"/>
            <p:nvPr/>
          </p:nvSpPr>
          <p:spPr>
            <a:xfrm>
              <a:off x="3619500" y="0"/>
              <a:ext cx="22860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dirty="0">
                  <a:solidFill>
                    <a:schemeClr val="tx1"/>
                  </a:solidFill>
                  <a:latin typeface="Inter"/>
                  <a:ea typeface="Inter"/>
                  <a:cs typeface="Inter"/>
                  <a:sym typeface="Inter"/>
                </a:rPr>
                <a:t>Deterministic 3-tier severity classification (Low, Moderate, High)</a:t>
              </a:r>
              <a:endParaRPr sz="700" dirty="0">
                <a:solidFill>
                  <a:schemeClr val="tx1"/>
                </a:solidFill>
                <a:latin typeface="Inter"/>
                <a:ea typeface="Inter"/>
                <a:cs typeface="Inter"/>
                <a:sym typeface="Inter"/>
              </a:endParaRPr>
            </a:p>
          </p:txBody>
        </p:sp>
        <p:sp>
          <p:nvSpPr>
            <p:cNvPr id="418" name="Google Shape;418;p34"/>
            <p:cNvSpPr txBox="1"/>
            <p:nvPr/>
          </p:nvSpPr>
          <p:spPr>
            <a:xfrm>
              <a:off x="6096000" y="0"/>
              <a:ext cx="2190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dirty="0">
                  <a:solidFill>
                    <a:srgbClr val="0A192F"/>
                  </a:solidFill>
                  <a:latin typeface="Inter" panose="020B0604020202020204" charset="0"/>
                  <a:ea typeface="Inter" panose="020B0604020202020204" charset="0"/>
                  <a:cs typeface="Inter SemiBold"/>
                  <a:sym typeface="Inter SemiBold"/>
                </a:rPr>
                <a:t>Standardizes automated dispatch alerts and operational priority</a:t>
              </a:r>
              <a:endParaRPr sz="700" b="0" dirty="0">
                <a:solidFill>
                  <a:srgbClr val="0A192F"/>
                </a:solidFill>
                <a:latin typeface="Inter" panose="020B0604020202020204" charset="0"/>
                <a:ea typeface="Inter" panose="020B0604020202020204" charset="0"/>
                <a:cs typeface="Inter SemiBold"/>
                <a:sym typeface="Inter SemiBold"/>
              </a:endParaRPr>
            </a:p>
          </p:txBody>
        </p:sp>
      </p:grpSp>
      <p:grpSp>
        <p:nvGrpSpPr>
          <p:cNvPr id="419" name="Google Shape;419;p34"/>
          <p:cNvGrpSpPr/>
          <p:nvPr/>
        </p:nvGrpSpPr>
        <p:grpSpPr>
          <a:xfrm>
            <a:off x="381000" y="3238500"/>
            <a:ext cx="8382000" cy="400200"/>
            <a:chOff x="0" y="0"/>
            <a:chExt cx="8382000" cy="400200"/>
          </a:xfrm>
        </p:grpSpPr>
        <p:sp>
          <p:nvSpPr>
            <p:cNvPr id="420" name="Google Shape;420;p34"/>
            <p:cNvSpPr/>
            <p:nvPr/>
          </p:nvSpPr>
          <p:spPr>
            <a:xfrm>
              <a:off x="0" y="0"/>
              <a:ext cx="8382000" cy="4002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1" name="Google Shape;421;p34"/>
            <p:cNvSpPr/>
            <p:nvPr/>
          </p:nvSpPr>
          <p:spPr>
            <a:xfrm>
              <a:off x="3524250" y="0"/>
              <a:ext cx="2476500" cy="400200"/>
            </a:xfrm>
            <a:prstGeom prst="rect">
              <a:avLst/>
            </a:prstGeom>
            <a:solidFill>
              <a:srgbClr val="F8FAFC"/>
            </a:solidFill>
            <a:ln w="9525" cap="flat" cmpd="sng">
              <a:solidFill>
                <a:schemeClr val="bg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2" name="Google Shape;422;p34"/>
            <p:cNvSpPr/>
            <p:nvPr/>
          </p:nvSpPr>
          <p:spPr>
            <a:xfrm>
              <a:off x="0" y="400050"/>
              <a:ext cx="8382000" cy="0"/>
            </a:xfrm>
            <a:custGeom>
              <a:avLst/>
              <a:gdLst/>
              <a:ahLst/>
              <a:cxnLst/>
              <a:rect l="l" t="t" r="r" b="b"/>
              <a:pathLst>
                <a:path w="120000" h="120000" fill="none" extrusionOk="0">
                  <a:moveTo>
                    <a:pt x="0" y="0"/>
                  </a:moveTo>
                  <a:lnTo>
                    <a:pt x="120000" y="0"/>
                  </a:lnTo>
                </a:path>
              </a:pathLst>
            </a:cu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3" name="Google Shape;423;p34"/>
            <p:cNvSpPr txBox="1"/>
            <p:nvPr/>
          </p:nvSpPr>
          <p:spPr>
            <a:xfrm>
              <a:off x="95250" y="0"/>
              <a:ext cx="1047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1">
                  <a:solidFill>
                    <a:srgbClr val="0A192F"/>
                  </a:solidFill>
                  <a:latin typeface="Inter"/>
                  <a:ea typeface="Inter"/>
                  <a:cs typeface="Inter"/>
                  <a:sym typeface="Inter"/>
                </a:rPr>
                <a:t>6. Energy Planning</a:t>
              </a:r>
              <a:endParaRPr sz="700" b="1">
                <a:solidFill>
                  <a:srgbClr val="0A192F"/>
                </a:solidFill>
                <a:latin typeface="Inter"/>
                <a:ea typeface="Inter"/>
                <a:cs typeface="Inter"/>
                <a:sym typeface="Inter"/>
              </a:endParaRPr>
            </a:p>
          </p:txBody>
        </p:sp>
        <p:sp>
          <p:nvSpPr>
            <p:cNvPr id="424" name="Google Shape;424;p34"/>
            <p:cNvSpPr txBox="1"/>
            <p:nvPr/>
          </p:nvSpPr>
          <p:spPr>
            <a:xfrm>
              <a:off x="1333500" y="0"/>
              <a:ext cx="20955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a:solidFill>
                    <a:srgbClr val="334155"/>
                  </a:solidFill>
                  <a:latin typeface="Inter"/>
                  <a:ea typeface="Inter"/>
                  <a:cs typeface="Inter"/>
                  <a:sym typeface="Inter"/>
                </a:rPr>
                <a:t>Disconnected static rulebooks or ungrounded LLMs</a:t>
              </a:r>
              <a:endParaRPr sz="700" b="0">
                <a:solidFill>
                  <a:srgbClr val="334155"/>
                </a:solidFill>
                <a:latin typeface="Inter"/>
                <a:ea typeface="Inter"/>
                <a:cs typeface="Inter"/>
                <a:sym typeface="Inter"/>
              </a:endParaRPr>
            </a:p>
          </p:txBody>
        </p:sp>
        <p:sp>
          <p:nvSpPr>
            <p:cNvPr id="425" name="Google Shape;425;p34"/>
            <p:cNvSpPr txBox="1"/>
            <p:nvPr/>
          </p:nvSpPr>
          <p:spPr>
            <a:xfrm>
              <a:off x="3619500" y="0"/>
              <a:ext cx="22860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dirty="0">
                  <a:solidFill>
                    <a:schemeClr val="tx1"/>
                  </a:solidFill>
                  <a:latin typeface="Inter"/>
                  <a:ea typeface="Inter"/>
                  <a:cs typeface="Inter"/>
                  <a:sym typeface="Inter"/>
                </a:rPr>
                <a:t>Integrated RAG engine with FAISS vector retrieval &amp; grounded LLM</a:t>
              </a:r>
              <a:endParaRPr sz="700" dirty="0">
                <a:solidFill>
                  <a:schemeClr val="tx1"/>
                </a:solidFill>
                <a:latin typeface="Inter"/>
                <a:ea typeface="Inter"/>
                <a:cs typeface="Inter"/>
                <a:sym typeface="Inter"/>
              </a:endParaRPr>
            </a:p>
          </p:txBody>
        </p:sp>
        <p:sp>
          <p:nvSpPr>
            <p:cNvPr id="426" name="Google Shape;426;p34"/>
            <p:cNvSpPr txBox="1"/>
            <p:nvPr/>
          </p:nvSpPr>
          <p:spPr>
            <a:xfrm>
              <a:off x="6096000" y="0"/>
              <a:ext cx="21909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b="0" dirty="0">
                  <a:solidFill>
                    <a:srgbClr val="0A192F"/>
                  </a:solidFill>
                  <a:latin typeface="Inter" panose="020B0604020202020204" charset="0"/>
                  <a:ea typeface="Inter" panose="020B0604020202020204" charset="0"/>
                  <a:cs typeface="Inter SemiBold"/>
                  <a:sym typeface="Inter SemiBold"/>
                </a:rPr>
                <a:t>Bridges numerical forecast outputs directly to policy-grounded actions</a:t>
              </a:r>
              <a:endParaRPr sz="700" b="0" dirty="0">
                <a:solidFill>
                  <a:srgbClr val="0A192F"/>
                </a:solidFill>
                <a:latin typeface="Inter" panose="020B0604020202020204" charset="0"/>
                <a:ea typeface="Inter" panose="020B0604020202020204" charset="0"/>
                <a:cs typeface="Inter SemiBold"/>
                <a:sym typeface="Inter SemiBold"/>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5"/>
        <p:cNvGrpSpPr/>
        <p:nvPr/>
      </p:nvGrpSpPr>
      <p:grpSpPr>
        <a:xfrm>
          <a:off x="0" y="0"/>
          <a:ext cx="0" cy="0"/>
          <a:chOff x="0" y="0"/>
          <a:chExt cx="0" cy="0"/>
        </a:xfrm>
      </p:grpSpPr>
      <p:grpSp>
        <p:nvGrpSpPr>
          <p:cNvPr id="438" name="Google Shape;438;p35"/>
          <p:cNvGrpSpPr/>
          <p:nvPr/>
        </p:nvGrpSpPr>
        <p:grpSpPr>
          <a:xfrm>
            <a:off x="381000" y="381000"/>
            <a:ext cx="8382000" cy="666900"/>
            <a:chOff x="0" y="0"/>
            <a:chExt cx="8382000" cy="666900"/>
          </a:xfrm>
        </p:grpSpPr>
        <p:sp>
          <p:nvSpPr>
            <p:cNvPr id="439" name="Google Shape;439;p35"/>
            <p:cNvSpPr txBox="1"/>
            <p:nvPr/>
          </p:nvSpPr>
          <p:spPr>
            <a:xfrm>
              <a:off x="0" y="0"/>
              <a:ext cx="83820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0">
                  <a:solidFill>
                    <a:srgbClr val="0A192F"/>
                  </a:solidFill>
                  <a:latin typeface="Inter ExtraBold"/>
                  <a:ea typeface="Inter ExtraBold"/>
                  <a:cs typeface="Inter ExtraBold"/>
                  <a:sym typeface="Inter ExtraBold"/>
                </a:rPr>
                <a:t>Feasibility Analysis</a:t>
              </a:r>
              <a:endParaRPr/>
            </a:p>
          </p:txBody>
        </p:sp>
        <p:sp>
          <p:nvSpPr>
            <p:cNvPr id="440" name="Google Shape;440;p35"/>
            <p:cNvSpPr txBox="1"/>
            <p:nvPr/>
          </p:nvSpPr>
          <p:spPr>
            <a:xfrm>
              <a:off x="0" y="381000"/>
              <a:ext cx="8382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50" b="0">
                  <a:solidFill>
                    <a:srgbClr val="0055FF"/>
                  </a:solidFill>
                  <a:latin typeface="Inter Medium"/>
                  <a:ea typeface="Inter Medium"/>
                  <a:cs typeface="Inter Medium"/>
                  <a:sym typeface="Inter Medium"/>
                </a:rPr>
                <a:t>Technical, Economic, Operational, and Environmental Assessment</a:t>
              </a:r>
              <a:endParaRPr/>
            </a:p>
          </p:txBody>
        </p:sp>
      </p:grpSp>
      <p:grpSp>
        <p:nvGrpSpPr>
          <p:cNvPr id="444" name="Google Shape;444;p35"/>
          <p:cNvGrpSpPr/>
          <p:nvPr/>
        </p:nvGrpSpPr>
        <p:grpSpPr>
          <a:xfrm>
            <a:off x="381000" y="1524000"/>
            <a:ext cx="4000500" cy="1428900"/>
            <a:chOff x="0" y="0"/>
            <a:chExt cx="4000500" cy="1428900"/>
          </a:xfrm>
        </p:grpSpPr>
        <p:sp>
          <p:nvSpPr>
            <p:cNvPr id="445" name="Google Shape;445;p35"/>
            <p:cNvSpPr/>
            <p:nvPr/>
          </p:nvSpPr>
          <p:spPr>
            <a:xfrm>
              <a:off x="0" y="0"/>
              <a:ext cx="4000500" cy="1428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7" name="Google Shape;447;p35"/>
            <p:cNvSpPr txBox="1"/>
            <p:nvPr/>
          </p:nvSpPr>
          <p:spPr>
            <a:xfrm>
              <a:off x="190500" y="142875"/>
              <a:ext cx="36195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dirty="0">
                  <a:solidFill>
                    <a:srgbClr val="0055FF"/>
                  </a:solidFill>
                  <a:latin typeface="Roboto Mono SemiBold"/>
                  <a:ea typeface="Roboto Mono SemiBold"/>
                  <a:cs typeface="Roboto Mono SemiBold"/>
                  <a:sym typeface="Roboto Mono SemiBold"/>
                </a:rPr>
                <a:t>TECHNICAL FEASIBILITY</a:t>
              </a:r>
              <a:endParaRPr sz="900" b="0" dirty="0">
                <a:solidFill>
                  <a:srgbClr val="0055FF"/>
                </a:solidFill>
                <a:latin typeface="Roboto Mono SemiBold"/>
                <a:ea typeface="Roboto Mono SemiBold"/>
                <a:cs typeface="Roboto Mono SemiBold"/>
                <a:sym typeface="Roboto Mono SemiBold"/>
              </a:endParaRPr>
            </a:p>
            <a:p>
              <a:pPr marL="0" lvl="0" indent="0" algn="l" rtl="0">
                <a:spcBef>
                  <a:spcPts val="600"/>
                </a:spcBef>
                <a:spcAft>
                  <a:spcPts val="0"/>
                </a:spcAft>
                <a:buNone/>
              </a:pPr>
              <a:r>
                <a:rPr lang="en" sz="1050" b="0" dirty="0">
                  <a:solidFill>
                    <a:srgbClr val="475569"/>
                  </a:solidFill>
                  <a:latin typeface="Inter"/>
                  <a:ea typeface="Inter"/>
                  <a:cs typeface="Inter"/>
                  <a:sym typeface="Inter"/>
                </a:rPr>
                <a:t>Built entirely on Python, utilizing open-source ML libraries (Scikit-Learn, LightGBM, TensorFlow), a Streamlit GUI, and reliable vector DB technologies.</a:t>
              </a:r>
              <a:endParaRPr sz="1050" b="0" dirty="0">
                <a:solidFill>
                  <a:srgbClr val="475569"/>
                </a:solidFill>
                <a:latin typeface="Inter"/>
                <a:ea typeface="Inter"/>
                <a:cs typeface="Inter"/>
                <a:sym typeface="Inter"/>
              </a:endParaRPr>
            </a:p>
          </p:txBody>
        </p:sp>
      </p:grpSp>
      <p:grpSp>
        <p:nvGrpSpPr>
          <p:cNvPr id="448" name="Google Shape;448;p35"/>
          <p:cNvGrpSpPr/>
          <p:nvPr/>
        </p:nvGrpSpPr>
        <p:grpSpPr>
          <a:xfrm>
            <a:off x="4762500" y="1524000"/>
            <a:ext cx="4000500" cy="1428900"/>
            <a:chOff x="0" y="0"/>
            <a:chExt cx="4000500" cy="1428900"/>
          </a:xfrm>
        </p:grpSpPr>
        <p:sp>
          <p:nvSpPr>
            <p:cNvPr id="449" name="Google Shape;449;p35"/>
            <p:cNvSpPr/>
            <p:nvPr/>
          </p:nvSpPr>
          <p:spPr>
            <a:xfrm>
              <a:off x="0" y="0"/>
              <a:ext cx="4000500" cy="1428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1" name="Google Shape;451;p35"/>
            <p:cNvSpPr txBox="1"/>
            <p:nvPr/>
          </p:nvSpPr>
          <p:spPr>
            <a:xfrm>
              <a:off x="190500" y="142875"/>
              <a:ext cx="36195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dirty="0">
                  <a:solidFill>
                    <a:srgbClr val="0055FF"/>
                  </a:solidFill>
                  <a:latin typeface="Roboto Mono SemiBold"/>
                  <a:ea typeface="Roboto Mono SemiBold"/>
                  <a:cs typeface="Roboto Mono SemiBold"/>
                  <a:sym typeface="Roboto Mono SemiBold"/>
                </a:rPr>
                <a:t>ECONOMIC FEASIBILITY</a:t>
              </a:r>
              <a:endParaRPr sz="900" b="0" dirty="0">
                <a:solidFill>
                  <a:srgbClr val="0055FF"/>
                </a:solidFill>
                <a:latin typeface="Roboto Mono SemiBold"/>
                <a:ea typeface="Roboto Mono SemiBold"/>
                <a:cs typeface="Roboto Mono SemiBold"/>
                <a:sym typeface="Roboto Mono SemiBold"/>
              </a:endParaRPr>
            </a:p>
            <a:p>
              <a:pPr lvl="0">
                <a:spcBef>
                  <a:spcPts val="600"/>
                </a:spcBef>
              </a:pPr>
              <a:r>
                <a:rPr lang="en-IN" sz="1050" dirty="0">
                  <a:latin typeface="Inter" panose="020B0604020202020204" charset="0"/>
                  <a:ea typeface="Inter" panose="020B0604020202020204" charset="0"/>
                </a:rPr>
                <a:t>The project uses free and open-source tools and publicly available energy datasets, so the development cost is low.</a:t>
              </a:r>
              <a:endParaRPr sz="1050" b="0" dirty="0">
                <a:solidFill>
                  <a:srgbClr val="475569"/>
                </a:solidFill>
                <a:latin typeface="Inter" panose="020B0604020202020204" charset="0"/>
                <a:ea typeface="Inter" panose="020B0604020202020204" charset="0"/>
                <a:cs typeface="Inter"/>
                <a:sym typeface="Inter"/>
              </a:endParaRPr>
            </a:p>
          </p:txBody>
        </p:sp>
      </p:grpSp>
      <p:grpSp>
        <p:nvGrpSpPr>
          <p:cNvPr id="452" name="Google Shape;452;p35"/>
          <p:cNvGrpSpPr/>
          <p:nvPr/>
        </p:nvGrpSpPr>
        <p:grpSpPr>
          <a:xfrm>
            <a:off x="381000" y="3190875"/>
            <a:ext cx="4000500" cy="1428900"/>
            <a:chOff x="0" y="0"/>
            <a:chExt cx="4000500" cy="1428900"/>
          </a:xfrm>
        </p:grpSpPr>
        <p:sp>
          <p:nvSpPr>
            <p:cNvPr id="453" name="Google Shape;453;p35"/>
            <p:cNvSpPr/>
            <p:nvPr/>
          </p:nvSpPr>
          <p:spPr>
            <a:xfrm>
              <a:off x="0" y="0"/>
              <a:ext cx="4000500" cy="1428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5" name="Google Shape;455;p35"/>
            <p:cNvSpPr txBox="1"/>
            <p:nvPr/>
          </p:nvSpPr>
          <p:spPr>
            <a:xfrm>
              <a:off x="190500" y="142875"/>
              <a:ext cx="36195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dirty="0">
                  <a:solidFill>
                    <a:srgbClr val="FF5500"/>
                  </a:solidFill>
                  <a:latin typeface="Roboto Mono SemiBold"/>
                  <a:ea typeface="Roboto Mono SemiBold"/>
                  <a:cs typeface="Roboto Mono SemiBold"/>
                  <a:sym typeface="Roboto Mono SemiBold"/>
                </a:rPr>
                <a:t>OPERATIONAL FEASIBILITY</a:t>
              </a:r>
              <a:endParaRPr sz="900" b="0" dirty="0">
                <a:solidFill>
                  <a:srgbClr val="FF5500"/>
                </a:solidFill>
                <a:latin typeface="Roboto Mono SemiBold"/>
                <a:ea typeface="Roboto Mono SemiBold"/>
                <a:cs typeface="Roboto Mono SemiBold"/>
                <a:sym typeface="Roboto Mono SemiBold"/>
              </a:endParaRPr>
            </a:p>
            <a:p>
              <a:pPr marL="0" lvl="0" indent="0" algn="l" rtl="0">
                <a:spcBef>
                  <a:spcPts val="600"/>
                </a:spcBef>
                <a:spcAft>
                  <a:spcPts val="0"/>
                </a:spcAft>
                <a:buNone/>
              </a:pPr>
              <a:r>
                <a:rPr lang="en" sz="1050" b="0" dirty="0">
                  <a:solidFill>
                    <a:srgbClr val="475569"/>
                  </a:solidFill>
                  <a:latin typeface="Inter"/>
                  <a:ea typeface="Inter"/>
                  <a:cs typeface="Inter"/>
                  <a:sym typeface="Inter"/>
                </a:rPr>
                <a:t>Features a simple, interactive dashboard designed specifically for grid operators to interpret probabilistic graphs and clear text recommendations.</a:t>
              </a:r>
              <a:endParaRPr sz="1050" b="0" dirty="0">
                <a:solidFill>
                  <a:srgbClr val="475569"/>
                </a:solidFill>
                <a:latin typeface="Inter"/>
                <a:ea typeface="Inter"/>
                <a:cs typeface="Inter"/>
                <a:sym typeface="Inter"/>
              </a:endParaRPr>
            </a:p>
          </p:txBody>
        </p:sp>
      </p:grpSp>
      <p:grpSp>
        <p:nvGrpSpPr>
          <p:cNvPr id="456" name="Google Shape;456;p35"/>
          <p:cNvGrpSpPr/>
          <p:nvPr/>
        </p:nvGrpSpPr>
        <p:grpSpPr>
          <a:xfrm>
            <a:off x="4762500" y="3190875"/>
            <a:ext cx="4000500" cy="1428900"/>
            <a:chOff x="0" y="0"/>
            <a:chExt cx="4000500" cy="1428900"/>
          </a:xfrm>
        </p:grpSpPr>
        <p:sp>
          <p:nvSpPr>
            <p:cNvPr id="457" name="Google Shape;457;p35"/>
            <p:cNvSpPr/>
            <p:nvPr/>
          </p:nvSpPr>
          <p:spPr>
            <a:xfrm>
              <a:off x="0" y="0"/>
              <a:ext cx="4000500" cy="1428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9" name="Google Shape;459;p35"/>
            <p:cNvSpPr txBox="1"/>
            <p:nvPr/>
          </p:nvSpPr>
          <p:spPr>
            <a:xfrm>
              <a:off x="190500" y="142875"/>
              <a:ext cx="36195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dirty="0">
                  <a:solidFill>
                    <a:srgbClr val="FF5500"/>
                  </a:solidFill>
                  <a:latin typeface="Roboto Mono SemiBold"/>
                  <a:ea typeface="Roboto Mono SemiBold"/>
                  <a:cs typeface="Roboto Mono SemiBold"/>
                  <a:sym typeface="Roboto Mono SemiBold"/>
                </a:rPr>
                <a:t>ENVIRONMENTAL FEASIBILITY</a:t>
              </a:r>
              <a:endParaRPr sz="900" b="0" dirty="0">
                <a:solidFill>
                  <a:srgbClr val="FF5500"/>
                </a:solidFill>
                <a:latin typeface="Roboto Mono SemiBold"/>
                <a:ea typeface="Roboto Mono SemiBold"/>
                <a:cs typeface="Roboto Mono SemiBold"/>
                <a:sym typeface="Roboto Mono SemiBold"/>
              </a:endParaRPr>
            </a:p>
            <a:p>
              <a:pPr lvl="0">
                <a:spcBef>
                  <a:spcPts val="600"/>
                </a:spcBef>
              </a:pPr>
              <a:r>
                <a:rPr lang="en-IN" sz="1050" dirty="0">
                  <a:latin typeface="Inter" panose="020B0604020202020204" charset="0"/>
                  <a:ea typeface="Inter" panose="020B0604020202020204" charset="0"/>
                </a:rPr>
                <a:t>The system can help reduce energy waste and emissions by supporting better power generation and scheduling decisions.</a:t>
              </a:r>
              <a:endParaRPr sz="1050" b="0" dirty="0">
                <a:solidFill>
                  <a:srgbClr val="475569"/>
                </a:solidFill>
                <a:latin typeface="Inter" panose="020B0604020202020204" charset="0"/>
                <a:ea typeface="Inter" panose="020B0604020202020204" charset="0"/>
                <a:cs typeface="Inter"/>
                <a:sym typeface="Inter"/>
              </a:endParaRPr>
            </a:p>
          </p:txBody>
        </p:sp>
      </p:grpSp>
      <p:grpSp>
        <p:nvGrpSpPr>
          <p:cNvPr id="460" name="Google Shape;460;p35"/>
          <p:cNvGrpSpPr/>
          <p:nvPr/>
        </p:nvGrpSpPr>
        <p:grpSpPr>
          <a:xfrm>
            <a:off x="8239125" y="142875"/>
            <a:ext cx="190500" cy="190500"/>
            <a:chOff x="0" y="0"/>
            <a:chExt cx="190500" cy="190500"/>
          </a:xfrm>
        </p:grpSpPr>
        <p:sp>
          <p:nvSpPr>
            <p:cNvPr id="461" name="Google Shape;461;p35"/>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2" name="Google Shape;462;p35"/>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09</a:t>
              </a:r>
              <a:endParaRPr sz="750" b="1">
                <a:solidFill>
                  <a:srgbClr val="FFFFFF"/>
                </a:solidFill>
                <a:latin typeface="Roboto Mono"/>
                <a:ea typeface="Roboto Mono"/>
                <a:cs typeface="Roboto Mono"/>
                <a:sym typeface="Roboto Mon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grpSp>
        <p:nvGrpSpPr>
          <p:cNvPr id="471" name="Google Shape;471;p36"/>
          <p:cNvGrpSpPr/>
          <p:nvPr/>
        </p:nvGrpSpPr>
        <p:grpSpPr>
          <a:xfrm>
            <a:off x="381000" y="381000"/>
            <a:ext cx="8382000" cy="666750"/>
            <a:chOff x="0" y="0"/>
            <a:chExt cx="8382000" cy="666750"/>
          </a:xfrm>
        </p:grpSpPr>
        <p:sp>
          <p:nvSpPr>
            <p:cNvPr id="472" name="Google Shape;472;p36"/>
            <p:cNvSpPr txBox="1"/>
            <p:nvPr/>
          </p:nvSpPr>
          <p:spPr>
            <a:xfrm>
              <a:off x="0" y="0"/>
              <a:ext cx="83820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0">
                  <a:solidFill>
                    <a:srgbClr val="0A192F"/>
                  </a:solidFill>
                  <a:latin typeface="Inter ExtraBold"/>
                  <a:ea typeface="Inter ExtraBold"/>
                  <a:cs typeface="Inter ExtraBold"/>
                  <a:sym typeface="Inter ExtraBold"/>
                </a:rPr>
                <a:t>Resources &amp; Risk Assessment</a:t>
              </a:r>
              <a:endParaRPr/>
            </a:p>
          </p:txBody>
        </p:sp>
        <p:sp>
          <p:nvSpPr>
            <p:cNvPr id="473" name="Google Shape;473;p36"/>
            <p:cNvSpPr txBox="1"/>
            <p:nvPr/>
          </p:nvSpPr>
          <p:spPr>
            <a:xfrm>
              <a:off x="0" y="400050"/>
              <a:ext cx="8382000" cy="266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00" b="0">
                  <a:solidFill>
                    <a:srgbClr val="0055FF"/>
                  </a:solidFill>
                  <a:latin typeface="Inter Medium"/>
                  <a:ea typeface="Inter Medium"/>
                  <a:cs typeface="Inter Medium"/>
                  <a:sym typeface="Inter Medium"/>
                </a:rPr>
                <a:t>System Requirements and Algorithmic Vulnerability Mitigations</a:t>
              </a:r>
              <a:endParaRPr/>
            </a:p>
          </p:txBody>
        </p:sp>
      </p:grpSp>
      <p:pic>
        <p:nvPicPr>
          <p:cNvPr id="477" name="Google Shape;477;p36"/>
          <p:cNvPicPr preferRelativeResize="0"/>
          <p:nvPr/>
        </p:nvPicPr>
        <p:blipFill rotWithShape="1">
          <a:blip r:embed="rId3">
            <a:alphaModFix/>
          </a:blip>
          <a:srcRect/>
          <a:stretch/>
        </p:blipFill>
        <p:spPr>
          <a:xfrm>
            <a:off x="4467225" y="1381125"/>
            <a:ext cx="19200" cy="3162300"/>
          </a:xfrm>
          <a:prstGeom prst="rect">
            <a:avLst/>
          </a:prstGeom>
          <a:noFill/>
          <a:ln>
            <a:noFill/>
          </a:ln>
        </p:spPr>
      </p:pic>
      <p:grpSp>
        <p:nvGrpSpPr>
          <p:cNvPr id="478" name="Google Shape;478;p36"/>
          <p:cNvGrpSpPr/>
          <p:nvPr/>
        </p:nvGrpSpPr>
        <p:grpSpPr>
          <a:xfrm>
            <a:off x="381000" y="1381125"/>
            <a:ext cx="3905400" cy="3095700"/>
            <a:chOff x="381000" y="1381125"/>
            <a:chExt cx="3905400" cy="3095700"/>
          </a:xfrm>
        </p:grpSpPr>
        <p:sp>
          <p:nvSpPr>
            <p:cNvPr id="479" name="Google Shape;479;p36"/>
            <p:cNvSpPr txBox="1"/>
            <p:nvPr/>
          </p:nvSpPr>
          <p:spPr>
            <a:xfrm>
              <a:off x="381000" y="1381125"/>
              <a:ext cx="39054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0055FF"/>
                  </a:solidFill>
                  <a:latin typeface="Roboto Mono SemiBold"/>
                  <a:ea typeface="Roboto Mono SemiBold"/>
                  <a:cs typeface="Roboto Mono SemiBold"/>
                  <a:sym typeface="Roboto Mono SemiBold"/>
                </a:rPr>
                <a:t>RESOURCE REQUIREMENTS</a:t>
              </a:r>
              <a:endParaRPr sz="900" b="0">
                <a:solidFill>
                  <a:srgbClr val="0055FF"/>
                </a:solidFill>
                <a:latin typeface="Roboto Mono SemiBold"/>
                <a:ea typeface="Roboto Mono SemiBold"/>
                <a:cs typeface="Roboto Mono SemiBold"/>
                <a:sym typeface="Roboto Mono SemiBold"/>
              </a:endParaRPr>
            </a:p>
          </p:txBody>
        </p:sp>
        <p:grpSp>
          <p:nvGrpSpPr>
            <p:cNvPr id="480" name="Google Shape;480;p36"/>
            <p:cNvGrpSpPr/>
            <p:nvPr/>
          </p:nvGrpSpPr>
          <p:grpSpPr>
            <a:xfrm>
              <a:off x="381000" y="1714500"/>
              <a:ext cx="3905400" cy="1047900"/>
              <a:chOff x="0" y="0"/>
              <a:chExt cx="3905400" cy="1047900"/>
            </a:xfrm>
          </p:grpSpPr>
          <p:sp>
            <p:nvSpPr>
              <p:cNvPr id="481" name="Google Shape;481;p36"/>
              <p:cNvSpPr/>
              <p:nvPr/>
            </p:nvSpPr>
            <p:spPr>
              <a:xfrm>
                <a:off x="0" y="0"/>
                <a:ext cx="3905400" cy="1047900"/>
              </a:xfrm>
              <a:prstGeom prst="roundRect">
                <a:avLst>
                  <a:gd name="adj" fmla="val 1818"/>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3" name="Google Shape;483;p36"/>
              <p:cNvSpPr txBox="1"/>
              <p:nvPr/>
            </p:nvSpPr>
            <p:spPr>
              <a:xfrm>
                <a:off x="190500" y="142875"/>
                <a:ext cx="35244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1" dirty="0">
                    <a:solidFill>
                      <a:srgbClr val="0A192F"/>
                    </a:solidFill>
                    <a:latin typeface="Inter"/>
                    <a:ea typeface="Inter"/>
                    <a:cs typeface="Inter"/>
                    <a:sym typeface="Inter"/>
                  </a:rPr>
                  <a:t>HARDWARE SPECIFICATION</a:t>
                </a:r>
                <a:endParaRPr sz="975" b="1" dirty="0">
                  <a:solidFill>
                    <a:srgbClr val="0A192F"/>
                  </a:solidFill>
                  <a:latin typeface="Inter"/>
                  <a:ea typeface="Inter"/>
                  <a:cs typeface="Inter"/>
                  <a:sym typeface="Inter"/>
                </a:endParaRPr>
              </a:p>
              <a:p>
                <a:pPr lvl="0">
                  <a:spcBef>
                    <a:spcPts val="450"/>
                  </a:spcBef>
                </a:pPr>
                <a:r>
                  <a:rPr lang="en-IN" sz="1000" dirty="0"/>
                  <a:t>A standard computer with at least 16 GB RAM, 512 GB storage, and a modern multi-core processor is sufficient for model training and application deployment.</a:t>
                </a:r>
                <a:endParaRPr sz="975" b="0" dirty="0">
                  <a:solidFill>
                    <a:srgbClr val="475569"/>
                  </a:solidFill>
                  <a:latin typeface="Inter"/>
                  <a:ea typeface="Inter"/>
                  <a:cs typeface="Inter"/>
                  <a:sym typeface="Inter"/>
                </a:endParaRPr>
              </a:p>
            </p:txBody>
          </p:sp>
        </p:grpSp>
        <p:grpSp>
          <p:nvGrpSpPr>
            <p:cNvPr id="484" name="Google Shape;484;p36"/>
            <p:cNvGrpSpPr/>
            <p:nvPr/>
          </p:nvGrpSpPr>
          <p:grpSpPr>
            <a:xfrm>
              <a:off x="381000" y="2905125"/>
              <a:ext cx="3905400" cy="1571700"/>
              <a:chOff x="0" y="0"/>
              <a:chExt cx="3905400" cy="1571700"/>
            </a:xfrm>
          </p:grpSpPr>
          <p:sp>
            <p:nvSpPr>
              <p:cNvPr id="485" name="Google Shape;485;p36"/>
              <p:cNvSpPr/>
              <p:nvPr/>
            </p:nvSpPr>
            <p:spPr>
              <a:xfrm>
                <a:off x="0" y="0"/>
                <a:ext cx="3905400" cy="1571700"/>
              </a:xfrm>
              <a:prstGeom prst="roundRect">
                <a:avLst>
                  <a:gd name="adj" fmla="val 1212"/>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7" name="Google Shape;487;p36"/>
              <p:cNvSpPr txBox="1"/>
              <p:nvPr/>
            </p:nvSpPr>
            <p:spPr>
              <a:xfrm>
                <a:off x="190500" y="142875"/>
                <a:ext cx="3524400" cy="12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1">
                    <a:solidFill>
                      <a:srgbClr val="0A192F"/>
                    </a:solidFill>
                    <a:latin typeface="Inter"/>
                    <a:ea typeface="Inter"/>
                    <a:cs typeface="Inter"/>
                    <a:sym typeface="Inter"/>
                  </a:rPr>
                  <a:t>SOFTWARE ENVIRONMENT</a:t>
                </a:r>
                <a:endParaRPr sz="975" b="1">
                  <a:solidFill>
                    <a:srgbClr val="0A192F"/>
                  </a:solidFill>
                  <a:latin typeface="Inter"/>
                  <a:ea typeface="Inter"/>
                  <a:cs typeface="Inter"/>
                  <a:sym typeface="Inter"/>
                </a:endParaRPr>
              </a:p>
              <a:p>
                <a:pPr marL="0" lvl="0" indent="0" algn="l" rtl="0">
                  <a:spcBef>
                    <a:spcPts val="450"/>
                  </a:spcBef>
                  <a:spcAft>
                    <a:spcPts val="0"/>
                  </a:spcAft>
                  <a:buNone/>
                </a:pPr>
                <a:r>
                  <a:rPr lang="en" sz="975" b="0">
                    <a:solidFill>
                      <a:srgbClr val="475569"/>
                    </a:solidFill>
                    <a:latin typeface="Inter"/>
                    <a:ea typeface="Inter"/>
                    <a:cs typeface="Inter"/>
                    <a:sym typeface="Inter"/>
                  </a:rPr>
                  <a:t>Software includes Python, Scikit-learn, XGBoost, LightGBM, TensorFlow, Streamlit, and Vector DB APIs.</a:t>
                </a:r>
                <a:endParaRPr sz="975" b="0">
                  <a:solidFill>
                    <a:srgbClr val="475569"/>
                  </a:solidFill>
                  <a:latin typeface="Inter"/>
                  <a:ea typeface="Inter"/>
                  <a:cs typeface="Inter"/>
                  <a:sym typeface="Inter"/>
                </a:endParaRPr>
              </a:p>
            </p:txBody>
          </p:sp>
        </p:grpSp>
      </p:grpSp>
      <p:grpSp>
        <p:nvGrpSpPr>
          <p:cNvPr id="488" name="Google Shape;488;p36"/>
          <p:cNvGrpSpPr/>
          <p:nvPr/>
        </p:nvGrpSpPr>
        <p:grpSpPr>
          <a:xfrm>
            <a:off x="4667250" y="1381125"/>
            <a:ext cx="4095900" cy="3095700"/>
            <a:chOff x="4667250" y="1381125"/>
            <a:chExt cx="4095900" cy="3095700"/>
          </a:xfrm>
        </p:grpSpPr>
        <p:sp>
          <p:nvSpPr>
            <p:cNvPr id="489" name="Google Shape;489;p36"/>
            <p:cNvSpPr txBox="1"/>
            <p:nvPr/>
          </p:nvSpPr>
          <p:spPr>
            <a:xfrm>
              <a:off x="4667250" y="1381125"/>
              <a:ext cx="40959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FF5500"/>
                  </a:solidFill>
                  <a:latin typeface="Roboto Mono SemiBold"/>
                  <a:ea typeface="Roboto Mono SemiBold"/>
                  <a:cs typeface="Roboto Mono SemiBold"/>
                  <a:sym typeface="Roboto Mono SemiBold"/>
                </a:rPr>
                <a:t>RISK MATRIX &amp; MITIGATIONS</a:t>
              </a:r>
              <a:endParaRPr sz="900" b="0">
                <a:solidFill>
                  <a:srgbClr val="FF5500"/>
                </a:solidFill>
                <a:latin typeface="Roboto Mono SemiBold"/>
                <a:ea typeface="Roboto Mono SemiBold"/>
                <a:cs typeface="Roboto Mono SemiBold"/>
                <a:sym typeface="Roboto Mono SemiBold"/>
              </a:endParaRPr>
            </a:p>
          </p:txBody>
        </p:sp>
        <p:grpSp>
          <p:nvGrpSpPr>
            <p:cNvPr id="490" name="Google Shape;490;p36"/>
            <p:cNvGrpSpPr/>
            <p:nvPr/>
          </p:nvGrpSpPr>
          <p:grpSpPr>
            <a:xfrm>
              <a:off x="4667250" y="1714500"/>
              <a:ext cx="4095900" cy="571500"/>
              <a:chOff x="0" y="0"/>
              <a:chExt cx="4095900" cy="571500"/>
            </a:xfrm>
          </p:grpSpPr>
          <p:sp>
            <p:nvSpPr>
              <p:cNvPr id="491" name="Google Shape;491;p36"/>
              <p:cNvSpPr/>
              <p:nvPr/>
            </p:nvSpPr>
            <p:spPr>
              <a:xfrm>
                <a:off x="0" y="28575"/>
                <a:ext cx="76200" cy="762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2" name="Google Shape;492;p36"/>
              <p:cNvSpPr txBox="1"/>
              <p:nvPr/>
            </p:nvSpPr>
            <p:spPr>
              <a:xfrm>
                <a:off x="190500" y="0"/>
                <a:ext cx="39054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1" dirty="0">
                    <a:solidFill>
                      <a:srgbClr val="0A192F"/>
                    </a:solidFill>
                    <a:latin typeface="Inter" panose="020B0604020202020204" charset="0"/>
                    <a:ea typeface="Inter" panose="020B0604020202020204" charset="0"/>
                    <a:cs typeface="Inter"/>
                    <a:sym typeface="Inter"/>
                  </a:rPr>
                  <a:t>Missing/Inconsistent Grid Data</a:t>
                </a:r>
                <a:endParaRPr sz="975" b="1" dirty="0">
                  <a:solidFill>
                    <a:srgbClr val="0A192F"/>
                  </a:solidFill>
                  <a:latin typeface="Inter" panose="020B0604020202020204" charset="0"/>
                  <a:ea typeface="Inter" panose="020B0604020202020204" charset="0"/>
                  <a:cs typeface="Inter"/>
                  <a:sym typeface="Inter"/>
                </a:endParaRPr>
              </a:p>
              <a:p>
                <a:pPr lvl="0">
                  <a:spcBef>
                    <a:spcPts val="225"/>
                  </a:spcBef>
                </a:pPr>
                <a:r>
                  <a:rPr lang="en-IN" sz="900" dirty="0">
                    <a:latin typeface="Inter" panose="020B0604020202020204" charset="0"/>
                    <a:ea typeface="Inter" panose="020B0604020202020204" charset="0"/>
                  </a:rPr>
                  <a:t>Some energy data may be missing or incorrect. We handle this using data-cleaning and missing-value methods.</a:t>
                </a:r>
                <a:endParaRPr sz="900" b="0" dirty="0">
                  <a:solidFill>
                    <a:srgbClr val="475569"/>
                  </a:solidFill>
                  <a:latin typeface="Inter" panose="020B0604020202020204" charset="0"/>
                  <a:ea typeface="Inter" panose="020B0604020202020204" charset="0"/>
                  <a:cs typeface="Inter"/>
                  <a:sym typeface="Inter"/>
                </a:endParaRPr>
              </a:p>
            </p:txBody>
          </p:sp>
        </p:grpSp>
        <p:grpSp>
          <p:nvGrpSpPr>
            <p:cNvPr id="493" name="Google Shape;493;p36"/>
            <p:cNvGrpSpPr/>
            <p:nvPr/>
          </p:nvGrpSpPr>
          <p:grpSpPr>
            <a:xfrm>
              <a:off x="4667250" y="2428875"/>
              <a:ext cx="4095900" cy="571500"/>
              <a:chOff x="0" y="0"/>
              <a:chExt cx="4095900" cy="571500"/>
            </a:xfrm>
          </p:grpSpPr>
          <p:sp>
            <p:nvSpPr>
              <p:cNvPr id="494" name="Google Shape;494;p36"/>
              <p:cNvSpPr/>
              <p:nvPr/>
            </p:nvSpPr>
            <p:spPr>
              <a:xfrm>
                <a:off x="0" y="28575"/>
                <a:ext cx="76200" cy="762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5" name="Google Shape;495;p36"/>
              <p:cNvSpPr txBox="1"/>
              <p:nvPr/>
            </p:nvSpPr>
            <p:spPr>
              <a:xfrm>
                <a:off x="190500" y="0"/>
                <a:ext cx="39054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1" dirty="0">
                    <a:solidFill>
                      <a:srgbClr val="0A192F"/>
                    </a:solidFill>
                    <a:latin typeface="Inter" panose="020B0604020202020204" charset="0"/>
                    <a:ea typeface="Inter" panose="020B0604020202020204" charset="0"/>
                    <a:cs typeface="Inter"/>
                    <a:sym typeface="Inter"/>
                  </a:rPr>
                  <a:t>High Forecast Volatility</a:t>
                </a:r>
                <a:endParaRPr sz="975" b="1" dirty="0">
                  <a:solidFill>
                    <a:srgbClr val="0A192F"/>
                  </a:solidFill>
                  <a:latin typeface="Inter" panose="020B0604020202020204" charset="0"/>
                  <a:ea typeface="Inter" panose="020B0604020202020204" charset="0"/>
                  <a:cs typeface="Inter"/>
                  <a:sym typeface="Inter"/>
                </a:endParaRPr>
              </a:p>
              <a:p>
                <a:pPr lvl="0">
                  <a:spcBef>
                    <a:spcPts val="225"/>
                  </a:spcBef>
                </a:pPr>
                <a:r>
                  <a:rPr lang="en-IN" sz="900" dirty="0">
                    <a:latin typeface="Inter" panose="020B0604020202020204" charset="0"/>
                    <a:ea typeface="Inter" panose="020B0604020202020204" charset="0"/>
                  </a:rPr>
                  <a:t>Future electricity values may vary. We use 90%, 95%, and 99% prediction intervals to show the possible range</a:t>
                </a:r>
                <a:endParaRPr sz="900" b="0" dirty="0">
                  <a:solidFill>
                    <a:srgbClr val="475569"/>
                  </a:solidFill>
                  <a:latin typeface="Inter" panose="020B0604020202020204" charset="0"/>
                  <a:ea typeface="Inter" panose="020B0604020202020204" charset="0"/>
                  <a:cs typeface="Inter"/>
                  <a:sym typeface="Inter"/>
                </a:endParaRPr>
              </a:p>
            </p:txBody>
          </p:sp>
        </p:grpSp>
        <p:grpSp>
          <p:nvGrpSpPr>
            <p:cNvPr id="496" name="Google Shape;496;p36"/>
            <p:cNvGrpSpPr/>
            <p:nvPr/>
          </p:nvGrpSpPr>
          <p:grpSpPr>
            <a:xfrm>
              <a:off x="4667250" y="3143250"/>
              <a:ext cx="4095900" cy="571500"/>
              <a:chOff x="0" y="0"/>
              <a:chExt cx="4095900" cy="571500"/>
            </a:xfrm>
          </p:grpSpPr>
          <p:sp>
            <p:nvSpPr>
              <p:cNvPr id="497" name="Google Shape;497;p36"/>
              <p:cNvSpPr/>
              <p:nvPr/>
            </p:nvSpPr>
            <p:spPr>
              <a:xfrm>
                <a:off x="0" y="28575"/>
                <a:ext cx="76200" cy="762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8" name="Google Shape;498;p36"/>
              <p:cNvSpPr txBox="1"/>
              <p:nvPr/>
            </p:nvSpPr>
            <p:spPr>
              <a:xfrm>
                <a:off x="190500" y="0"/>
                <a:ext cx="39054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1" dirty="0">
                    <a:solidFill>
                      <a:srgbClr val="0A192F"/>
                    </a:solidFill>
                    <a:latin typeface="Inter" panose="020B0604020202020204" charset="0"/>
                    <a:ea typeface="Inter" panose="020B0604020202020204" charset="0"/>
                    <a:cs typeface="Inter"/>
                    <a:sym typeface="Inter"/>
                  </a:rPr>
                  <a:t>Out-of-sample Generalization Errors</a:t>
                </a:r>
                <a:endParaRPr sz="975" b="1" dirty="0">
                  <a:solidFill>
                    <a:srgbClr val="0A192F"/>
                  </a:solidFill>
                  <a:latin typeface="Inter" panose="020B0604020202020204" charset="0"/>
                  <a:ea typeface="Inter" panose="020B0604020202020204" charset="0"/>
                  <a:cs typeface="Inter"/>
                  <a:sym typeface="Inter"/>
                </a:endParaRPr>
              </a:p>
              <a:p>
                <a:pPr lvl="0">
                  <a:spcBef>
                    <a:spcPts val="225"/>
                  </a:spcBef>
                </a:pPr>
                <a:r>
                  <a:rPr lang="en-IN" sz="900" dirty="0">
                    <a:latin typeface="Inter" panose="020B0604020202020204" charset="0"/>
                    <a:ea typeface="Inter" panose="020B0604020202020204" charset="0"/>
                  </a:rPr>
                  <a:t>The model may not work well on unseen data. We test it using January–March 2026 data to check its performance.</a:t>
                </a:r>
                <a:endParaRPr sz="900" b="0" dirty="0">
                  <a:solidFill>
                    <a:srgbClr val="475569"/>
                  </a:solidFill>
                  <a:latin typeface="Inter" panose="020B0604020202020204" charset="0"/>
                  <a:ea typeface="Inter" panose="020B0604020202020204" charset="0"/>
                  <a:cs typeface="Inter"/>
                  <a:sym typeface="Inter"/>
                </a:endParaRPr>
              </a:p>
            </p:txBody>
          </p:sp>
        </p:grpSp>
        <p:grpSp>
          <p:nvGrpSpPr>
            <p:cNvPr id="499" name="Google Shape;499;p36"/>
            <p:cNvGrpSpPr/>
            <p:nvPr/>
          </p:nvGrpSpPr>
          <p:grpSpPr>
            <a:xfrm>
              <a:off x="4667250" y="3857625"/>
              <a:ext cx="4095900" cy="619200"/>
              <a:chOff x="0" y="0"/>
              <a:chExt cx="4095900" cy="619200"/>
            </a:xfrm>
          </p:grpSpPr>
          <p:sp>
            <p:nvSpPr>
              <p:cNvPr id="500" name="Google Shape;500;p36"/>
              <p:cNvSpPr/>
              <p:nvPr/>
            </p:nvSpPr>
            <p:spPr>
              <a:xfrm>
                <a:off x="0" y="28575"/>
                <a:ext cx="76200" cy="762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1" name="Google Shape;501;p36"/>
              <p:cNvSpPr txBox="1"/>
              <p:nvPr/>
            </p:nvSpPr>
            <p:spPr>
              <a:xfrm>
                <a:off x="190500" y="0"/>
                <a:ext cx="39054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75" b="1" dirty="0">
                    <a:solidFill>
                      <a:srgbClr val="0A192F"/>
                    </a:solidFill>
                    <a:latin typeface="Inter" panose="020B0604020202020204" charset="0"/>
                    <a:ea typeface="Inter" panose="020B0604020202020204" charset="0"/>
                    <a:cs typeface="Inter"/>
                    <a:sym typeface="Inter"/>
                  </a:rPr>
                  <a:t>Hallucinated LLM Guidance</a:t>
                </a:r>
                <a:endParaRPr sz="975" b="1" dirty="0">
                  <a:solidFill>
                    <a:srgbClr val="0A192F"/>
                  </a:solidFill>
                  <a:latin typeface="Inter" panose="020B0604020202020204" charset="0"/>
                  <a:ea typeface="Inter" panose="020B0604020202020204" charset="0"/>
                  <a:cs typeface="Inter"/>
                  <a:sym typeface="Inter"/>
                </a:endParaRPr>
              </a:p>
              <a:p>
                <a:pPr lvl="0">
                  <a:spcBef>
                    <a:spcPts val="225"/>
                  </a:spcBef>
                </a:pPr>
                <a:r>
                  <a:rPr lang="en-IN" sz="900" dirty="0">
                    <a:latin typeface="Inter" panose="020B0604020202020204" charset="0"/>
                    <a:ea typeface="Inter" panose="020B0604020202020204" charset="0"/>
                  </a:rPr>
                  <a:t>The AI may give incorrect suggestions. We use RAG with trusted energy-policy documents to provide reliable recommendations.</a:t>
                </a:r>
                <a:endParaRPr sz="900" b="0" dirty="0">
                  <a:solidFill>
                    <a:srgbClr val="475569"/>
                  </a:solidFill>
                  <a:latin typeface="Inter" panose="020B0604020202020204" charset="0"/>
                  <a:ea typeface="Inter" panose="020B0604020202020204" charset="0"/>
                  <a:cs typeface="Inter"/>
                  <a:sym typeface="Inter"/>
                </a:endParaRPr>
              </a:p>
            </p:txBody>
          </p:sp>
        </p:grpSp>
      </p:grpSp>
      <p:grpSp>
        <p:nvGrpSpPr>
          <p:cNvPr id="502" name="Google Shape;502;p36"/>
          <p:cNvGrpSpPr/>
          <p:nvPr/>
        </p:nvGrpSpPr>
        <p:grpSpPr>
          <a:xfrm>
            <a:off x="8239125" y="142875"/>
            <a:ext cx="190500" cy="190500"/>
            <a:chOff x="0" y="0"/>
            <a:chExt cx="190500" cy="190500"/>
          </a:xfrm>
        </p:grpSpPr>
        <p:sp>
          <p:nvSpPr>
            <p:cNvPr id="503" name="Google Shape;503;p36"/>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4" name="Google Shape;504;p36"/>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10</a:t>
              </a:r>
              <a:endParaRPr sz="750" b="1">
                <a:solidFill>
                  <a:srgbClr val="FFFFFF"/>
                </a:solidFill>
                <a:latin typeface="Roboto Mono"/>
                <a:ea typeface="Roboto Mono"/>
                <a:cs typeface="Roboto Mono"/>
                <a:sym typeface="Roboto Mon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grpSp>
        <p:nvGrpSpPr>
          <p:cNvPr id="512" name="Google Shape;512;p37"/>
          <p:cNvGrpSpPr/>
          <p:nvPr/>
        </p:nvGrpSpPr>
        <p:grpSpPr>
          <a:xfrm>
            <a:off x="333375" y="83156"/>
            <a:ext cx="8382000" cy="685950"/>
            <a:chOff x="0" y="0"/>
            <a:chExt cx="8382000" cy="685950"/>
          </a:xfrm>
        </p:grpSpPr>
        <p:sp>
          <p:nvSpPr>
            <p:cNvPr id="513" name="Google Shape;513;p37"/>
            <p:cNvSpPr txBox="1"/>
            <p:nvPr/>
          </p:nvSpPr>
          <p:spPr>
            <a:xfrm>
              <a:off x="0" y="0"/>
              <a:ext cx="83820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0">
                  <a:solidFill>
                    <a:srgbClr val="0A192F"/>
                  </a:solidFill>
                  <a:latin typeface="Inter ExtraBold"/>
                  <a:ea typeface="Inter ExtraBold"/>
                  <a:cs typeface="Inter ExtraBold"/>
                  <a:sym typeface="Inter ExtraBold"/>
                </a:rPr>
                <a:t>Proposed System Overview</a:t>
              </a:r>
              <a:endParaRPr/>
            </a:p>
          </p:txBody>
        </p:sp>
        <p:sp>
          <p:nvSpPr>
            <p:cNvPr id="514" name="Google Shape;514;p37"/>
            <p:cNvSpPr txBox="1"/>
            <p:nvPr/>
          </p:nvSpPr>
          <p:spPr>
            <a:xfrm>
              <a:off x="0" y="400050"/>
              <a:ext cx="8382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50" b="0">
                  <a:solidFill>
                    <a:srgbClr val="0055FF"/>
                  </a:solidFill>
                  <a:latin typeface="Inter Medium"/>
                  <a:ea typeface="Inter Medium"/>
                  <a:cs typeface="Inter Medium"/>
                  <a:sym typeface="Inter Medium"/>
                </a:rPr>
                <a:t>Parallel Pipeline and RAG Architecture</a:t>
              </a:r>
              <a:endParaRPr/>
            </a:p>
          </p:txBody>
        </p:sp>
      </p:grpSp>
      <p:sp>
        <p:nvSpPr>
          <p:cNvPr id="518" name="Google Shape;518;p37"/>
          <p:cNvSpPr txBox="1"/>
          <p:nvPr/>
        </p:nvSpPr>
        <p:spPr>
          <a:xfrm>
            <a:off x="381000" y="1381125"/>
            <a:ext cx="83820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975" b="0" dirty="0">
              <a:solidFill>
                <a:srgbClr val="475569"/>
              </a:solidFill>
              <a:latin typeface="Inter"/>
              <a:ea typeface="Inter"/>
              <a:cs typeface="Inter"/>
              <a:sym typeface="Inter"/>
            </a:endParaRPr>
          </a:p>
        </p:txBody>
      </p:sp>
      <p:grpSp>
        <p:nvGrpSpPr>
          <p:cNvPr id="555" name="Google Shape;555;p37"/>
          <p:cNvGrpSpPr/>
          <p:nvPr/>
        </p:nvGrpSpPr>
        <p:grpSpPr>
          <a:xfrm>
            <a:off x="8383809" y="142875"/>
            <a:ext cx="190500" cy="190500"/>
            <a:chOff x="0" y="0"/>
            <a:chExt cx="190500" cy="190500"/>
          </a:xfrm>
        </p:grpSpPr>
        <p:sp>
          <p:nvSpPr>
            <p:cNvPr id="556" name="Google Shape;556;p37"/>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7" name="Google Shape;557;p37"/>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dirty="0">
                  <a:solidFill>
                    <a:srgbClr val="FFFFFF"/>
                  </a:solidFill>
                  <a:latin typeface="Roboto Mono"/>
                  <a:ea typeface="Roboto Mono"/>
                  <a:cs typeface="Roboto Mono"/>
                  <a:sym typeface="Roboto Mono"/>
                </a:rPr>
                <a:t>11</a:t>
              </a:r>
              <a:endParaRPr sz="750" b="1" dirty="0">
                <a:solidFill>
                  <a:srgbClr val="FFFFFF"/>
                </a:solidFill>
                <a:latin typeface="Roboto Mono"/>
                <a:ea typeface="Roboto Mono"/>
                <a:cs typeface="Roboto Mono"/>
                <a:sym typeface="Roboto Mono"/>
              </a:endParaRPr>
            </a:p>
          </p:txBody>
        </p:sp>
      </p:grpSp>
      <p:pic>
        <p:nvPicPr>
          <p:cNvPr id="3" name="Picture 2">
            <a:extLst>
              <a:ext uri="{FF2B5EF4-FFF2-40B4-BE49-F238E27FC236}">
                <a16:creationId xmlns:a16="http://schemas.microsoft.com/office/drawing/2014/main" id="{644E962C-768B-31A6-60C3-A517EB8DAA64}"/>
              </a:ext>
            </a:extLst>
          </p:cNvPr>
          <p:cNvPicPr>
            <a:picLocks noChangeAspect="1"/>
          </p:cNvPicPr>
          <p:nvPr/>
        </p:nvPicPr>
        <p:blipFill>
          <a:blip r:embed="rId3"/>
          <a:stretch>
            <a:fillRect/>
          </a:stretch>
        </p:blipFill>
        <p:spPr>
          <a:xfrm>
            <a:off x="87630" y="845820"/>
            <a:ext cx="9056370" cy="42145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pic>
        <p:nvPicPr>
          <p:cNvPr id="3" name="Picture 2">
            <a:extLst>
              <a:ext uri="{FF2B5EF4-FFF2-40B4-BE49-F238E27FC236}">
                <a16:creationId xmlns:a16="http://schemas.microsoft.com/office/drawing/2014/main" id="{94727BC8-7DD1-3A95-17E0-AB44835F2BE0}"/>
              </a:ext>
            </a:extLst>
          </p:cNvPr>
          <p:cNvPicPr>
            <a:picLocks noChangeAspect="1"/>
          </p:cNvPicPr>
          <p:nvPr/>
        </p:nvPicPr>
        <p:blipFill>
          <a:blip r:embed="rId3"/>
          <a:stretch>
            <a:fillRect/>
          </a:stretch>
        </p:blipFill>
        <p:spPr>
          <a:xfrm>
            <a:off x="102518" y="1295400"/>
            <a:ext cx="3278857" cy="3369870"/>
          </a:xfrm>
          <a:prstGeom prst="rect">
            <a:avLst/>
          </a:prstGeom>
        </p:spPr>
      </p:pic>
      <p:grpSp>
        <p:nvGrpSpPr>
          <p:cNvPr id="565" name="Google Shape;565;p38"/>
          <p:cNvGrpSpPr/>
          <p:nvPr/>
        </p:nvGrpSpPr>
        <p:grpSpPr>
          <a:xfrm>
            <a:off x="381000" y="384810"/>
            <a:ext cx="8382000" cy="666900"/>
            <a:chOff x="0" y="0"/>
            <a:chExt cx="8382000" cy="666900"/>
          </a:xfrm>
        </p:grpSpPr>
        <p:sp>
          <p:nvSpPr>
            <p:cNvPr id="566" name="Google Shape;566;p38"/>
            <p:cNvSpPr txBox="1"/>
            <p:nvPr/>
          </p:nvSpPr>
          <p:spPr>
            <a:xfrm>
              <a:off x="0" y="0"/>
              <a:ext cx="83820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0" dirty="0">
                  <a:solidFill>
                    <a:srgbClr val="0A192F"/>
                  </a:solidFill>
                  <a:latin typeface="Inter ExtraBold"/>
                  <a:ea typeface="Inter ExtraBold"/>
                  <a:cs typeface="Inter ExtraBold"/>
                  <a:sym typeface="Inter ExtraBold"/>
                </a:rPr>
                <a:t>Methodology Flow Chart</a:t>
              </a:r>
              <a:endParaRPr dirty="0"/>
            </a:p>
          </p:txBody>
        </p:sp>
        <p:sp>
          <p:nvSpPr>
            <p:cNvPr id="567" name="Google Shape;567;p38"/>
            <p:cNvSpPr txBox="1"/>
            <p:nvPr/>
          </p:nvSpPr>
          <p:spPr>
            <a:xfrm>
              <a:off x="0" y="381000"/>
              <a:ext cx="8382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50" b="0" dirty="0">
                  <a:solidFill>
                    <a:srgbClr val="0055FF"/>
                  </a:solidFill>
                  <a:latin typeface="Inter Medium"/>
                  <a:ea typeface="Inter Medium"/>
                  <a:cs typeface="Inter Medium"/>
                  <a:sym typeface="Inter Medium"/>
                </a:rPr>
                <a:t>Sequential Implementation Pipeline</a:t>
              </a:r>
              <a:endParaRPr dirty="0"/>
            </a:p>
          </p:txBody>
        </p:sp>
      </p:grpSp>
      <p:grpSp>
        <p:nvGrpSpPr>
          <p:cNvPr id="592" name="Google Shape;592;p38"/>
          <p:cNvGrpSpPr/>
          <p:nvPr/>
        </p:nvGrpSpPr>
        <p:grpSpPr>
          <a:xfrm>
            <a:off x="3067050" y="1295400"/>
            <a:ext cx="5696025" cy="3400500"/>
            <a:chOff x="3067050" y="1295400"/>
            <a:chExt cx="5696025" cy="3400500"/>
          </a:xfrm>
        </p:grpSpPr>
        <p:cxnSp>
          <p:nvCxnSpPr>
            <p:cNvPr id="593" name="Google Shape;593;p38"/>
            <p:cNvCxnSpPr/>
            <p:nvPr/>
          </p:nvCxnSpPr>
          <p:spPr>
            <a:xfrm>
              <a:off x="3143250" y="1409700"/>
              <a:ext cx="0" cy="2971800"/>
            </a:xfrm>
            <a:prstGeom prst="straightConnector1">
              <a:avLst/>
            </a:prstGeom>
            <a:solidFill>
              <a:srgbClr val="FFFFFF"/>
            </a:solidFill>
            <a:ln w="19050" cap="flat" cmpd="sng">
              <a:solidFill>
                <a:srgbClr val="0055FF"/>
              </a:solidFill>
              <a:prstDash val="solid"/>
              <a:round/>
              <a:headEnd type="none" w="sm" len="sm"/>
              <a:tailEnd type="none" w="sm" len="sm"/>
            </a:ln>
          </p:spPr>
        </p:cxnSp>
        <p:grpSp>
          <p:nvGrpSpPr>
            <p:cNvPr id="594" name="Google Shape;594;p38"/>
            <p:cNvGrpSpPr/>
            <p:nvPr/>
          </p:nvGrpSpPr>
          <p:grpSpPr>
            <a:xfrm>
              <a:off x="3067050" y="1333500"/>
              <a:ext cx="152400" cy="152400"/>
              <a:chOff x="0" y="0"/>
              <a:chExt cx="152400" cy="152400"/>
            </a:xfrm>
          </p:grpSpPr>
          <p:sp>
            <p:nvSpPr>
              <p:cNvPr id="595" name="Google Shape;595;p38"/>
              <p:cNvSpPr/>
              <p:nvPr/>
            </p:nvSpPr>
            <p:spPr>
              <a:xfrm>
                <a:off x="0" y="0"/>
                <a:ext cx="152400" cy="152400"/>
              </a:xfrm>
              <a:prstGeom prst="ellipse">
                <a:avLst/>
              </a:prstGeom>
              <a:solidFill>
                <a:srgbClr val="F1F5F9"/>
              </a:solidFill>
              <a:ln w="19050" cap="flat" cmpd="sng">
                <a:solidFill>
                  <a:srgbClr val="005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6" name="Google Shape;596;p38"/>
              <p:cNvSpPr/>
              <p:nvPr/>
            </p:nvSpPr>
            <p:spPr>
              <a:xfrm>
                <a:off x="47625" y="47625"/>
                <a:ext cx="57300" cy="57300"/>
              </a:xfrm>
              <a:prstGeom prst="ellipse">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597" name="Google Shape;597;p38"/>
            <p:cNvSpPr txBox="1"/>
            <p:nvPr/>
          </p:nvSpPr>
          <p:spPr>
            <a:xfrm>
              <a:off x="3381375" y="1295400"/>
              <a:ext cx="53817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0055FF"/>
                  </a:solidFill>
                  <a:latin typeface="Roboto Mono SemiBold"/>
                  <a:ea typeface="Roboto Mono SemiBold"/>
                  <a:cs typeface="Roboto Mono SemiBold"/>
                  <a:sym typeface="Roboto Mono SemiBold"/>
                </a:rPr>
                <a:t>01</a:t>
              </a:r>
              <a:r>
                <a:rPr lang="en" sz="975" b="1">
                  <a:solidFill>
                    <a:srgbClr val="0A192F"/>
                  </a:solidFill>
                  <a:latin typeface="Inter"/>
                  <a:ea typeface="Inter"/>
                  <a:cs typeface="Inter"/>
                  <a:sym typeface="Inter"/>
                </a:rPr>
                <a:t>Data Collection &amp; Multi-Source Alignments</a:t>
              </a:r>
              <a:endParaRPr sz="975" b="1">
                <a:solidFill>
                  <a:srgbClr val="0A192F"/>
                </a:solidFill>
                <a:latin typeface="Inter"/>
                <a:ea typeface="Inter"/>
                <a:cs typeface="Inter"/>
                <a:sym typeface="Inter"/>
              </a:endParaRPr>
            </a:p>
            <a:p>
              <a:pPr marL="228600" marR="0" lvl="0" indent="0" algn="l" rtl="0">
                <a:spcBef>
                  <a:spcPts val="150"/>
                </a:spcBef>
                <a:spcAft>
                  <a:spcPts val="0"/>
                </a:spcAft>
                <a:buNone/>
              </a:pPr>
              <a:r>
                <a:rPr lang="en" sz="825" b="0">
                  <a:solidFill>
                    <a:srgbClr val="475569"/>
                  </a:solidFill>
                  <a:latin typeface="Inter"/>
                  <a:ea typeface="Inter"/>
                  <a:cs typeface="Inter"/>
                  <a:sym typeface="Inter"/>
                </a:rPr>
                <a:t>Demand, Supply, and Weather environmental data streams integrated</a:t>
              </a:r>
              <a:endParaRPr sz="825" b="0">
                <a:solidFill>
                  <a:srgbClr val="475569"/>
                </a:solidFill>
                <a:latin typeface="Inter"/>
                <a:ea typeface="Inter"/>
                <a:cs typeface="Inter"/>
                <a:sym typeface="Inter"/>
              </a:endParaRPr>
            </a:p>
          </p:txBody>
        </p:sp>
        <p:grpSp>
          <p:nvGrpSpPr>
            <p:cNvPr id="598" name="Google Shape;598;p38"/>
            <p:cNvGrpSpPr/>
            <p:nvPr/>
          </p:nvGrpSpPr>
          <p:grpSpPr>
            <a:xfrm>
              <a:off x="3067050" y="1828800"/>
              <a:ext cx="152400" cy="152400"/>
              <a:chOff x="0" y="0"/>
              <a:chExt cx="152400" cy="152400"/>
            </a:xfrm>
          </p:grpSpPr>
          <p:sp>
            <p:nvSpPr>
              <p:cNvPr id="599" name="Google Shape;599;p38"/>
              <p:cNvSpPr/>
              <p:nvPr/>
            </p:nvSpPr>
            <p:spPr>
              <a:xfrm>
                <a:off x="0" y="0"/>
                <a:ext cx="152400" cy="152400"/>
              </a:xfrm>
              <a:prstGeom prst="ellipse">
                <a:avLst/>
              </a:prstGeom>
              <a:solidFill>
                <a:srgbClr val="F1F5F9"/>
              </a:solidFill>
              <a:ln w="19050" cap="flat" cmpd="sng">
                <a:solidFill>
                  <a:srgbClr val="005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0" name="Google Shape;600;p38"/>
              <p:cNvSpPr/>
              <p:nvPr/>
            </p:nvSpPr>
            <p:spPr>
              <a:xfrm>
                <a:off x="47625" y="47625"/>
                <a:ext cx="57300" cy="57300"/>
              </a:xfrm>
              <a:prstGeom prst="ellipse">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01" name="Google Shape;601;p38"/>
            <p:cNvSpPr txBox="1"/>
            <p:nvPr/>
          </p:nvSpPr>
          <p:spPr>
            <a:xfrm>
              <a:off x="3381375" y="1790700"/>
              <a:ext cx="53817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0055FF"/>
                  </a:solidFill>
                  <a:latin typeface="Roboto Mono SemiBold"/>
                  <a:ea typeface="Roboto Mono SemiBold"/>
                  <a:cs typeface="Roboto Mono SemiBold"/>
                  <a:sym typeface="Roboto Mono SemiBold"/>
                </a:rPr>
                <a:t>02</a:t>
              </a:r>
              <a:r>
                <a:rPr lang="en" sz="975" b="1">
                  <a:solidFill>
                    <a:srgbClr val="0A192F"/>
                  </a:solidFill>
                  <a:latin typeface="Inter"/>
                  <a:ea typeface="Inter"/>
                  <a:cs typeface="Inter"/>
                  <a:sym typeface="Inter"/>
                </a:rPr>
                <a:t>Preprocessing, Data Cleaning, and Feature Engineering</a:t>
              </a:r>
              <a:endParaRPr sz="975" b="1">
                <a:solidFill>
                  <a:srgbClr val="0A192F"/>
                </a:solidFill>
                <a:latin typeface="Inter"/>
                <a:ea typeface="Inter"/>
                <a:cs typeface="Inter"/>
                <a:sym typeface="Inter"/>
              </a:endParaRPr>
            </a:p>
            <a:p>
              <a:pPr marL="228600" marR="0" lvl="0" indent="0" algn="l" rtl="0">
                <a:spcBef>
                  <a:spcPts val="150"/>
                </a:spcBef>
                <a:spcAft>
                  <a:spcPts val="0"/>
                </a:spcAft>
                <a:buNone/>
              </a:pPr>
              <a:r>
                <a:rPr lang="en" sz="825" b="0">
                  <a:solidFill>
                    <a:srgbClr val="475569"/>
                  </a:solidFill>
                  <a:latin typeface="Inter"/>
                  <a:ea typeface="Inter"/>
                  <a:cs typeface="Inter"/>
                  <a:sym typeface="Inter"/>
                </a:rPr>
                <a:t>Cleaning raw historical sequences and structuring predictive model features</a:t>
              </a:r>
              <a:endParaRPr sz="825" b="0">
                <a:solidFill>
                  <a:srgbClr val="475569"/>
                </a:solidFill>
                <a:latin typeface="Inter"/>
                <a:ea typeface="Inter"/>
                <a:cs typeface="Inter"/>
                <a:sym typeface="Inter"/>
              </a:endParaRPr>
            </a:p>
          </p:txBody>
        </p:sp>
        <p:grpSp>
          <p:nvGrpSpPr>
            <p:cNvPr id="602" name="Google Shape;602;p38"/>
            <p:cNvGrpSpPr/>
            <p:nvPr/>
          </p:nvGrpSpPr>
          <p:grpSpPr>
            <a:xfrm>
              <a:off x="3067050" y="2324100"/>
              <a:ext cx="152400" cy="152400"/>
              <a:chOff x="0" y="0"/>
              <a:chExt cx="152400" cy="152400"/>
            </a:xfrm>
          </p:grpSpPr>
          <p:sp>
            <p:nvSpPr>
              <p:cNvPr id="603" name="Google Shape;603;p38"/>
              <p:cNvSpPr/>
              <p:nvPr/>
            </p:nvSpPr>
            <p:spPr>
              <a:xfrm>
                <a:off x="0" y="0"/>
                <a:ext cx="152400" cy="152400"/>
              </a:xfrm>
              <a:prstGeom prst="ellipse">
                <a:avLst/>
              </a:prstGeom>
              <a:solidFill>
                <a:srgbClr val="F1F5F9"/>
              </a:solidFill>
              <a:ln w="19050" cap="flat" cmpd="sng">
                <a:solidFill>
                  <a:srgbClr val="005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4" name="Google Shape;604;p38"/>
              <p:cNvSpPr/>
              <p:nvPr/>
            </p:nvSpPr>
            <p:spPr>
              <a:xfrm>
                <a:off x="47625" y="47625"/>
                <a:ext cx="57300" cy="57300"/>
              </a:xfrm>
              <a:prstGeom prst="ellipse">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05" name="Google Shape;605;p38"/>
            <p:cNvSpPr txBox="1"/>
            <p:nvPr/>
          </p:nvSpPr>
          <p:spPr>
            <a:xfrm>
              <a:off x="3381375" y="2286000"/>
              <a:ext cx="53817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0055FF"/>
                  </a:solidFill>
                  <a:latin typeface="Roboto Mono SemiBold"/>
                  <a:ea typeface="Roboto Mono SemiBold"/>
                  <a:cs typeface="Roboto Mono SemiBold"/>
                  <a:sym typeface="Roboto Mono SemiBold"/>
                </a:rPr>
                <a:t>03</a:t>
              </a:r>
              <a:r>
                <a:rPr lang="en" sz="975" b="1">
                  <a:solidFill>
                    <a:srgbClr val="0A192F"/>
                  </a:solidFill>
                  <a:latin typeface="Inter"/>
                  <a:ea typeface="Inter"/>
                  <a:cs typeface="Inter"/>
                  <a:sym typeface="Inter"/>
                </a:rPr>
                <a:t>Parallel Execution: Independent Demand &amp; Supply Predictions</a:t>
              </a:r>
              <a:endParaRPr sz="975" b="1">
                <a:solidFill>
                  <a:srgbClr val="0A192F"/>
                </a:solidFill>
                <a:latin typeface="Inter"/>
                <a:ea typeface="Inter"/>
                <a:cs typeface="Inter"/>
                <a:sym typeface="Inter"/>
              </a:endParaRPr>
            </a:p>
            <a:p>
              <a:pPr marL="228600" marR="0" lvl="0" indent="0" algn="l" rtl="0">
                <a:spcBef>
                  <a:spcPts val="150"/>
                </a:spcBef>
                <a:spcAft>
                  <a:spcPts val="0"/>
                </a:spcAft>
                <a:buNone/>
              </a:pPr>
              <a:r>
                <a:rPr lang="en" sz="825" b="0">
                  <a:solidFill>
                    <a:srgbClr val="475569"/>
                  </a:solidFill>
                  <a:latin typeface="Inter"/>
                  <a:ea typeface="Inter"/>
                  <a:cs typeface="Inter"/>
                  <a:sym typeface="Inter"/>
                </a:rPr>
                <a:t>Highly decoupled multi-track model processing before synthesis</a:t>
              </a:r>
              <a:endParaRPr sz="825" b="0">
                <a:solidFill>
                  <a:srgbClr val="475569"/>
                </a:solidFill>
                <a:latin typeface="Inter"/>
                <a:ea typeface="Inter"/>
                <a:cs typeface="Inter"/>
                <a:sym typeface="Inter"/>
              </a:endParaRPr>
            </a:p>
          </p:txBody>
        </p:sp>
        <p:grpSp>
          <p:nvGrpSpPr>
            <p:cNvPr id="606" name="Google Shape;606;p38"/>
            <p:cNvGrpSpPr/>
            <p:nvPr/>
          </p:nvGrpSpPr>
          <p:grpSpPr>
            <a:xfrm>
              <a:off x="3067050" y="2819400"/>
              <a:ext cx="152400" cy="152400"/>
              <a:chOff x="0" y="0"/>
              <a:chExt cx="152400" cy="152400"/>
            </a:xfrm>
          </p:grpSpPr>
          <p:sp>
            <p:nvSpPr>
              <p:cNvPr id="607" name="Google Shape;607;p38"/>
              <p:cNvSpPr/>
              <p:nvPr/>
            </p:nvSpPr>
            <p:spPr>
              <a:xfrm>
                <a:off x="0" y="0"/>
                <a:ext cx="152400" cy="152400"/>
              </a:xfrm>
              <a:prstGeom prst="ellipse">
                <a:avLst/>
              </a:prstGeom>
              <a:solidFill>
                <a:srgbClr val="F1F5F9"/>
              </a:solidFill>
              <a:ln w="19050" cap="flat" cmpd="sng">
                <a:solidFill>
                  <a:srgbClr val="005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8" name="Google Shape;608;p38"/>
              <p:cNvSpPr/>
              <p:nvPr/>
            </p:nvSpPr>
            <p:spPr>
              <a:xfrm>
                <a:off x="47625" y="47625"/>
                <a:ext cx="57300" cy="57300"/>
              </a:xfrm>
              <a:prstGeom prst="ellipse">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09" name="Google Shape;609;p38"/>
            <p:cNvSpPr txBox="1"/>
            <p:nvPr/>
          </p:nvSpPr>
          <p:spPr>
            <a:xfrm>
              <a:off x="3381375" y="2781300"/>
              <a:ext cx="53817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0055FF"/>
                  </a:solidFill>
                  <a:latin typeface="Roboto Mono SemiBold"/>
                  <a:ea typeface="Roboto Mono SemiBold"/>
                  <a:cs typeface="Roboto Mono SemiBold"/>
                  <a:sym typeface="Roboto Mono SemiBold"/>
                </a:rPr>
                <a:t>04</a:t>
              </a:r>
              <a:r>
                <a:rPr lang="en" sz="975" b="1">
                  <a:solidFill>
                    <a:srgbClr val="0A192F"/>
                  </a:solidFill>
                  <a:latin typeface="Inter"/>
                  <a:ea typeface="Inter"/>
                  <a:cs typeface="Inter"/>
                  <a:sym typeface="Inter"/>
                </a:rPr>
                <a:t>Probabilistic Gap Assessment &amp; Interval Calculations</a:t>
              </a:r>
              <a:endParaRPr sz="975" b="1">
                <a:solidFill>
                  <a:srgbClr val="0A192F"/>
                </a:solidFill>
                <a:latin typeface="Inter"/>
                <a:ea typeface="Inter"/>
                <a:cs typeface="Inter"/>
                <a:sym typeface="Inter"/>
              </a:endParaRPr>
            </a:p>
            <a:p>
              <a:pPr marL="228600" marR="0" lvl="0" indent="0" algn="l" rtl="0">
                <a:spcBef>
                  <a:spcPts val="150"/>
                </a:spcBef>
                <a:spcAft>
                  <a:spcPts val="0"/>
                </a:spcAft>
                <a:buNone/>
              </a:pPr>
              <a:r>
                <a:rPr lang="en" sz="825" b="0">
                  <a:solidFill>
                    <a:srgbClr val="475569"/>
                  </a:solidFill>
                  <a:latin typeface="Inter"/>
                  <a:ea typeface="Inter"/>
                  <a:cs typeface="Inter"/>
                  <a:sym typeface="Inter"/>
                </a:rPr>
                <a:t>Quantifying forecast variance and computing system margin boundaries</a:t>
              </a:r>
              <a:endParaRPr sz="825" b="0">
                <a:solidFill>
                  <a:srgbClr val="475569"/>
                </a:solidFill>
                <a:latin typeface="Inter"/>
                <a:ea typeface="Inter"/>
                <a:cs typeface="Inter"/>
                <a:sym typeface="Inter"/>
              </a:endParaRPr>
            </a:p>
          </p:txBody>
        </p:sp>
        <p:grpSp>
          <p:nvGrpSpPr>
            <p:cNvPr id="610" name="Google Shape;610;p38"/>
            <p:cNvGrpSpPr/>
            <p:nvPr/>
          </p:nvGrpSpPr>
          <p:grpSpPr>
            <a:xfrm>
              <a:off x="3067050" y="3314700"/>
              <a:ext cx="152400" cy="152400"/>
              <a:chOff x="0" y="0"/>
              <a:chExt cx="152400" cy="152400"/>
            </a:xfrm>
          </p:grpSpPr>
          <p:sp>
            <p:nvSpPr>
              <p:cNvPr id="611" name="Google Shape;611;p38"/>
              <p:cNvSpPr/>
              <p:nvPr/>
            </p:nvSpPr>
            <p:spPr>
              <a:xfrm>
                <a:off x="0" y="0"/>
                <a:ext cx="152400" cy="152400"/>
              </a:xfrm>
              <a:prstGeom prst="ellipse">
                <a:avLst/>
              </a:prstGeom>
              <a:solidFill>
                <a:srgbClr val="F1F5F9"/>
              </a:solidFill>
              <a:ln w="19050" cap="flat" cmpd="sng">
                <a:solidFill>
                  <a:srgbClr val="005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2" name="Google Shape;612;p38"/>
              <p:cNvSpPr/>
              <p:nvPr/>
            </p:nvSpPr>
            <p:spPr>
              <a:xfrm>
                <a:off x="47625" y="47625"/>
                <a:ext cx="57300" cy="57300"/>
              </a:xfrm>
              <a:prstGeom prst="ellipse">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13" name="Google Shape;613;p38"/>
            <p:cNvSpPr txBox="1"/>
            <p:nvPr/>
          </p:nvSpPr>
          <p:spPr>
            <a:xfrm>
              <a:off x="3381375" y="3276600"/>
              <a:ext cx="53817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0055FF"/>
                  </a:solidFill>
                  <a:latin typeface="Roboto Mono SemiBold"/>
                  <a:ea typeface="Roboto Mono SemiBold"/>
                  <a:cs typeface="Roboto Mono SemiBold"/>
                  <a:sym typeface="Roboto Mono SemiBold"/>
                </a:rPr>
                <a:t>05</a:t>
              </a:r>
              <a:r>
                <a:rPr lang="en" sz="975" b="1">
                  <a:solidFill>
                    <a:srgbClr val="0A192F"/>
                  </a:solidFill>
                  <a:latin typeface="Inter"/>
                  <a:ea typeface="Inter"/>
                  <a:cs typeface="Inter"/>
                  <a:sym typeface="Inter"/>
                </a:rPr>
                <a:t>Categorical Risk Classification (Shortage, Surplus, Stable)</a:t>
              </a:r>
              <a:endParaRPr sz="975" b="1">
                <a:solidFill>
                  <a:srgbClr val="0A192F"/>
                </a:solidFill>
                <a:latin typeface="Inter"/>
                <a:ea typeface="Inter"/>
                <a:cs typeface="Inter"/>
                <a:sym typeface="Inter"/>
              </a:endParaRPr>
            </a:p>
            <a:p>
              <a:pPr marL="228600" marR="0" lvl="0" indent="0" algn="l" rtl="0">
                <a:spcBef>
                  <a:spcPts val="150"/>
                </a:spcBef>
                <a:spcAft>
                  <a:spcPts val="0"/>
                </a:spcAft>
                <a:buNone/>
              </a:pPr>
              <a:r>
                <a:rPr lang="en" sz="825" b="0">
                  <a:solidFill>
                    <a:srgbClr val="475569"/>
                  </a:solidFill>
                  <a:latin typeface="Inter"/>
                  <a:ea typeface="Inter"/>
                  <a:cs typeface="Inter"/>
                  <a:sym typeface="Inter"/>
                </a:rPr>
                <a:t>Assigning actionable states based on probabilistic threshold limits</a:t>
              </a:r>
              <a:endParaRPr sz="825" b="0">
                <a:solidFill>
                  <a:srgbClr val="475569"/>
                </a:solidFill>
                <a:latin typeface="Inter"/>
                <a:ea typeface="Inter"/>
                <a:cs typeface="Inter"/>
                <a:sym typeface="Inter"/>
              </a:endParaRPr>
            </a:p>
          </p:txBody>
        </p:sp>
        <p:grpSp>
          <p:nvGrpSpPr>
            <p:cNvPr id="614" name="Google Shape;614;p38"/>
            <p:cNvGrpSpPr/>
            <p:nvPr/>
          </p:nvGrpSpPr>
          <p:grpSpPr>
            <a:xfrm>
              <a:off x="3067050" y="3810000"/>
              <a:ext cx="152400" cy="152400"/>
              <a:chOff x="0" y="0"/>
              <a:chExt cx="152400" cy="152400"/>
            </a:xfrm>
          </p:grpSpPr>
          <p:sp>
            <p:nvSpPr>
              <p:cNvPr id="615" name="Google Shape;615;p38"/>
              <p:cNvSpPr/>
              <p:nvPr/>
            </p:nvSpPr>
            <p:spPr>
              <a:xfrm>
                <a:off x="0" y="0"/>
                <a:ext cx="152400" cy="152400"/>
              </a:xfrm>
              <a:prstGeom prst="ellipse">
                <a:avLst/>
              </a:prstGeom>
              <a:solidFill>
                <a:srgbClr val="F1F5F9"/>
              </a:solidFill>
              <a:ln w="19050" cap="flat" cmpd="sng">
                <a:solidFill>
                  <a:srgbClr val="005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6" name="Google Shape;616;p38"/>
              <p:cNvSpPr/>
              <p:nvPr/>
            </p:nvSpPr>
            <p:spPr>
              <a:xfrm>
                <a:off x="47625" y="47625"/>
                <a:ext cx="57300" cy="57300"/>
              </a:xfrm>
              <a:prstGeom prst="ellipse">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17" name="Google Shape;617;p38"/>
            <p:cNvSpPr txBox="1"/>
            <p:nvPr/>
          </p:nvSpPr>
          <p:spPr>
            <a:xfrm>
              <a:off x="3381375" y="3771900"/>
              <a:ext cx="53817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0055FF"/>
                  </a:solidFill>
                  <a:latin typeface="Roboto Mono SemiBold"/>
                  <a:ea typeface="Roboto Mono SemiBold"/>
                  <a:cs typeface="Roboto Mono SemiBold"/>
                  <a:sym typeface="Roboto Mono SemiBold"/>
                </a:rPr>
                <a:t>06</a:t>
              </a:r>
              <a:r>
                <a:rPr lang="en" sz="975" b="1">
                  <a:solidFill>
                    <a:srgbClr val="0A192F"/>
                  </a:solidFill>
                  <a:latin typeface="Inter"/>
                  <a:ea typeface="Inter"/>
                  <a:cs typeface="Inter"/>
                  <a:sym typeface="Inter"/>
                </a:rPr>
                <a:t>RAG Policy Knowledge Retrieval &amp; Sentence Grounding</a:t>
              </a:r>
              <a:endParaRPr sz="975" b="1">
                <a:solidFill>
                  <a:srgbClr val="0A192F"/>
                </a:solidFill>
                <a:latin typeface="Inter"/>
                <a:ea typeface="Inter"/>
                <a:cs typeface="Inter"/>
                <a:sym typeface="Inter"/>
              </a:endParaRPr>
            </a:p>
            <a:p>
              <a:pPr marL="228600" marR="0" lvl="0" indent="0" algn="l" rtl="0">
                <a:spcBef>
                  <a:spcPts val="150"/>
                </a:spcBef>
                <a:spcAft>
                  <a:spcPts val="0"/>
                </a:spcAft>
                <a:buNone/>
              </a:pPr>
              <a:r>
                <a:rPr lang="en" sz="825" b="0">
                  <a:solidFill>
                    <a:srgbClr val="475569"/>
                  </a:solidFill>
                  <a:latin typeface="Inter"/>
                  <a:ea typeface="Inter"/>
                  <a:cs typeface="Inter"/>
                  <a:sym typeface="Inter"/>
                </a:rPr>
                <a:t>Retrieving contextual regulatory rules and validating operational constraints</a:t>
              </a:r>
              <a:endParaRPr sz="825" b="0">
                <a:solidFill>
                  <a:srgbClr val="475569"/>
                </a:solidFill>
                <a:latin typeface="Inter"/>
                <a:ea typeface="Inter"/>
                <a:cs typeface="Inter"/>
                <a:sym typeface="Inter"/>
              </a:endParaRPr>
            </a:p>
          </p:txBody>
        </p:sp>
        <p:grpSp>
          <p:nvGrpSpPr>
            <p:cNvPr id="618" name="Google Shape;618;p38"/>
            <p:cNvGrpSpPr/>
            <p:nvPr/>
          </p:nvGrpSpPr>
          <p:grpSpPr>
            <a:xfrm>
              <a:off x="3067050" y="4305300"/>
              <a:ext cx="152400" cy="152400"/>
              <a:chOff x="0" y="0"/>
              <a:chExt cx="152400" cy="152400"/>
            </a:xfrm>
          </p:grpSpPr>
          <p:sp>
            <p:nvSpPr>
              <p:cNvPr id="619" name="Google Shape;619;p38"/>
              <p:cNvSpPr/>
              <p:nvPr/>
            </p:nvSpPr>
            <p:spPr>
              <a:xfrm>
                <a:off x="0" y="0"/>
                <a:ext cx="152400" cy="152400"/>
              </a:xfrm>
              <a:prstGeom prst="ellipse">
                <a:avLst/>
              </a:prstGeom>
              <a:solidFill>
                <a:srgbClr val="F1F5F9"/>
              </a:solidFill>
              <a:ln w="19050" cap="flat" cmpd="sng">
                <a:solidFill>
                  <a:srgbClr val="005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0" name="Google Shape;620;p38"/>
              <p:cNvSpPr/>
              <p:nvPr/>
            </p:nvSpPr>
            <p:spPr>
              <a:xfrm>
                <a:off x="47625" y="47625"/>
                <a:ext cx="57300" cy="57300"/>
              </a:xfrm>
              <a:prstGeom prst="ellipse">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21" name="Google Shape;621;p38"/>
            <p:cNvSpPr txBox="1"/>
            <p:nvPr/>
          </p:nvSpPr>
          <p:spPr>
            <a:xfrm>
              <a:off x="3381375" y="4267200"/>
              <a:ext cx="53817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0055FF"/>
                  </a:solidFill>
                  <a:latin typeface="Roboto Mono SemiBold"/>
                  <a:ea typeface="Roboto Mono SemiBold"/>
                  <a:cs typeface="Roboto Mono SemiBold"/>
                  <a:sym typeface="Roboto Mono SemiBold"/>
                </a:rPr>
                <a:t>07</a:t>
              </a:r>
              <a:r>
                <a:rPr lang="en" sz="975" b="1">
                  <a:solidFill>
                    <a:srgbClr val="0A192F"/>
                  </a:solidFill>
                  <a:latin typeface="Inter"/>
                  <a:ea typeface="Inter"/>
                  <a:cs typeface="Inter"/>
                  <a:sym typeface="Inter"/>
                </a:rPr>
                <a:t>Final Dashboard Rendering and Operator Alert System</a:t>
              </a:r>
              <a:endParaRPr sz="975" b="1">
                <a:solidFill>
                  <a:srgbClr val="0A192F"/>
                </a:solidFill>
                <a:latin typeface="Inter"/>
                <a:ea typeface="Inter"/>
                <a:cs typeface="Inter"/>
                <a:sym typeface="Inter"/>
              </a:endParaRPr>
            </a:p>
            <a:p>
              <a:pPr marL="228600" marR="0" lvl="0" indent="0" algn="l" rtl="0">
                <a:spcBef>
                  <a:spcPts val="150"/>
                </a:spcBef>
                <a:spcAft>
                  <a:spcPts val="0"/>
                </a:spcAft>
                <a:buNone/>
              </a:pPr>
              <a:r>
                <a:rPr lang="en" sz="825" b="0">
                  <a:solidFill>
                    <a:srgbClr val="475569"/>
                  </a:solidFill>
                  <a:latin typeface="Inter"/>
                  <a:ea typeface="Inter"/>
                  <a:cs typeface="Inter"/>
                  <a:sym typeface="Inter"/>
                </a:rPr>
                <a:t>Presenting real-time decisions and executing alert dispatch loops</a:t>
              </a:r>
              <a:endParaRPr sz="825" b="0">
                <a:solidFill>
                  <a:srgbClr val="475569"/>
                </a:solidFill>
                <a:latin typeface="Inter"/>
                <a:ea typeface="Inter"/>
                <a:cs typeface="Inter"/>
                <a:sym typeface="Inter"/>
              </a:endParaRPr>
            </a:p>
          </p:txBody>
        </p:sp>
      </p:grpSp>
      <p:grpSp>
        <p:nvGrpSpPr>
          <p:cNvPr id="622" name="Google Shape;622;p38"/>
          <p:cNvGrpSpPr/>
          <p:nvPr/>
        </p:nvGrpSpPr>
        <p:grpSpPr>
          <a:xfrm>
            <a:off x="8239125" y="142875"/>
            <a:ext cx="190500" cy="190500"/>
            <a:chOff x="0" y="0"/>
            <a:chExt cx="190500" cy="190500"/>
          </a:xfrm>
        </p:grpSpPr>
        <p:sp>
          <p:nvSpPr>
            <p:cNvPr id="623" name="Google Shape;623;p38"/>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4" name="Google Shape;624;p38"/>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12</a:t>
              </a:r>
              <a:endParaRPr sz="750" b="1">
                <a:solidFill>
                  <a:srgbClr val="FFFFFF"/>
                </a:solidFill>
                <a:latin typeface="Roboto Mono"/>
                <a:ea typeface="Roboto Mono"/>
                <a:cs typeface="Roboto Mono"/>
                <a:sym typeface="Roboto Mono"/>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grpSp>
        <p:nvGrpSpPr>
          <p:cNvPr id="633" name="Google Shape;633;p39"/>
          <p:cNvGrpSpPr/>
          <p:nvPr/>
        </p:nvGrpSpPr>
        <p:grpSpPr>
          <a:xfrm>
            <a:off x="381000" y="381000"/>
            <a:ext cx="8382000" cy="638250"/>
            <a:chOff x="0" y="0"/>
            <a:chExt cx="8382000" cy="638250"/>
          </a:xfrm>
        </p:grpSpPr>
        <p:sp>
          <p:nvSpPr>
            <p:cNvPr id="634" name="Google Shape;634;p39"/>
            <p:cNvSpPr txBox="1"/>
            <p:nvPr/>
          </p:nvSpPr>
          <p:spPr>
            <a:xfrm>
              <a:off x="0" y="0"/>
              <a:ext cx="8382000" cy="381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100" b="0" dirty="0">
                  <a:solidFill>
                    <a:srgbClr val="0A192F"/>
                  </a:solidFill>
                  <a:latin typeface="Inter ExtraBold"/>
                  <a:ea typeface="Inter ExtraBold"/>
                  <a:cs typeface="Inter ExtraBold"/>
                  <a:sym typeface="Inter ExtraBold"/>
                </a:rPr>
                <a:t>Materials, Methods &amp; Data Analysis</a:t>
              </a:r>
              <a:endParaRPr dirty="0"/>
            </a:p>
          </p:txBody>
        </p:sp>
        <p:sp>
          <p:nvSpPr>
            <p:cNvPr id="635" name="Google Shape;635;p39"/>
            <p:cNvSpPr txBox="1"/>
            <p:nvPr/>
          </p:nvSpPr>
          <p:spPr>
            <a:xfrm>
              <a:off x="0" y="400050"/>
              <a:ext cx="8382000" cy="2382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350" b="0">
                  <a:solidFill>
                    <a:srgbClr val="0055FF"/>
                  </a:solidFill>
                  <a:latin typeface="Inter Medium"/>
                  <a:ea typeface="Inter Medium"/>
                  <a:cs typeface="Inter Medium"/>
                  <a:sym typeface="Inter Medium"/>
                </a:rPr>
                <a:t>Models, Metrics, and Formulae</a:t>
              </a:r>
              <a:endParaRPr/>
            </a:p>
          </p:txBody>
        </p:sp>
      </p:grpSp>
      <p:grpSp>
        <p:nvGrpSpPr>
          <p:cNvPr id="639" name="Google Shape;639;p39"/>
          <p:cNvGrpSpPr/>
          <p:nvPr/>
        </p:nvGrpSpPr>
        <p:grpSpPr>
          <a:xfrm>
            <a:off x="381000" y="1428750"/>
            <a:ext cx="3905400" cy="2095575"/>
            <a:chOff x="0" y="0"/>
            <a:chExt cx="3905400" cy="2095575"/>
          </a:xfrm>
        </p:grpSpPr>
        <p:sp>
          <p:nvSpPr>
            <p:cNvPr id="640" name="Google Shape;640;p39"/>
            <p:cNvSpPr txBox="1"/>
            <p:nvPr/>
          </p:nvSpPr>
          <p:spPr>
            <a:xfrm>
              <a:off x="0" y="0"/>
              <a:ext cx="39054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25" b="0" dirty="0">
                  <a:solidFill>
                    <a:srgbClr val="0055FF"/>
                  </a:solidFill>
                  <a:latin typeface="Roboto Mono SemiBold"/>
                  <a:ea typeface="Roboto Mono SemiBold"/>
                  <a:cs typeface="Roboto Mono SemiBold"/>
                  <a:sym typeface="Roboto Mono SemiBold"/>
                </a:rPr>
                <a:t>Modeling Architectures</a:t>
              </a:r>
              <a:endParaRPr sz="825" b="0" dirty="0">
                <a:solidFill>
                  <a:srgbClr val="0055FF"/>
                </a:solidFill>
                <a:latin typeface="Roboto Mono SemiBold"/>
                <a:ea typeface="Roboto Mono SemiBold"/>
                <a:cs typeface="Roboto Mono SemiBold"/>
                <a:sym typeface="Roboto Mono SemiBold"/>
              </a:endParaRPr>
            </a:p>
          </p:txBody>
        </p:sp>
        <p:grpSp>
          <p:nvGrpSpPr>
            <p:cNvPr id="641" name="Google Shape;641;p39"/>
            <p:cNvGrpSpPr/>
            <p:nvPr/>
          </p:nvGrpSpPr>
          <p:grpSpPr>
            <a:xfrm>
              <a:off x="0" y="238125"/>
              <a:ext cx="1857300" cy="428700"/>
              <a:chOff x="0" y="0"/>
              <a:chExt cx="1857300" cy="428700"/>
            </a:xfrm>
          </p:grpSpPr>
          <p:sp>
            <p:nvSpPr>
              <p:cNvPr id="642" name="Google Shape;642;p39"/>
              <p:cNvSpPr/>
              <p:nvPr/>
            </p:nvSpPr>
            <p:spPr>
              <a:xfrm>
                <a:off x="0" y="0"/>
                <a:ext cx="1857300" cy="4287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3" name="Google Shape;643;p39"/>
              <p:cNvSpPr/>
              <p:nvPr/>
            </p:nvSpPr>
            <p:spPr>
              <a:xfrm>
                <a:off x="0" y="0"/>
                <a:ext cx="28500" cy="4287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4" name="Google Shape;644;p39"/>
              <p:cNvSpPr txBox="1"/>
              <p:nvPr/>
            </p:nvSpPr>
            <p:spPr>
              <a:xfrm>
                <a:off x="114300" y="0"/>
                <a:ext cx="16668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75" b="1">
                    <a:solidFill>
                      <a:srgbClr val="0A192F"/>
                    </a:solidFill>
                    <a:latin typeface="Inter"/>
                    <a:ea typeface="Inter"/>
                    <a:cs typeface="Inter"/>
                    <a:sym typeface="Inter"/>
                  </a:rPr>
                  <a:t>Random Forest</a:t>
                </a:r>
                <a:endParaRPr sz="975" b="1">
                  <a:solidFill>
                    <a:srgbClr val="0A192F"/>
                  </a:solidFill>
                  <a:latin typeface="Inter"/>
                  <a:ea typeface="Inter"/>
                  <a:cs typeface="Inter"/>
                  <a:sym typeface="Inter"/>
                </a:endParaRPr>
              </a:p>
            </p:txBody>
          </p:sp>
        </p:grpSp>
        <p:grpSp>
          <p:nvGrpSpPr>
            <p:cNvPr id="645" name="Google Shape;645;p39"/>
            <p:cNvGrpSpPr/>
            <p:nvPr/>
          </p:nvGrpSpPr>
          <p:grpSpPr>
            <a:xfrm>
              <a:off x="2000250" y="238125"/>
              <a:ext cx="1857300" cy="428700"/>
              <a:chOff x="0" y="0"/>
              <a:chExt cx="1857300" cy="428700"/>
            </a:xfrm>
          </p:grpSpPr>
          <p:sp>
            <p:nvSpPr>
              <p:cNvPr id="646" name="Google Shape;646;p39"/>
              <p:cNvSpPr/>
              <p:nvPr/>
            </p:nvSpPr>
            <p:spPr>
              <a:xfrm>
                <a:off x="0" y="0"/>
                <a:ext cx="1857300" cy="4287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7" name="Google Shape;647;p39"/>
              <p:cNvSpPr/>
              <p:nvPr/>
            </p:nvSpPr>
            <p:spPr>
              <a:xfrm>
                <a:off x="0" y="0"/>
                <a:ext cx="28500" cy="4287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8" name="Google Shape;648;p39"/>
              <p:cNvSpPr txBox="1"/>
              <p:nvPr/>
            </p:nvSpPr>
            <p:spPr>
              <a:xfrm>
                <a:off x="114300" y="0"/>
                <a:ext cx="16668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75" b="1">
                    <a:solidFill>
                      <a:srgbClr val="0A192F"/>
                    </a:solidFill>
                    <a:latin typeface="Inter"/>
                    <a:ea typeface="Inter"/>
                    <a:cs typeface="Inter"/>
                    <a:sym typeface="Inter"/>
                  </a:rPr>
                  <a:t>XGBoost</a:t>
                </a:r>
                <a:endParaRPr sz="975" b="1">
                  <a:solidFill>
                    <a:srgbClr val="0A192F"/>
                  </a:solidFill>
                  <a:latin typeface="Inter"/>
                  <a:ea typeface="Inter"/>
                  <a:cs typeface="Inter"/>
                  <a:sym typeface="Inter"/>
                </a:endParaRPr>
              </a:p>
            </p:txBody>
          </p:sp>
        </p:grpSp>
        <p:grpSp>
          <p:nvGrpSpPr>
            <p:cNvPr id="649" name="Google Shape;649;p39"/>
            <p:cNvGrpSpPr/>
            <p:nvPr/>
          </p:nvGrpSpPr>
          <p:grpSpPr>
            <a:xfrm>
              <a:off x="0" y="762000"/>
              <a:ext cx="1857300" cy="428700"/>
              <a:chOff x="0" y="0"/>
              <a:chExt cx="1857300" cy="428700"/>
            </a:xfrm>
          </p:grpSpPr>
          <p:sp>
            <p:nvSpPr>
              <p:cNvPr id="650" name="Google Shape;650;p39"/>
              <p:cNvSpPr/>
              <p:nvPr/>
            </p:nvSpPr>
            <p:spPr>
              <a:xfrm>
                <a:off x="0" y="0"/>
                <a:ext cx="1857300" cy="4287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1" name="Google Shape;651;p39"/>
              <p:cNvSpPr/>
              <p:nvPr/>
            </p:nvSpPr>
            <p:spPr>
              <a:xfrm>
                <a:off x="0" y="0"/>
                <a:ext cx="28500" cy="4287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2" name="Google Shape;652;p39"/>
              <p:cNvSpPr txBox="1"/>
              <p:nvPr/>
            </p:nvSpPr>
            <p:spPr>
              <a:xfrm>
                <a:off x="114300" y="0"/>
                <a:ext cx="16668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75" b="1">
                    <a:solidFill>
                      <a:srgbClr val="0A192F"/>
                    </a:solidFill>
                    <a:latin typeface="Inter"/>
                    <a:ea typeface="Inter"/>
                    <a:cs typeface="Inter"/>
                    <a:sym typeface="Inter"/>
                  </a:rPr>
                  <a:t>LightGBM</a:t>
                </a:r>
                <a:endParaRPr sz="975" b="1">
                  <a:solidFill>
                    <a:srgbClr val="0A192F"/>
                  </a:solidFill>
                  <a:latin typeface="Inter"/>
                  <a:ea typeface="Inter"/>
                  <a:cs typeface="Inter"/>
                  <a:sym typeface="Inter"/>
                </a:endParaRPr>
              </a:p>
            </p:txBody>
          </p:sp>
        </p:grpSp>
        <p:grpSp>
          <p:nvGrpSpPr>
            <p:cNvPr id="653" name="Google Shape;653;p39"/>
            <p:cNvGrpSpPr/>
            <p:nvPr/>
          </p:nvGrpSpPr>
          <p:grpSpPr>
            <a:xfrm>
              <a:off x="2000250" y="762000"/>
              <a:ext cx="1857300" cy="428700"/>
              <a:chOff x="0" y="0"/>
              <a:chExt cx="1857300" cy="428700"/>
            </a:xfrm>
          </p:grpSpPr>
          <p:sp>
            <p:nvSpPr>
              <p:cNvPr id="654" name="Google Shape;654;p39"/>
              <p:cNvSpPr/>
              <p:nvPr/>
            </p:nvSpPr>
            <p:spPr>
              <a:xfrm>
                <a:off x="0" y="0"/>
                <a:ext cx="1857300" cy="4287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5" name="Google Shape;655;p39"/>
              <p:cNvSpPr/>
              <p:nvPr/>
            </p:nvSpPr>
            <p:spPr>
              <a:xfrm>
                <a:off x="0" y="0"/>
                <a:ext cx="28500" cy="4287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6" name="Google Shape;656;p39"/>
              <p:cNvSpPr txBox="1"/>
              <p:nvPr/>
            </p:nvSpPr>
            <p:spPr>
              <a:xfrm>
                <a:off x="114300" y="0"/>
                <a:ext cx="16668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75" b="1">
                    <a:solidFill>
                      <a:srgbClr val="0A192F"/>
                    </a:solidFill>
                    <a:latin typeface="Inter"/>
                    <a:ea typeface="Inter"/>
                    <a:cs typeface="Inter"/>
                    <a:sym typeface="Inter"/>
                  </a:rPr>
                  <a:t>Deep LSTM</a:t>
                </a:r>
                <a:endParaRPr sz="975" b="1">
                  <a:solidFill>
                    <a:srgbClr val="0A192F"/>
                  </a:solidFill>
                  <a:latin typeface="Inter"/>
                  <a:ea typeface="Inter"/>
                  <a:cs typeface="Inter"/>
                  <a:sym typeface="Inter"/>
                </a:endParaRPr>
              </a:p>
            </p:txBody>
          </p:sp>
        </p:grpSp>
        <p:sp>
          <p:nvSpPr>
            <p:cNvPr id="657" name="Google Shape;657;p39"/>
            <p:cNvSpPr txBox="1"/>
            <p:nvPr/>
          </p:nvSpPr>
          <p:spPr>
            <a:xfrm>
              <a:off x="0" y="1428750"/>
              <a:ext cx="39054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25" b="0">
                  <a:solidFill>
                    <a:srgbClr val="0055FF"/>
                  </a:solidFill>
                  <a:latin typeface="Roboto Mono SemiBold"/>
                  <a:ea typeface="Roboto Mono SemiBold"/>
                  <a:cs typeface="Roboto Mono SemiBold"/>
                  <a:sym typeface="Roboto Mono SemiBold"/>
                </a:rPr>
                <a:t>Evaluation Metrics</a:t>
              </a:r>
              <a:endParaRPr sz="825" b="0">
                <a:solidFill>
                  <a:srgbClr val="0055FF"/>
                </a:solidFill>
                <a:latin typeface="Roboto Mono SemiBold"/>
                <a:ea typeface="Roboto Mono SemiBold"/>
                <a:cs typeface="Roboto Mono SemiBold"/>
                <a:sym typeface="Roboto Mono SemiBold"/>
              </a:endParaRPr>
            </a:p>
          </p:txBody>
        </p:sp>
        <p:grpSp>
          <p:nvGrpSpPr>
            <p:cNvPr id="658" name="Google Shape;658;p39"/>
            <p:cNvGrpSpPr/>
            <p:nvPr/>
          </p:nvGrpSpPr>
          <p:grpSpPr>
            <a:xfrm>
              <a:off x="0" y="1666875"/>
              <a:ext cx="876300" cy="428700"/>
              <a:chOff x="0" y="0"/>
              <a:chExt cx="876300" cy="428700"/>
            </a:xfrm>
          </p:grpSpPr>
          <p:sp>
            <p:nvSpPr>
              <p:cNvPr id="659" name="Google Shape;659;p39"/>
              <p:cNvSpPr/>
              <p:nvPr/>
            </p:nvSpPr>
            <p:spPr>
              <a:xfrm>
                <a:off x="0" y="0"/>
                <a:ext cx="876300" cy="4287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0" name="Google Shape;660;p39"/>
              <p:cNvSpPr txBox="1"/>
              <p:nvPr/>
            </p:nvSpPr>
            <p:spPr>
              <a:xfrm>
                <a:off x="0" y="0"/>
                <a:ext cx="8763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975" b="1">
                    <a:solidFill>
                      <a:srgbClr val="0A192F"/>
                    </a:solidFill>
                    <a:latin typeface="Roboto Mono"/>
                    <a:ea typeface="Roboto Mono"/>
                    <a:cs typeface="Roboto Mono"/>
                    <a:sym typeface="Roboto Mono"/>
                  </a:rPr>
                  <a:t>RMSE</a:t>
                </a:r>
                <a:endParaRPr sz="975" b="1">
                  <a:solidFill>
                    <a:srgbClr val="0A192F"/>
                  </a:solidFill>
                  <a:latin typeface="Roboto Mono"/>
                  <a:ea typeface="Roboto Mono"/>
                  <a:cs typeface="Roboto Mono"/>
                  <a:sym typeface="Roboto Mono"/>
                </a:endParaRPr>
              </a:p>
            </p:txBody>
          </p:sp>
        </p:grpSp>
        <p:grpSp>
          <p:nvGrpSpPr>
            <p:cNvPr id="661" name="Google Shape;661;p39"/>
            <p:cNvGrpSpPr/>
            <p:nvPr/>
          </p:nvGrpSpPr>
          <p:grpSpPr>
            <a:xfrm>
              <a:off x="971550" y="1666875"/>
              <a:ext cx="876300" cy="428700"/>
              <a:chOff x="0" y="0"/>
              <a:chExt cx="876300" cy="428700"/>
            </a:xfrm>
          </p:grpSpPr>
          <p:sp>
            <p:nvSpPr>
              <p:cNvPr id="662" name="Google Shape;662;p39"/>
              <p:cNvSpPr/>
              <p:nvPr/>
            </p:nvSpPr>
            <p:spPr>
              <a:xfrm>
                <a:off x="0" y="0"/>
                <a:ext cx="876300" cy="4287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3" name="Google Shape;663;p39"/>
              <p:cNvSpPr txBox="1"/>
              <p:nvPr/>
            </p:nvSpPr>
            <p:spPr>
              <a:xfrm>
                <a:off x="0" y="0"/>
                <a:ext cx="8763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975" b="1">
                    <a:solidFill>
                      <a:srgbClr val="0A192F"/>
                    </a:solidFill>
                    <a:latin typeface="Roboto Mono"/>
                    <a:ea typeface="Roboto Mono"/>
                    <a:cs typeface="Roboto Mono"/>
                    <a:sym typeface="Roboto Mono"/>
                  </a:rPr>
                  <a:t>MAE</a:t>
                </a:r>
                <a:endParaRPr sz="975" b="1">
                  <a:solidFill>
                    <a:srgbClr val="0A192F"/>
                  </a:solidFill>
                  <a:latin typeface="Roboto Mono"/>
                  <a:ea typeface="Roboto Mono"/>
                  <a:cs typeface="Roboto Mono"/>
                  <a:sym typeface="Roboto Mono"/>
                </a:endParaRPr>
              </a:p>
            </p:txBody>
          </p:sp>
        </p:grpSp>
        <p:grpSp>
          <p:nvGrpSpPr>
            <p:cNvPr id="664" name="Google Shape;664;p39"/>
            <p:cNvGrpSpPr/>
            <p:nvPr/>
          </p:nvGrpSpPr>
          <p:grpSpPr>
            <a:xfrm>
              <a:off x="1943100" y="1666875"/>
              <a:ext cx="876300" cy="428700"/>
              <a:chOff x="0" y="0"/>
              <a:chExt cx="876300" cy="428700"/>
            </a:xfrm>
          </p:grpSpPr>
          <p:sp>
            <p:nvSpPr>
              <p:cNvPr id="665" name="Google Shape;665;p39"/>
              <p:cNvSpPr/>
              <p:nvPr/>
            </p:nvSpPr>
            <p:spPr>
              <a:xfrm>
                <a:off x="0" y="0"/>
                <a:ext cx="876300" cy="4287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6" name="Google Shape;666;p39"/>
              <p:cNvSpPr txBox="1"/>
              <p:nvPr/>
            </p:nvSpPr>
            <p:spPr>
              <a:xfrm>
                <a:off x="0" y="0"/>
                <a:ext cx="8763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975" b="1">
                    <a:solidFill>
                      <a:srgbClr val="0A192F"/>
                    </a:solidFill>
                    <a:latin typeface="Roboto Mono"/>
                    <a:ea typeface="Roboto Mono"/>
                    <a:cs typeface="Roboto Mono"/>
                    <a:sym typeface="Roboto Mono"/>
                  </a:rPr>
                  <a:t>MAPE</a:t>
                </a:r>
                <a:endParaRPr sz="975" b="1">
                  <a:solidFill>
                    <a:srgbClr val="0A192F"/>
                  </a:solidFill>
                  <a:latin typeface="Roboto Mono"/>
                  <a:ea typeface="Roboto Mono"/>
                  <a:cs typeface="Roboto Mono"/>
                  <a:sym typeface="Roboto Mono"/>
                </a:endParaRPr>
              </a:p>
            </p:txBody>
          </p:sp>
        </p:grpSp>
        <p:grpSp>
          <p:nvGrpSpPr>
            <p:cNvPr id="667" name="Google Shape;667;p39"/>
            <p:cNvGrpSpPr/>
            <p:nvPr/>
          </p:nvGrpSpPr>
          <p:grpSpPr>
            <a:xfrm>
              <a:off x="2914650" y="1666875"/>
              <a:ext cx="942900" cy="428700"/>
              <a:chOff x="0" y="0"/>
              <a:chExt cx="942900" cy="428700"/>
            </a:xfrm>
          </p:grpSpPr>
          <p:sp>
            <p:nvSpPr>
              <p:cNvPr id="668" name="Google Shape;668;p39"/>
              <p:cNvSpPr/>
              <p:nvPr/>
            </p:nvSpPr>
            <p:spPr>
              <a:xfrm>
                <a:off x="0" y="0"/>
                <a:ext cx="942900" cy="4287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9" name="Google Shape;669;p39"/>
              <p:cNvSpPr txBox="1"/>
              <p:nvPr/>
            </p:nvSpPr>
            <p:spPr>
              <a:xfrm>
                <a:off x="0" y="0"/>
                <a:ext cx="942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975" b="1">
                    <a:solidFill>
                      <a:srgbClr val="0A192F"/>
                    </a:solidFill>
                    <a:latin typeface="Roboto Mono"/>
                    <a:ea typeface="Roboto Mono"/>
                    <a:cs typeface="Roboto Mono"/>
                    <a:sym typeface="Roboto Mono"/>
                  </a:rPr>
                  <a:t>R²</a:t>
                </a:r>
                <a:endParaRPr sz="975" b="1">
                  <a:solidFill>
                    <a:srgbClr val="0A192F"/>
                  </a:solidFill>
                  <a:latin typeface="Roboto Mono"/>
                  <a:ea typeface="Roboto Mono"/>
                  <a:cs typeface="Roboto Mono"/>
                  <a:sym typeface="Roboto Mono"/>
                </a:endParaRPr>
              </a:p>
            </p:txBody>
          </p:sp>
        </p:grpSp>
      </p:grpSp>
      <p:grpSp>
        <p:nvGrpSpPr>
          <p:cNvPr id="670" name="Google Shape;670;p39"/>
          <p:cNvGrpSpPr/>
          <p:nvPr/>
        </p:nvGrpSpPr>
        <p:grpSpPr>
          <a:xfrm>
            <a:off x="4667250" y="1428750"/>
            <a:ext cx="4095900" cy="3048075"/>
            <a:chOff x="0" y="0"/>
            <a:chExt cx="4095900" cy="3048075"/>
          </a:xfrm>
        </p:grpSpPr>
        <p:sp>
          <p:nvSpPr>
            <p:cNvPr id="671" name="Google Shape;671;p39"/>
            <p:cNvSpPr txBox="1"/>
            <p:nvPr/>
          </p:nvSpPr>
          <p:spPr>
            <a:xfrm>
              <a:off x="0" y="0"/>
              <a:ext cx="40959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25" b="0">
                  <a:solidFill>
                    <a:srgbClr val="0055FF"/>
                  </a:solidFill>
                  <a:latin typeface="Roboto Mono SemiBold"/>
                  <a:ea typeface="Roboto Mono SemiBold"/>
                  <a:cs typeface="Roboto Mono SemiBold"/>
                  <a:sym typeface="Roboto Mono SemiBold"/>
                </a:rPr>
                <a:t>Probabilistic Calibration</a:t>
              </a:r>
              <a:endParaRPr sz="825" b="0">
                <a:solidFill>
                  <a:srgbClr val="0055FF"/>
                </a:solidFill>
                <a:latin typeface="Roboto Mono SemiBold"/>
                <a:ea typeface="Roboto Mono SemiBold"/>
                <a:cs typeface="Roboto Mono SemiBold"/>
                <a:sym typeface="Roboto Mono SemiBold"/>
              </a:endParaRPr>
            </a:p>
          </p:txBody>
        </p:sp>
        <p:sp>
          <p:nvSpPr>
            <p:cNvPr id="672" name="Google Shape;672;p39"/>
            <p:cNvSpPr txBox="1"/>
            <p:nvPr/>
          </p:nvSpPr>
          <p:spPr>
            <a:xfrm>
              <a:off x="0" y="238125"/>
              <a:ext cx="40959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38" b="0">
                  <a:solidFill>
                    <a:srgbClr val="475569"/>
                  </a:solidFill>
                  <a:latin typeface="Inter"/>
                  <a:ea typeface="Inter"/>
                  <a:cs typeface="Inter"/>
                  <a:sym typeface="Inter"/>
                </a:rPr>
                <a:t>Leverages bootstrapped residuals to generate robust, multi-tier confidence bounds for uncertainty estimation.</a:t>
              </a:r>
              <a:endParaRPr sz="938" b="0">
                <a:solidFill>
                  <a:srgbClr val="475569"/>
                </a:solidFill>
                <a:latin typeface="Inter"/>
                <a:ea typeface="Inter"/>
                <a:cs typeface="Inter"/>
                <a:sym typeface="Inter"/>
              </a:endParaRPr>
            </a:p>
          </p:txBody>
        </p:sp>
        <p:grpSp>
          <p:nvGrpSpPr>
            <p:cNvPr id="673" name="Google Shape;673;p39"/>
            <p:cNvGrpSpPr/>
            <p:nvPr/>
          </p:nvGrpSpPr>
          <p:grpSpPr>
            <a:xfrm>
              <a:off x="0" y="714375"/>
              <a:ext cx="1238400" cy="523800"/>
              <a:chOff x="0" y="0"/>
              <a:chExt cx="1238400" cy="523800"/>
            </a:xfrm>
          </p:grpSpPr>
          <p:sp>
            <p:nvSpPr>
              <p:cNvPr id="674" name="Google Shape;674;p39"/>
              <p:cNvSpPr/>
              <p:nvPr/>
            </p:nvSpPr>
            <p:spPr>
              <a:xfrm>
                <a:off x="0" y="0"/>
                <a:ext cx="1238400" cy="5238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6" name="Google Shape;676;p39"/>
              <p:cNvSpPr txBox="1"/>
              <p:nvPr/>
            </p:nvSpPr>
            <p:spPr>
              <a:xfrm>
                <a:off x="114300" y="47625"/>
                <a:ext cx="10953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200" b="1">
                    <a:solidFill>
                      <a:srgbClr val="0A192F"/>
                    </a:solidFill>
                    <a:latin typeface="Roboto Mono"/>
                    <a:ea typeface="Roboto Mono"/>
                    <a:cs typeface="Roboto Mono"/>
                    <a:sym typeface="Roboto Mono"/>
                  </a:rPr>
                  <a:t>90%</a:t>
                </a:r>
                <a:endParaRPr sz="1200" b="1">
                  <a:solidFill>
                    <a:srgbClr val="0A192F"/>
                  </a:solidFill>
                  <a:latin typeface="Roboto Mono"/>
                  <a:ea typeface="Roboto Mono"/>
                  <a:cs typeface="Roboto Mono"/>
                  <a:sym typeface="Roboto Mono"/>
                </a:endParaRPr>
              </a:p>
              <a:p>
                <a:pPr marL="0" lvl="0" indent="0" algn="l" rtl="0">
                  <a:spcBef>
                    <a:spcPts val="0"/>
                  </a:spcBef>
                  <a:spcAft>
                    <a:spcPts val="0"/>
                  </a:spcAft>
                  <a:buNone/>
                </a:pPr>
                <a:r>
                  <a:rPr lang="en" sz="750" b="0">
                    <a:solidFill>
                      <a:srgbClr val="475569"/>
                    </a:solidFill>
                    <a:latin typeface="Inter"/>
                    <a:ea typeface="Inter"/>
                    <a:cs typeface="Inter"/>
                    <a:sym typeface="Inter"/>
                  </a:rPr>
                  <a:t>Confidence</a:t>
                </a:r>
                <a:endParaRPr sz="750" b="0">
                  <a:solidFill>
                    <a:srgbClr val="475569"/>
                  </a:solidFill>
                  <a:latin typeface="Inter"/>
                  <a:ea typeface="Inter"/>
                  <a:cs typeface="Inter"/>
                  <a:sym typeface="Inter"/>
                </a:endParaRPr>
              </a:p>
            </p:txBody>
          </p:sp>
        </p:grpSp>
        <p:grpSp>
          <p:nvGrpSpPr>
            <p:cNvPr id="677" name="Google Shape;677;p39"/>
            <p:cNvGrpSpPr/>
            <p:nvPr/>
          </p:nvGrpSpPr>
          <p:grpSpPr>
            <a:xfrm>
              <a:off x="1381125" y="714375"/>
              <a:ext cx="1238400" cy="523800"/>
              <a:chOff x="0" y="0"/>
              <a:chExt cx="1238400" cy="523800"/>
            </a:xfrm>
          </p:grpSpPr>
          <p:sp>
            <p:nvSpPr>
              <p:cNvPr id="678" name="Google Shape;678;p39"/>
              <p:cNvSpPr/>
              <p:nvPr/>
            </p:nvSpPr>
            <p:spPr>
              <a:xfrm>
                <a:off x="0" y="0"/>
                <a:ext cx="1238400" cy="5238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0" name="Google Shape;680;p39"/>
              <p:cNvSpPr txBox="1"/>
              <p:nvPr/>
            </p:nvSpPr>
            <p:spPr>
              <a:xfrm>
                <a:off x="114300" y="47625"/>
                <a:ext cx="10953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200" b="1">
                    <a:solidFill>
                      <a:srgbClr val="0A192F"/>
                    </a:solidFill>
                    <a:latin typeface="Roboto Mono"/>
                    <a:ea typeface="Roboto Mono"/>
                    <a:cs typeface="Roboto Mono"/>
                    <a:sym typeface="Roboto Mono"/>
                  </a:rPr>
                  <a:t>95%</a:t>
                </a:r>
                <a:endParaRPr sz="1200" b="1">
                  <a:solidFill>
                    <a:srgbClr val="0A192F"/>
                  </a:solidFill>
                  <a:latin typeface="Roboto Mono"/>
                  <a:ea typeface="Roboto Mono"/>
                  <a:cs typeface="Roboto Mono"/>
                  <a:sym typeface="Roboto Mono"/>
                </a:endParaRPr>
              </a:p>
              <a:p>
                <a:pPr marL="0" lvl="0" indent="0" algn="l" rtl="0">
                  <a:spcBef>
                    <a:spcPts val="0"/>
                  </a:spcBef>
                  <a:spcAft>
                    <a:spcPts val="0"/>
                  </a:spcAft>
                  <a:buNone/>
                </a:pPr>
                <a:r>
                  <a:rPr lang="en" sz="750" b="0">
                    <a:solidFill>
                      <a:srgbClr val="475569"/>
                    </a:solidFill>
                    <a:latin typeface="Inter"/>
                    <a:ea typeface="Inter"/>
                    <a:cs typeface="Inter"/>
                    <a:sym typeface="Inter"/>
                  </a:rPr>
                  <a:t>Confidence</a:t>
                </a:r>
                <a:endParaRPr sz="750" b="0">
                  <a:solidFill>
                    <a:srgbClr val="475569"/>
                  </a:solidFill>
                  <a:latin typeface="Inter"/>
                  <a:ea typeface="Inter"/>
                  <a:cs typeface="Inter"/>
                  <a:sym typeface="Inter"/>
                </a:endParaRPr>
              </a:p>
            </p:txBody>
          </p:sp>
        </p:grpSp>
        <p:grpSp>
          <p:nvGrpSpPr>
            <p:cNvPr id="681" name="Google Shape;681;p39"/>
            <p:cNvGrpSpPr/>
            <p:nvPr/>
          </p:nvGrpSpPr>
          <p:grpSpPr>
            <a:xfrm>
              <a:off x="2762250" y="714375"/>
              <a:ext cx="1333500" cy="523800"/>
              <a:chOff x="0" y="0"/>
              <a:chExt cx="1333500" cy="523800"/>
            </a:xfrm>
          </p:grpSpPr>
          <p:sp>
            <p:nvSpPr>
              <p:cNvPr id="682" name="Google Shape;682;p39"/>
              <p:cNvSpPr/>
              <p:nvPr/>
            </p:nvSpPr>
            <p:spPr>
              <a:xfrm>
                <a:off x="0" y="0"/>
                <a:ext cx="1333500" cy="5238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4" name="Google Shape;684;p39"/>
              <p:cNvSpPr txBox="1"/>
              <p:nvPr/>
            </p:nvSpPr>
            <p:spPr>
              <a:xfrm>
                <a:off x="114300" y="47625"/>
                <a:ext cx="11907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200" b="1">
                    <a:solidFill>
                      <a:srgbClr val="0A192F"/>
                    </a:solidFill>
                    <a:latin typeface="Roboto Mono"/>
                    <a:ea typeface="Roboto Mono"/>
                    <a:cs typeface="Roboto Mono"/>
                    <a:sym typeface="Roboto Mono"/>
                  </a:rPr>
                  <a:t>99%</a:t>
                </a:r>
                <a:endParaRPr sz="1200" b="1">
                  <a:solidFill>
                    <a:srgbClr val="0A192F"/>
                  </a:solidFill>
                  <a:latin typeface="Roboto Mono"/>
                  <a:ea typeface="Roboto Mono"/>
                  <a:cs typeface="Roboto Mono"/>
                  <a:sym typeface="Roboto Mono"/>
                </a:endParaRPr>
              </a:p>
              <a:p>
                <a:pPr marL="0" lvl="0" indent="0" algn="l" rtl="0">
                  <a:spcBef>
                    <a:spcPts val="0"/>
                  </a:spcBef>
                  <a:spcAft>
                    <a:spcPts val="0"/>
                  </a:spcAft>
                  <a:buNone/>
                </a:pPr>
                <a:r>
                  <a:rPr lang="en" sz="750" b="0">
                    <a:solidFill>
                      <a:srgbClr val="475569"/>
                    </a:solidFill>
                    <a:latin typeface="Inter"/>
                    <a:ea typeface="Inter"/>
                    <a:cs typeface="Inter"/>
                    <a:sym typeface="Inter"/>
                  </a:rPr>
                  <a:t>Confidence</a:t>
                </a:r>
                <a:endParaRPr sz="750" b="0">
                  <a:solidFill>
                    <a:srgbClr val="475569"/>
                  </a:solidFill>
                  <a:latin typeface="Inter"/>
                  <a:ea typeface="Inter"/>
                  <a:cs typeface="Inter"/>
                  <a:sym typeface="Inter"/>
                </a:endParaRPr>
              </a:p>
            </p:txBody>
          </p:sp>
        </p:grpSp>
        <p:sp>
          <p:nvSpPr>
            <p:cNvPr id="685" name="Google Shape;685;p39"/>
            <p:cNvSpPr txBox="1"/>
            <p:nvPr/>
          </p:nvSpPr>
          <p:spPr>
            <a:xfrm>
              <a:off x="0" y="1428750"/>
              <a:ext cx="40959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25" b="0">
                  <a:solidFill>
                    <a:srgbClr val="FF5500"/>
                  </a:solidFill>
                  <a:latin typeface="Roboto Mono SemiBold"/>
                  <a:ea typeface="Roboto Mono SemiBold"/>
                  <a:cs typeface="Roboto Mono SemiBold"/>
                  <a:sym typeface="Roboto Mono SemiBold"/>
                </a:rPr>
                <a:t>Gap Mechanics</a:t>
              </a:r>
              <a:endParaRPr sz="825" b="0">
                <a:solidFill>
                  <a:srgbClr val="FF5500"/>
                </a:solidFill>
                <a:latin typeface="Roboto Mono SemiBold"/>
                <a:ea typeface="Roboto Mono SemiBold"/>
                <a:cs typeface="Roboto Mono SemiBold"/>
                <a:sym typeface="Roboto Mono SemiBold"/>
              </a:endParaRPr>
            </a:p>
          </p:txBody>
        </p:sp>
        <p:grpSp>
          <p:nvGrpSpPr>
            <p:cNvPr id="686" name="Google Shape;686;p39"/>
            <p:cNvGrpSpPr/>
            <p:nvPr/>
          </p:nvGrpSpPr>
          <p:grpSpPr>
            <a:xfrm>
              <a:off x="0" y="1666875"/>
              <a:ext cx="4095900" cy="428700"/>
              <a:chOff x="0" y="0"/>
              <a:chExt cx="4095900" cy="428700"/>
            </a:xfrm>
          </p:grpSpPr>
          <p:sp>
            <p:nvSpPr>
              <p:cNvPr id="687" name="Google Shape;687;p39"/>
              <p:cNvSpPr/>
              <p:nvPr/>
            </p:nvSpPr>
            <p:spPr>
              <a:xfrm>
                <a:off x="0" y="0"/>
                <a:ext cx="4095900" cy="428700"/>
              </a:xfrm>
              <a:prstGeom prst="rect">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9" name="Google Shape;689;p39"/>
              <p:cNvSpPr txBox="1"/>
              <p:nvPr/>
            </p:nvSpPr>
            <p:spPr>
              <a:xfrm>
                <a:off x="142875" y="0"/>
                <a:ext cx="3810000" cy="428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endParaRPr lang="en" sz="900" b="1" dirty="0">
                  <a:solidFill>
                    <a:srgbClr val="FFFFFF"/>
                  </a:solidFill>
                  <a:latin typeface="Roboto Mono"/>
                  <a:ea typeface="Roboto Mono"/>
                  <a:cs typeface="Roboto Mono"/>
                  <a:sym typeface="Roboto Mono"/>
                </a:endParaRPr>
              </a:p>
              <a:p>
                <a:pPr marL="0" lvl="0" indent="0" algn="ctr" rtl="0">
                  <a:spcBef>
                    <a:spcPts val="0"/>
                  </a:spcBef>
                  <a:spcAft>
                    <a:spcPts val="0"/>
                  </a:spcAft>
                  <a:buNone/>
                </a:pPr>
                <a:r>
                  <a:rPr lang="en" sz="900" b="1" dirty="0">
                    <a:solidFill>
                      <a:srgbClr val="FFFFFF"/>
                    </a:solidFill>
                    <a:latin typeface="Roboto Mono"/>
                    <a:ea typeface="Roboto Mono"/>
                    <a:cs typeface="Roboto Mono"/>
                    <a:sym typeface="Roboto Mono"/>
                  </a:rPr>
                  <a:t>Gap = Predicted Demand - Predicted Supply</a:t>
                </a:r>
                <a:endParaRPr dirty="0"/>
              </a:p>
            </p:txBody>
          </p:sp>
        </p:grpSp>
        <p:grpSp>
          <p:nvGrpSpPr>
            <p:cNvPr id="690" name="Google Shape;690;p39"/>
            <p:cNvGrpSpPr/>
            <p:nvPr/>
          </p:nvGrpSpPr>
          <p:grpSpPr>
            <a:xfrm>
              <a:off x="0" y="2238375"/>
              <a:ext cx="2000100" cy="809700"/>
              <a:chOff x="0" y="0"/>
              <a:chExt cx="2000100" cy="809700"/>
            </a:xfrm>
          </p:grpSpPr>
          <p:sp>
            <p:nvSpPr>
              <p:cNvPr id="691" name="Google Shape;691;p39"/>
              <p:cNvSpPr/>
              <p:nvPr/>
            </p:nvSpPr>
            <p:spPr>
              <a:xfrm>
                <a:off x="0" y="0"/>
                <a:ext cx="2000100" cy="809700"/>
              </a:xfrm>
              <a:prstGeom prst="rect">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3" name="Google Shape;693;p39"/>
              <p:cNvSpPr txBox="1"/>
              <p:nvPr/>
            </p:nvSpPr>
            <p:spPr>
              <a:xfrm>
                <a:off x="142875" y="95250"/>
                <a:ext cx="17622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25" b="1">
                    <a:solidFill>
                      <a:srgbClr val="FF5500"/>
                    </a:solidFill>
                    <a:latin typeface="Roboto Mono"/>
                    <a:ea typeface="Roboto Mono"/>
                    <a:cs typeface="Roboto Mono"/>
                    <a:sym typeface="Roboto Mono"/>
                  </a:rPr>
                  <a:t>POSITIVE GAP (+)</a:t>
                </a:r>
                <a:endParaRPr sz="825" b="1">
                  <a:solidFill>
                    <a:srgbClr val="FF5500"/>
                  </a:solidFill>
                  <a:latin typeface="Roboto Mono"/>
                  <a:ea typeface="Roboto Mono"/>
                  <a:cs typeface="Roboto Mono"/>
                  <a:sym typeface="Roboto Mono"/>
                </a:endParaRPr>
              </a:p>
              <a:p>
                <a:pPr marL="0" lvl="0" indent="0" algn="l" rtl="0">
                  <a:spcBef>
                    <a:spcPts val="300"/>
                  </a:spcBef>
                  <a:spcAft>
                    <a:spcPts val="0"/>
                  </a:spcAft>
                  <a:buNone/>
                </a:pPr>
                <a:r>
                  <a:rPr lang="en" sz="900" b="0">
                    <a:solidFill>
                      <a:srgbClr val="0A192F"/>
                    </a:solidFill>
                    <a:latin typeface="Inter SemiBold"/>
                    <a:ea typeface="Inter SemiBold"/>
                    <a:cs typeface="Inter SemiBold"/>
                    <a:sym typeface="Inter SemiBold"/>
                  </a:rPr>
                  <a:t>Power Shortage Risk</a:t>
                </a:r>
                <a:endParaRPr sz="900" b="0">
                  <a:solidFill>
                    <a:srgbClr val="0A192F"/>
                  </a:solidFill>
                  <a:latin typeface="Inter SemiBold"/>
                  <a:ea typeface="Inter SemiBold"/>
                  <a:cs typeface="Inter SemiBold"/>
                  <a:sym typeface="Inter SemiBold"/>
                </a:endParaRPr>
              </a:p>
              <a:p>
                <a:pPr marL="0" lvl="0" indent="0" algn="l" rtl="0">
                  <a:spcBef>
                    <a:spcPts val="225"/>
                  </a:spcBef>
                  <a:spcAft>
                    <a:spcPts val="0"/>
                  </a:spcAft>
                  <a:buNone/>
                </a:pPr>
                <a:r>
                  <a:rPr lang="en" sz="825" b="0">
                    <a:solidFill>
                      <a:srgbClr val="475569"/>
                    </a:solidFill>
                    <a:latin typeface="Inter"/>
                    <a:ea typeface="Inter"/>
                    <a:cs typeface="Inter"/>
                    <a:sym typeface="Inter"/>
                  </a:rPr>
                  <a:t>Forecasted demand exceeds generation capacity.</a:t>
                </a:r>
                <a:endParaRPr sz="825" b="0">
                  <a:solidFill>
                    <a:srgbClr val="475569"/>
                  </a:solidFill>
                  <a:latin typeface="Inter"/>
                  <a:ea typeface="Inter"/>
                  <a:cs typeface="Inter"/>
                  <a:sym typeface="Inter"/>
                </a:endParaRPr>
              </a:p>
            </p:txBody>
          </p:sp>
        </p:grpSp>
        <p:grpSp>
          <p:nvGrpSpPr>
            <p:cNvPr id="694" name="Google Shape;694;p39"/>
            <p:cNvGrpSpPr/>
            <p:nvPr/>
          </p:nvGrpSpPr>
          <p:grpSpPr>
            <a:xfrm>
              <a:off x="2095500" y="2238375"/>
              <a:ext cx="2000100" cy="809700"/>
              <a:chOff x="0" y="0"/>
              <a:chExt cx="2000100" cy="809700"/>
            </a:xfrm>
          </p:grpSpPr>
          <p:sp>
            <p:nvSpPr>
              <p:cNvPr id="695" name="Google Shape;695;p39"/>
              <p:cNvSpPr/>
              <p:nvPr/>
            </p:nvSpPr>
            <p:spPr>
              <a:xfrm>
                <a:off x="0" y="0"/>
                <a:ext cx="2000100" cy="809700"/>
              </a:xfrm>
              <a:prstGeom prst="rect">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7" name="Google Shape;697;p39"/>
              <p:cNvSpPr txBox="1"/>
              <p:nvPr/>
            </p:nvSpPr>
            <p:spPr>
              <a:xfrm>
                <a:off x="142875" y="95250"/>
                <a:ext cx="17622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25" b="1">
                    <a:solidFill>
                      <a:srgbClr val="0055FF"/>
                    </a:solidFill>
                    <a:latin typeface="Roboto Mono"/>
                    <a:ea typeface="Roboto Mono"/>
                    <a:cs typeface="Roboto Mono"/>
                    <a:sym typeface="Roboto Mono"/>
                  </a:rPr>
                  <a:t>NEGATIVE GAP (-)</a:t>
                </a:r>
                <a:endParaRPr sz="825" b="1">
                  <a:solidFill>
                    <a:srgbClr val="0055FF"/>
                  </a:solidFill>
                  <a:latin typeface="Roboto Mono"/>
                  <a:ea typeface="Roboto Mono"/>
                  <a:cs typeface="Roboto Mono"/>
                  <a:sym typeface="Roboto Mono"/>
                </a:endParaRPr>
              </a:p>
              <a:p>
                <a:pPr marL="0" lvl="0" indent="0" algn="l" rtl="0">
                  <a:spcBef>
                    <a:spcPts val="300"/>
                  </a:spcBef>
                  <a:spcAft>
                    <a:spcPts val="0"/>
                  </a:spcAft>
                  <a:buNone/>
                </a:pPr>
                <a:r>
                  <a:rPr lang="en" sz="900" b="0">
                    <a:solidFill>
                      <a:srgbClr val="0A192F"/>
                    </a:solidFill>
                    <a:latin typeface="Inter SemiBold"/>
                    <a:ea typeface="Inter SemiBold"/>
                    <a:cs typeface="Inter SemiBold"/>
                    <a:sym typeface="Inter SemiBold"/>
                  </a:rPr>
                  <a:t>Energy Surplus</a:t>
                </a:r>
                <a:endParaRPr sz="900" b="0">
                  <a:solidFill>
                    <a:srgbClr val="0A192F"/>
                  </a:solidFill>
                  <a:latin typeface="Inter SemiBold"/>
                  <a:ea typeface="Inter SemiBold"/>
                  <a:cs typeface="Inter SemiBold"/>
                  <a:sym typeface="Inter SemiBold"/>
                </a:endParaRPr>
              </a:p>
              <a:p>
                <a:pPr marL="0" lvl="0" indent="0" algn="l" rtl="0">
                  <a:spcBef>
                    <a:spcPts val="225"/>
                  </a:spcBef>
                  <a:spcAft>
                    <a:spcPts val="0"/>
                  </a:spcAft>
                  <a:buNone/>
                </a:pPr>
                <a:r>
                  <a:rPr lang="en" sz="825" b="0">
                    <a:solidFill>
                      <a:srgbClr val="475569"/>
                    </a:solidFill>
                    <a:latin typeface="Inter"/>
                    <a:ea typeface="Inter"/>
                    <a:cs typeface="Inter"/>
                    <a:sym typeface="Inter"/>
                  </a:rPr>
                  <a:t>Over-generation relative to system load demand.</a:t>
                </a:r>
                <a:endParaRPr sz="825" b="0">
                  <a:solidFill>
                    <a:srgbClr val="475569"/>
                  </a:solidFill>
                  <a:latin typeface="Inter"/>
                  <a:ea typeface="Inter"/>
                  <a:cs typeface="Inter"/>
                  <a:sym typeface="Inter"/>
                </a:endParaRPr>
              </a:p>
            </p:txBody>
          </p:sp>
        </p:grpSp>
      </p:grpSp>
      <p:grpSp>
        <p:nvGrpSpPr>
          <p:cNvPr id="698" name="Google Shape;698;p39"/>
          <p:cNvGrpSpPr/>
          <p:nvPr/>
        </p:nvGrpSpPr>
        <p:grpSpPr>
          <a:xfrm>
            <a:off x="8239125" y="142875"/>
            <a:ext cx="190500" cy="190500"/>
            <a:chOff x="0" y="0"/>
            <a:chExt cx="190500" cy="190500"/>
          </a:xfrm>
        </p:grpSpPr>
        <p:sp>
          <p:nvSpPr>
            <p:cNvPr id="699" name="Google Shape;699;p39"/>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00" name="Google Shape;700;p39"/>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13</a:t>
              </a:r>
              <a:endParaRPr sz="750" b="1">
                <a:solidFill>
                  <a:srgbClr val="FFFFFF"/>
                </a:solidFill>
                <a:latin typeface="Roboto Mono"/>
                <a:ea typeface="Roboto Mono"/>
                <a:cs typeface="Roboto Mono"/>
                <a:sym typeface="Roboto Mon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grpSp>
        <p:nvGrpSpPr>
          <p:cNvPr id="708" name="Google Shape;708;p40"/>
          <p:cNvGrpSpPr/>
          <p:nvPr/>
        </p:nvGrpSpPr>
        <p:grpSpPr>
          <a:xfrm>
            <a:off x="381000" y="381000"/>
            <a:ext cx="8382000" cy="838350"/>
            <a:chOff x="0" y="0"/>
            <a:chExt cx="8382000" cy="838350"/>
          </a:xfrm>
        </p:grpSpPr>
        <p:sp>
          <p:nvSpPr>
            <p:cNvPr id="709" name="Google Shape;709;p40"/>
            <p:cNvSpPr txBox="1"/>
            <p:nvPr/>
          </p:nvSpPr>
          <p:spPr>
            <a:xfrm>
              <a:off x="0" y="0"/>
              <a:ext cx="83820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100" b="0">
                  <a:solidFill>
                    <a:srgbClr val="0A192F"/>
                  </a:solidFill>
                  <a:latin typeface="Inter ExtraBold"/>
                  <a:ea typeface="Inter ExtraBold"/>
                  <a:cs typeface="Inter ExtraBold"/>
                  <a:sym typeface="Inter ExtraBold"/>
                </a:rPr>
                <a:t>Validation, Timeline &amp; Budget</a:t>
              </a:r>
              <a:endParaRPr/>
            </a:p>
          </p:txBody>
        </p:sp>
        <p:sp>
          <p:nvSpPr>
            <p:cNvPr id="710" name="Google Shape;710;p40"/>
            <p:cNvSpPr txBox="1"/>
            <p:nvPr/>
          </p:nvSpPr>
          <p:spPr>
            <a:xfrm>
              <a:off x="0" y="428625"/>
              <a:ext cx="83820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50" b="0">
                  <a:solidFill>
                    <a:srgbClr val="0055FF"/>
                  </a:solidFill>
                  <a:latin typeface="Inter Medium"/>
                  <a:ea typeface="Inter Medium"/>
                  <a:cs typeface="Inter Medium"/>
                  <a:sym typeface="Inter Medium"/>
                </a:rPr>
                <a:t>Performance Validation and Project Management</a:t>
              </a:r>
              <a:endParaRPr/>
            </a:p>
          </p:txBody>
        </p:sp>
        <p:grpSp>
          <p:nvGrpSpPr>
            <p:cNvPr id="711" name="Google Shape;711;p40"/>
            <p:cNvGrpSpPr/>
            <p:nvPr/>
          </p:nvGrpSpPr>
          <p:grpSpPr>
            <a:xfrm>
              <a:off x="0" y="781050"/>
              <a:ext cx="1009800" cy="57300"/>
              <a:chOff x="0" y="-28575"/>
              <a:chExt cx="1009800" cy="57300"/>
            </a:xfrm>
          </p:grpSpPr>
          <p:cxnSp>
            <p:nvCxnSpPr>
              <p:cNvPr id="712" name="Google Shape;712;p40"/>
              <p:cNvCxnSpPr/>
              <p:nvPr/>
            </p:nvCxnSpPr>
            <p:spPr>
              <a:xfrm>
                <a:off x="0" y="0"/>
                <a:ext cx="952500" cy="0"/>
              </a:xfrm>
              <a:prstGeom prst="straightConnector1">
                <a:avLst/>
              </a:prstGeom>
              <a:solidFill>
                <a:srgbClr val="FFFFFF"/>
              </a:solidFill>
              <a:ln w="28575" cap="flat" cmpd="sng">
                <a:solidFill>
                  <a:srgbClr val="0055FF"/>
                </a:solidFill>
                <a:prstDash val="solid"/>
                <a:round/>
                <a:headEnd type="none" w="sm" len="sm"/>
                <a:tailEnd type="none" w="sm" len="sm"/>
              </a:ln>
            </p:spPr>
          </p:cxnSp>
          <p:sp>
            <p:nvSpPr>
              <p:cNvPr id="713" name="Google Shape;713;p40"/>
              <p:cNvSpPr/>
              <p:nvPr/>
            </p:nvSpPr>
            <p:spPr>
              <a:xfrm>
                <a:off x="952500" y="-28575"/>
                <a:ext cx="57300" cy="573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grpSp>
        <p:nvGrpSpPr>
          <p:cNvPr id="714" name="Google Shape;714;p40"/>
          <p:cNvGrpSpPr/>
          <p:nvPr/>
        </p:nvGrpSpPr>
        <p:grpSpPr>
          <a:xfrm>
            <a:off x="381000" y="1428750"/>
            <a:ext cx="4000500" cy="1333500"/>
            <a:chOff x="0" y="0"/>
            <a:chExt cx="4000500" cy="1333500"/>
          </a:xfrm>
        </p:grpSpPr>
        <p:sp>
          <p:nvSpPr>
            <p:cNvPr id="715" name="Google Shape;715;p40"/>
            <p:cNvSpPr/>
            <p:nvPr/>
          </p:nvSpPr>
          <p:spPr>
            <a:xfrm>
              <a:off x="0" y="0"/>
              <a:ext cx="4000500" cy="13335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7" name="Google Shape;717;p40"/>
            <p:cNvSpPr txBox="1"/>
            <p:nvPr/>
          </p:nvSpPr>
          <p:spPr>
            <a:xfrm>
              <a:off x="190500" y="142875"/>
              <a:ext cx="3619500" cy="104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dirty="0">
                  <a:solidFill>
                    <a:srgbClr val="FF5500"/>
                  </a:solidFill>
                  <a:latin typeface="Roboto Mono SemiBold"/>
                  <a:ea typeface="Roboto Mono SemiBold"/>
                  <a:cs typeface="Roboto Mono SemiBold"/>
                  <a:sym typeface="Roboto Mono SemiBold"/>
                </a:rPr>
                <a:t>Validation Strategy</a:t>
              </a:r>
              <a:endParaRPr sz="900" b="0" dirty="0">
                <a:solidFill>
                  <a:srgbClr val="FF5500"/>
                </a:solidFill>
                <a:latin typeface="Roboto Mono SemiBold"/>
                <a:ea typeface="Roboto Mono SemiBold"/>
                <a:cs typeface="Roboto Mono SemiBold"/>
                <a:sym typeface="Roboto Mono SemiBold"/>
              </a:endParaRPr>
            </a:p>
            <a:p>
              <a:pPr marL="0" lvl="0" indent="0" algn="l" rtl="0">
                <a:spcBef>
                  <a:spcPts val="600"/>
                </a:spcBef>
                <a:spcAft>
                  <a:spcPts val="0"/>
                </a:spcAft>
                <a:buNone/>
              </a:pPr>
              <a:r>
                <a:rPr lang="en" sz="975" b="0" dirty="0">
                  <a:solidFill>
                    <a:srgbClr val="0A192F"/>
                  </a:solidFill>
                  <a:latin typeface="Inter"/>
                  <a:ea typeface="Inter"/>
                  <a:cs typeface="Inter"/>
                  <a:sym typeface="Inter"/>
                </a:rPr>
                <a:t>Out-of-Sample Validation utilizes unseen January-March 2026 actual observations to measure prediction interval coverage probability (PICP).</a:t>
              </a:r>
              <a:endParaRPr sz="975" b="0" dirty="0">
                <a:solidFill>
                  <a:srgbClr val="0A192F"/>
                </a:solidFill>
                <a:latin typeface="Inter"/>
                <a:ea typeface="Inter"/>
                <a:cs typeface="Inter"/>
                <a:sym typeface="Inter"/>
              </a:endParaRPr>
            </a:p>
          </p:txBody>
        </p:sp>
      </p:grpSp>
      <p:grpSp>
        <p:nvGrpSpPr>
          <p:cNvPr id="718" name="Google Shape;718;p40"/>
          <p:cNvGrpSpPr/>
          <p:nvPr/>
        </p:nvGrpSpPr>
        <p:grpSpPr>
          <a:xfrm>
            <a:off x="4762500" y="1428750"/>
            <a:ext cx="4000500" cy="1333500"/>
            <a:chOff x="0" y="0"/>
            <a:chExt cx="4000500" cy="1333500"/>
          </a:xfrm>
        </p:grpSpPr>
        <p:sp>
          <p:nvSpPr>
            <p:cNvPr id="719" name="Google Shape;719;p40"/>
            <p:cNvSpPr/>
            <p:nvPr/>
          </p:nvSpPr>
          <p:spPr>
            <a:xfrm>
              <a:off x="0" y="0"/>
              <a:ext cx="4000500" cy="1333500"/>
            </a:xfrm>
            <a:prstGeom prst="rect">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1" name="Google Shape;721;p40"/>
            <p:cNvSpPr txBox="1"/>
            <p:nvPr/>
          </p:nvSpPr>
          <p:spPr>
            <a:xfrm>
              <a:off x="190500" y="142875"/>
              <a:ext cx="3619500" cy="104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FF5500"/>
                  </a:solidFill>
                  <a:latin typeface="Roboto Mono SemiBold"/>
                  <a:ea typeface="Roboto Mono SemiBold"/>
                  <a:cs typeface="Roboto Mono SemiBold"/>
                  <a:sym typeface="Roboto Mono SemiBold"/>
                </a:rPr>
                <a:t>Budget Summary</a:t>
              </a:r>
              <a:endParaRPr sz="900" b="0">
                <a:solidFill>
                  <a:srgbClr val="FF5500"/>
                </a:solidFill>
                <a:latin typeface="Roboto Mono SemiBold"/>
                <a:ea typeface="Roboto Mono SemiBold"/>
                <a:cs typeface="Roboto Mono SemiBold"/>
                <a:sym typeface="Roboto Mono SemiBold"/>
              </a:endParaRPr>
            </a:p>
            <a:p>
              <a:pPr marL="0" lvl="0" indent="0" algn="l" rtl="0">
                <a:spcBef>
                  <a:spcPts val="600"/>
                </a:spcBef>
                <a:spcAft>
                  <a:spcPts val="0"/>
                </a:spcAft>
                <a:buNone/>
              </a:pPr>
              <a:r>
                <a:rPr lang="en" sz="975" b="0">
                  <a:solidFill>
                    <a:srgbClr val="0A192F"/>
                  </a:solidFill>
                  <a:latin typeface="Inter"/>
                  <a:ea typeface="Inter"/>
                  <a:cs typeface="Inter"/>
                  <a:sym typeface="Inter"/>
                </a:rPr>
                <a:t>Development costs are minimal, relying entirely on open-source packages and standard cloud computing tiers.</a:t>
              </a:r>
              <a:endParaRPr sz="975" b="0">
                <a:solidFill>
                  <a:srgbClr val="0A192F"/>
                </a:solidFill>
                <a:latin typeface="Inter"/>
                <a:ea typeface="Inter"/>
                <a:cs typeface="Inter"/>
                <a:sym typeface="Inter"/>
              </a:endParaRPr>
            </a:p>
          </p:txBody>
        </p:sp>
      </p:grpSp>
      <p:grpSp>
        <p:nvGrpSpPr>
          <p:cNvPr id="722" name="Google Shape;722;p40"/>
          <p:cNvGrpSpPr/>
          <p:nvPr/>
        </p:nvGrpSpPr>
        <p:grpSpPr>
          <a:xfrm>
            <a:off x="381000" y="3209925"/>
            <a:ext cx="8382000" cy="1552725"/>
            <a:chOff x="0" y="161925"/>
            <a:chExt cx="8382000" cy="1552725"/>
          </a:xfrm>
        </p:grpSpPr>
        <p:cxnSp>
          <p:nvCxnSpPr>
            <p:cNvPr id="723" name="Google Shape;723;p40"/>
            <p:cNvCxnSpPr/>
            <p:nvPr/>
          </p:nvCxnSpPr>
          <p:spPr>
            <a:xfrm>
              <a:off x="762000" y="238125"/>
              <a:ext cx="6858000" cy="0"/>
            </a:xfrm>
            <a:prstGeom prst="straightConnector1">
              <a:avLst/>
            </a:prstGeom>
            <a:solidFill>
              <a:srgbClr val="FFFFFF"/>
            </a:solidFill>
            <a:ln w="38100" cap="flat" cmpd="sng">
              <a:solidFill>
                <a:srgbClr val="E2E8F0"/>
              </a:solidFill>
              <a:prstDash val="solid"/>
              <a:round/>
              <a:headEnd type="none" w="sm" len="sm"/>
              <a:tailEnd type="none" w="sm" len="sm"/>
            </a:ln>
          </p:spPr>
        </p:cxnSp>
        <p:cxnSp>
          <p:nvCxnSpPr>
            <p:cNvPr id="724" name="Google Shape;724;p40"/>
            <p:cNvCxnSpPr/>
            <p:nvPr/>
          </p:nvCxnSpPr>
          <p:spPr>
            <a:xfrm>
              <a:off x="762000" y="238125"/>
              <a:ext cx="4572000" cy="0"/>
            </a:xfrm>
            <a:prstGeom prst="straightConnector1">
              <a:avLst/>
            </a:prstGeom>
            <a:solidFill>
              <a:srgbClr val="FFFFFF"/>
            </a:solidFill>
            <a:ln w="38100" cap="flat" cmpd="sng">
              <a:solidFill>
                <a:srgbClr val="0055FF"/>
              </a:solidFill>
              <a:prstDash val="solid"/>
              <a:round/>
              <a:headEnd type="none" w="sm" len="sm"/>
              <a:tailEnd type="none" w="sm" len="sm"/>
            </a:ln>
          </p:spPr>
        </p:cxnSp>
        <p:pic>
          <p:nvPicPr>
            <p:cNvPr id="725" name="Google Shape;725;p40"/>
            <p:cNvPicPr preferRelativeResize="0"/>
            <p:nvPr/>
          </p:nvPicPr>
          <p:blipFill rotWithShape="1">
            <a:blip r:embed="rId3">
              <a:alphaModFix/>
            </a:blip>
            <a:srcRect/>
            <a:stretch/>
          </p:blipFill>
          <p:spPr>
            <a:xfrm>
              <a:off x="757238" y="238125"/>
              <a:ext cx="9600" cy="1428900"/>
            </a:xfrm>
            <a:prstGeom prst="rect">
              <a:avLst/>
            </a:prstGeom>
            <a:noFill/>
            <a:ln>
              <a:noFill/>
            </a:ln>
          </p:spPr>
        </p:pic>
        <p:pic>
          <p:nvPicPr>
            <p:cNvPr id="726" name="Google Shape;726;p40"/>
            <p:cNvPicPr preferRelativeResize="0"/>
            <p:nvPr/>
          </p:nvPicPr>
          <p:blipFill rotWithShape="1">
            <a:blip r:embed="rId3">
              <a:alphaModFix/>
            </a:blip>
            <a:srcRect/>
            <a:stretch/>
          </p:blipFill>
          <p:spPr>
            <a:xfrm>
              <a:off x="3043238" y="238125"/>
              <a:ext cx="9600" cy="1428900"/>
            </a:xfrm>
            <a:prstGeom prst="rect">
              <a:avLst/>
            </a:prstGeom>
            <a:noFill/>
            <a:ln>
              <a:noFill/>
            </a:ln>
          </p:spPr>
        </p:pic>
        <p:pic>
          <p:nvPicPr>
            <p:cNvPr id="727" name="Google Shape;727;p40"/>
            <p:cNvPicPr preferRelativeResize="0"/>
            <p:nvPr/>
          </p:nvPicPr>
          <p:blipFill rotWithShape="1">
            <a:blip r:embed="rId3">
              <a:alphaModFix/>
            </a:blip>
            <a:srcRect/>
            <a:stretch/>
          </p:blipFill>
          <p:spPr>
            <a:xfrm>
              <a:off x="5329238" y="238125"/>
              <a:ext cx="9600" cy="1428900"/>
            </a:xfrm>
            <a:prstGeom prst="rect">
              <a:avLst/>
            </a:prstGeom>
            <a:noFill/>
            <a:ln>
              <a:noFill/>
            </a:ln>
          </p:spPr>
        </p:pic>
        <p:pic>
          <p:nvPicPr>
            <p:cNvPr id="728" name="Google Shape;728;p40"/>
            <p:cNvPicPr preferRelativeResize="0"/>
            <p:nvPr/>
          </p:nvPicPr>
          <p:blipFill rotWithShape="1">
            <a:blip r:embed="rId3">
              <a:alphaModFix/>
            </a:blip>
            <a:srcRect/>
            <a:stretch/>
          </p:blipFill>
          <p:spPr>
            <a:xfrm>
              <a:off x="7615238" y="238125"/>
              <a:ext cx="9600" cy="1428900"/>
            </a:xfrm>
            <a:prstGeom prst="rect">
              <a:avLst/>
            </a:prstGeom>
            <a:noFill/>
            <a:ln>
              <a:noFill/>
            </a:ln>
          </p:spPr>
        </p:pic>
        <p:grpSp>
          <p:nvGrpSpPr>
            <p:cNvPr id="729" name="Google Shape;729;p40"/>
            <p:cNvGrpSpPr/>
            <p:nvPr/>
          </p:nvGrpSpPr>
          <p:grpSpPr>
            <a:xfrm>
              <a:off x="685800" y="161925"/>
              <a:ext cx="152400" cy="152400"/>
              <a:chOff x="0" y="0"/>
              <a:chExt cx="152400" cy="152400"/>
            </a:xfrm>
          </p:grpSpPr>
          <p:sp>
            <p:nvSpPr>
              <p:cNvPr id="730" name="Google Shape;730;p40"/>
              <p:cNvSpPr/>
              <p:nvPr/>
            </p:nvSpPr>
            <p:spPr>
              <a:xfrm>
                <a:off x="0" y="0"/>
                <a:ext cx="152400" cy="152400"/>
              </a:xfrm>
              <a:prstGeom prst="ellipse">
                <a:avLst/>
              </a:prstGeom>
              <a:solidFill>
                <a:srgbClr val="F1F5F9"/>
              </a:solidFill>
              <a:ln w="19050" cap="flat" cmpd="sng">
                <a:solidFill>
                  <a:srgbClr val="005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1" name="Google Shape;731;p40"/>
              <p:cNvSpPr/>
              <p:nvPr/>
            </p:nvSpPr>
            <p:spPr>
              <a:xfrm>
                <a:off x="47625" y="47625"/>
                <a:ext cx="57300" cy="57300"/>
              </a:xfrm>
              <a:prstGeom prst="ellipse">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732" name="Google Shape;732;p40"/>
            <p:cNvSpPr txBox="1"/>
            <p:nvPr/>
          </p:nvSpPr>
          <p:spPr>
            <a:xfrm>
              <a:off x="0" y="476250"/>
              <a:ext cx="1524000" cy="1238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825" b="0">
                  <a:solidFill>
                    <a:srgbClr val="0055FF"/>
                  </a:solidFill>
                  <a:latin typeface="Roboto Mono SemiBold"/>
                  <a:ea typeface="Roboto Mono SemiBold"/>
                  <a:cs typeface="Roboto Mono SemiBold"/>
                  <a:sym typeface="Roboto Mono SemiBold"/>
                </a:rPr>
                <a:t>Month 1-2</a:t>
              </a:r>
              <a:endParaRPr sz="825" b="0">
                <a:solidFill>
                  <a:srgbClr val="0055FF"/>
                </a:solidFill>
                <a:latin typeface="Roboto Mono SemiBold"/>
                <a:ea typeface="Roboto Mono SemiBold"/>
                <a:cs typeface="Roboto Mono SemiBold"/>
                <a:sym typeface="Roboto Mono SemiBold"/>
              </a:endParaRPr>
            </a:p>
            <a:p>
              <a:pPr marL="0" lvl="0" indent="0" algn="ctr" rtl="0">
                <a:spcBef>
                  <a:spcPts val="450"/>
                </a:spcBef>
                <a:spcAft>
                  <a:spcPts val="0"/>
                </a:spcAft>
                <a:buNone/>
              </a:pPr>
              <a:r>
                <a:rPr lang="en" sz="975" b="0">
                  <a:solidFill>
                    <a:srgbClr val="0A192F"/>
                  </a:solidFill>
                  <a:latin typeface="Inter Medium"/>
                  <a:ea typeface="Inter Medium"/>
                  <a:cs typeface="Inter Medium"/>
                  <a:sym typeface="Inter Medium"/>
                </a:rPr>
                <a:t>Literature Survey &amp;</a:t>
              </a:r>
              <a:br>
                <a:rPr lang="en" sz="975" b="0">
                  <a:solidFill>
                    <a:srgbClr val="0A192F"/>
                  </a:solidFill>
                  <a:latin typeface="Inter Medium"/>
                  <a:ea typeface="Inter Medium"/>
                  <a:cs typeface="Inter Medium"/>
                  <a:sym typeface="Inter Medium"/>
                </a:rPr>
              </a:br>
              <a:r>
                <a:rPr lang="en" sz="975" b="0">
                  <a:solidFill>
                    <a:srgbClr val="0A192F"/>
                  </a:solidFill>
                  <a:latin typeface="Inter Medium"/>
                  <a:ea typeface="Inter Medium"/>
                  <a:cs typeface="Inter Medium"/>
                  <a:sym typeface="Inter Medium"/>
                </a:rPr>
                <a:t>Data Preparation</a:t>
              </a:r>
              <a:endParaRPr sz="975" b="0">
                <a:solidFill>
                  <a:srgbClr val="0A192F"/>
                </a:solidFill>
                <a:latin typeface="Inter Medium"/>
                <a:ea typeface="Inter Medium"/>
                <a:cs typeface="Inter Medium"/>
                <a:sym typeface="Inter Medium"/>
              </a:endParaRPr>
            </a:p>
          </p:txBody>
        </p:sp>
        <p:grpSp>
          <p:nvGrpSpPr>
            <p:cNvPr id="733" name="Google Shape;733;p40"/>
            <p:cNvGrpSpPr/>
            <p:nvPr/>
          </p:nvGrpSpPr>
          <p:grpSpPr>
            <a:xfrm>
              <a:off x="2971800" y="161925"/>
              <a:ext cx="152400" cy="152400"/>
              <a:chOff x="0" y="0"/>
              <a:chExt cx="152400" cy="152400"/>
            </a:xfrm>
          </p:grpSpPr>
          <p:sp>
            <p:nvSpPr>
              <p:cNvPr id="734" name="Google Shape;734;p40"/>
              <p:cNvSpPr/>
              <p:nvPr/>
            </p:nvSpPr>
            <p:spPr>
              <a:xfrm>
                <a:off x="0" y="0"/>
                <a:ext cx="152400" cy="152400"/>
              </a:xfrm>
              <a:prstGeom prst="ellipse">
                <a:avLst/>
              </a:prstGeom>
              <a:solidFill>
                <a:srgbClr val="F1F5F9"/>
              </a:solidFill>
              <a:ln w="19050" cap="flat" cmpd="sng">
                <a:solidFill>
                  <a:srgbClr val="005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5" name="Google Shape;735;p40"/>
              <p:cNvSpPr/>
              <p:nvPr/>
            </p:nvSpPr>
            <p:spPr>
              <a:xfrm>
                <a:off x="47625" y="47625"/>
                <a:ext cx="57300" cy="57300"/>
              </a:xfrm>
              <a:prstGeom prst="ellipse">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736" name="Google Shape;736;p40"/>
            <p:cNvSpPr txBox="1"/>
            <p:nvPr/>
          </p:nvSpPr>
          <p:spPr>
            <a:xfrm>
              <a:off x="2286000" y="476250"/>
              <a:ext cx="1524000" cy="1238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825" b="0">
                  <a:solidFill>
                    <a:srgbClr val="0055FF"/>
                  </a:solidFill>
                  <a:latin typeface="Roboto Mono SemiBold"/>
                  <a:ea typeface="Roboto Mono SemiBold"/>
                  <a:cs typeface="Roboto Mono SemiBold"/>
                  <a:sym typeface="Roboto Mono SemiBold"/>
                </a:rPr>
                <a:t>Month 3-4</a:t>
              </a:r>
              <a:endParaRPr sz="825" b="0">
                <a:solidFill>
                  <a:srgbClr val="0055FF"/>
                </a:solidFill>
                <a:latin typeface="Roboto Mono SemiBold"/>
                <a:ea typeface="Roboto Mono SemiBold"/>
                <a:cs typeface="Roboto Mono SemiBold"/>
                <a:sym typeface="Roboto Mono SemiBold"/>
              </a:endParaRPr>
            </a:p>
            <a:p>
              <a:pPr marL="0" lvl="0" indent="0" algn="ctr" rtl="0">
                <a:spcBef>
                  <a:spcPts val="450"/>
                </a:spcBef>
                <a:spcAft>
                  <a:spcPts val="0"/>
                </a:spcAft>
                <a:buNone/>
              </a:pPr>
              <a:r>
                <a:rPr lang="en" sz="975" b="0">
                  <a:solidFill>
                    <a:srgbClr val="0A192F"/>
                  </a:solidFill>
                  <a:latin typeface="Inter Medium"/>
                  <a:ea typeface="Inter Medium"/>
                  <a:cs typeface="Inter Medium"/>
                  <a:sym typeface="Inter Medium"/>
                </a:rPr>
                <a:t>Modeling &amp;</a:t>
              </a:r>
              <a:br>
                <a:rPr lang="en" sz="975" b="0">
                  <a:solidFill>
                    <a:srgbClr val="0A192F"/>
                  </a:solidFill>
                  <a:latin typeface="Inter Medium"/>
                  <a:ea typeface="Inter Medium"/>
                  <a:cs typeface="Inter Medium"/>
                  <a:sym typeface="Inter Medium"/>
                </a:rPr>
              </a:br>
              <a:r>
                <a:rPr lang="en" sz="975" b="0">
                  <a:solidFill>
                    <a:srgbClr val="0A192F"/>
                  </a:solidFill>
                  <a:latin typeface="Inter Medium"/>
                  <a:ea typeface="Inter Medium"/>
                  <a:cs typeface="Inter Medium"/>
                  <a:sym typeface="Inter Medium"/>
                </a:rPr>
                <a:t>Parallel Benchmarking</a:t>
              </a:r>
              <a:endParaRPr sz="975" b="0">
                <a:solidFill>
                  <a:srgbClr val="0A192F"/>
                </a:solidFill>
                <a:latin typeface="Inter Medium"/>
                <a:ea typeface="Inter Medium"/>
                <a:cs typeface="Inter Medium"/>
                <a:sym typeface="Inter Medium"/>
              </a:endParaRPr>
            </a:p>
          </p:txBody>
        </p:sp>
        <p:grpSp>
          <p:nvGrpSpPr>
            <p:cNvPr id="737" name="Google Shape;737;p40"/>
            <p:cNvGrpSpPr/>
            <p:nvPr/>
          </p:nvGrpSpPr>
          <p:grpSpPr>
            <a:xfrm>
              <a:off x="5257800" y="161925"/>
              <a:ext cx="152400" cy="152400"/>
              <a:chOff x="0" y="0"/>
              <a:chExt cx="152400" cy="152400"/>
            </a:xfrm>
          </p:grpSpPr>
          <p:sp>
            <p:nvSpPr>
              <p:cNvPr id="738" name="Google Shape;738;p40"/>
              <p:cNvSpPr/>
              <p:nvPr/>
            </p:nvSpPr>
            <p:spPr>
              <a:xfrm>
                <a:off x="0" y="0"/>
                <a:ext cx="152400" cy="152400"/>
              </a:xfrm>
              <a:prstGeom prst="ellipse">
                <a:avLst/>
              </a:prstGeom>
              <a:solidFill>
                <a:srgbClr val="F1F5F9"/>
              </a:solidFill>
              <a:ln w="19050" cap="flat" cmpd="sng">
                <a:solidFill>
                  <a:srgbClr val="005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9" name="Google Shape;739;p40"/>
              <p:cNvSpPr/>
              <p:nvPr/>
            </p:nvSpPr>
            <p:spPr>
              <a:xfrm>
                <a:off x="47625" y="47625"/>
                <a:ext cx="57300" cy="57300"/>
              </a:xfrm>
              <a:prstGeom prst="ellipse">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740" name="Google Shape;740;p40"/>
            <p:cNvSpPr txBox="1"/>
            <p:nvPr/>
          </p:nvSpPr>
          <p:spPr>
            <a:xfrm>
              <a:off x="4572000" y="476250"/>
              <a:ext cx="1524000" cy="1238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825" b="0">
                  <a:solidFill>
                    <a:srgbClr val="FF5500"/>
                  </a:solidFill>
                  <a:latin typeface="Roboto Mono SemiBold"/>
                  <a:ea typeface="Roboto Mono SemiBold"/>
                  <a:cs typeface="Roboto Mono SemiBold"/>
                  <a:sym typeface="Roboto Mono SemiBold"/>
                </a:rPr>
                <a:t>Month 5</a:t>
              </a:r>
              <a:endParaRPr sz="825" b="0">
                <a:solidFill>
                  <a:srgbClr val="FF5500"/>
                </a:solidFill>
                <a:latin typeface="Roboto Mono SemiBold"/>
                <a:ea typeface="Roboto Mono SemiBold"/>
                <a:cs typeface="Roboto Mono SemiBold"/>
                <a:sym typeface="Roboto Mono SemiBold"/>
              </a:endParaRPr>
            </a:p>
            <a:p>
              <a:pPr marL="0" lvl="0" indent="0" algn="ctr" rtl="0">
                <a:spcBef>
                  <a:spcPts val="450"/>
                </a:spcBef>
                <a:spcAft>
                  <a:spcPts val="0"/>
                </a:spcAft>
                <a:buNone/>
              </a:pPr>
              <a:r>
                <a:rPr lang="en" sz="975" b="0">
                  <a:solidFill>
                    <a:srgbClr val="0A192F"/>
                  </a:solidFill>
                  <a:latin typeface="Inter Medium"/>
                  <a:ea typeface="Inter Medium"/>
                  <a:cs typeface="Inter Medium"/>
                  <a:sym typeface="Inter Medium"/>
                </a:rPr>
                <a:t>Interval Calibration &amp;</a:t>
              </a:r>
              <a:br>
                <a:rPr lang="en" sz="975" b="0">
                  <a:solidFill>
                    <a:srgbClr val="0A192F"/>
                  </a:solidFill>
                  <a:latin typeface="Inter Medium"/>
                  <a:ea typeface="Inter Medium"/>
                  <a:cs typeface="Inter Medium"/>
                  <a:sym typeface="Inter Medium"/>
                </a:rPr>
              </a:br>
              <a:r>
                <a:rPr lang="en" sz="975" b="0">
                  <a:solidFill>
                    <a:srgbClr val="0A192F"/>
                  </a:solidFill>
                  <a:latin typeface="Inter Medium"/>
                  <a:ea typeface="Inter Medium"/>
                  <a:cs typeface="Inter Medium"/>
                  <a:sym typeface="Inter Medium"/>
                </a:rPr>
                <a:t>RAG Architecture</a:t>
              </a:r>
              <a:endParaRPr sz="975" b="0">
                <a:solidFill>
                  <a:srgbClr val="0A192F"/>
                </a:solidFill>
                <a:latin typeface="Inter Medium"/>
                <a:ea typeface="Inter Medium"/>
                <a:cs typeface="Inter Medium"/>
                <a:sym typeface="Inter Medium"/>
              </a:endParaRPr>
            </a:p>
          </p:txBody>
        </p:sp>
        <p:grpSp>
          <p:nvGrpSpPr>
            <p:cNvPr id="741" name="Google Shape;741;p40"/>
            <p:cNvGrpSpPr/>
            <p:nvPr/>
          </p:nvGrpSpPr>
          <p:grpSpPr>
            <a:xfrm>
              <a:off x="7543800" y="161925"/>
              <a:ext cx="152400" cy="152400"/>
              <a:chOff x="0" y="0"/>
              <a:chExt cx="152400" cy="152400"/>
            </a:xfrm>
          </p:grpSpPr>
          <p:sp>
            <p:nvSpPr>
              <p:cNvPr id="742" name="Google Shape;742;p40"/>
              <p:cNvSpPr/>
              <p:nvPr/>
            </p:nvSpPr>
            <p:spPr>
              <a:xfrm>
                <a:off x="0" y="0"/>
                <a:ext cx="152400" cy="152400"/>
              </a:xfrm>
              <a:prstGeom prst="ellipse">
                <a:avLst/>
              </a:prstGeom>
              <a:solidFill>
                <a:srgbClr val="F1F5F9"/>
              </a:solidFill>
              <a:ln w="19050" cap="flat" cmpd="sng">
                <a:solidFill>
                  <a:srgbClr val="0055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3" name="Google Shape;743;p40"/>
              <p:cNvSpPr/>
              <p:nvPr/>
            </p:nvSpPr>
            <p:spPr>
              <a:xfrm>
                <a:off x="47625" y="47625"/>
                <a:ext cx="57300" cy="57300"/>
              </a:xfrm>
              <a:prstGeom prst="ellipse">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744" name="Google Shape;744;p40"/>
            <p:cNvSpPr txBox="1"/>
            <p:nvPr/>
          </p:nvSpPr>
          <p:spPr>
            <a:xfrm>
              <a:off x="6858000" y="476250"/>
              <a:ext cx="1524000" cy="12384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825" b="0">
                  <a:solidFill>
                    <a:srgbClr val="FF5500"/>
                  </a:solidFill>
                  <a:latin typeface="Roboto Mono SemiBold"/>
                  <a:ea typeface="Roboto Mono SemiBold"/>
                  <a:cs typeface="Roboto Mono SemiBold"/>
                  <a:sym typeface="Roboto Mono SemiBold"/>
                </a:rPr>
                <a:t>Month 6</a:t>
              </a:r>
              <a:endParaRPr sz="825" b="0">
                <a:solidFill>
                  <a:srgbClr val="FF5500"/>
                </a:solidFill>
                <a:latin typeface="Roboto Mono SemiBold"/>
                <a:ea typeface="Roboto Mono SemiBold"/>
                <a:cs typeface="Roboto Mono SemiBold"/>
                <a:sym typeface="Roboto Mono SemiBold"/>
              </a:endParaRPr>
            </a:p>
            <a:p>
              <a:pPr marL="0" lvl="0" indent="0" algn="ctr" rtl="0">
                <a:spcBef>
                  <a:spcPts val="450"/>
                </a:spcBef>
                <a:spcAft>
                  <a:spcPts val="0"/>
                </a:spcAft>
                <a:buNone/>
              </a:pPr>
              <a:r>
                <a:rPr lang="en" sz="975" b="0">
                  <a:solidFill>
                    <a:srgbClr val="0A192F"/>
                  </a:solidFill>
                  <a:latin typeface="Inter Medium"/>
                  <a:ea typeface="Inter Medium"/>
                  <a:cs typeface="Inter Medium"/>
                  <a:sym typeface="Inter Medium"/>
                </a:rPr>
                <a:t>Dashboard Development,</a:t>
              </a:r>
              <a:br>
                <a:rPr lang="en" sz="975" b="0">
                  <a:solidFill>
                    <a:srgbClr val="0A192F"/>
                  </a:solidFill>
                  <a:latin typeface="Inter Medium"/>
                  <a:ea typeface="Inter Medium"/>
                  <a:cs typeface="Inter Medium"/>
                  <a:sym typeface="Inter Medium"/>
                </a:rPr>
              </a:br>
              <a:r>
                <a:rPr lang="en" sz="975" b="0">
                  <a:solidFill>
                    <a:srgbClr val="0A192F"/>
                  </a:solidFill>
                  <a:latin typeface="Inter Medium"/>
                  <a:ea typeface="Inter Medium"/>
                  <a:cs typeface="Inter Medium"/>
                  <a:sym typeface="Inter Medium"/>
                </a:rPr>
                <a:t>Validation, and Documentation</a:t>
              </a:r>
              <a:endParaRPr sz="975" b="0">
                <a:solidFill>
                  <a:srgbClr val="0A192F"/>
                </a:solidFill>
                <a:latin typeface="Inter Medium"/>
                <a:ea typeface="Inter Medium"/>
                <a:cs typeface="Inter Medium"/>
                <a:sym typeface="Inter Medium"/>
              </a:endParaRPr>
            </a:p>
          </p:txBody>
        </p:sp>
      </p:grpSp>
      <p:grpSp>
        <p:nvGrpSpPr>
          <p:cNvPr id="745" name="Google Shape;745;p40"/>
          <p:cNvGrpSpPr/>
          <p:nvPr/>
        </p:nvGrpSpPr>
        <p:grpSpPr>
          <a:xfrm>
            <a:off x="8239125" y="142875"/>
            <a:ext cx="190500" cy="190500"/>
            <a:chOff x="0" y="0"/>
            <a:chExt cx="190500" cy="190500"/>
          </a:xfrm>
        </p:grpSpPr>
        <p:sp>
          <p:nvSpPr>
            <p:cNvPr id="746" name="Google Shape;746;p40"/>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7" name="Google Shape;747;p40"/>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a:solidFill>
                    <a:srgbClr val="FFFFFF"/>
                  </a:solidFill>
                  <a:latin typeface="Roboto Mono"/>
                  <a:ea typeface="Roboto Mono"/>
                  <a:cs typeface="Roboto Mono"/>
                  <a:sym typeface="Roboto Mono"/>
                </a:rPr>
                <a:t>14</a:t>
              </a:r>
              <a:endParaRPr sz="750" b="1">
                <a:solidFill>
                  <a:srgbClr val="FFFFFF"/>
                </a:solidFill>
                <a:latin typeface="Roboto Mono"/>
                <a:ea typeface="Roboto Mono"/>
                <a:cs typeface="Roboto Mono"/>
                <a:sym typeface="Roboto Mon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grpSp>
        <p:nvGrpSpPr>
          <p:cNvPr id="752" name="Google Shape;752;p41"/>
          <p:cNvGrpSpPr/>
          <p:nvPr/>
        </p:nvGrpSpPr>
        <p:grpSpPr>
          <a:xfrm>
            <a:off x="0" y="0"/>
            <a:ext cx="9144000" cy="5143500"/>
            <a:chOff x="0" y="0"/>
            <a:chExt cx="9144000" cy="5143500"/>
          </a:xfrm>
        </p:grpSpPr>
        <p:sp>
          <p:nvSpPr>
            <p:cNvPr id="753" name="Google Shape;753;p41"/>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4" name="Google Shape;754;p41"/>
            <p:cNvSpPr txBox="1"/>
            <p:nvPr/>
          </p:nvSpPr>
          <p:spPr>
            <a:xfrm>
              <a:off x="381000" y="4429200"/>
              <a:ext cx="28575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900" b="0">
                <a:solidFill>
                  <a:srgbClr val="475569"/>
                </a:solidFill>
                <a:latin typeface="Roboto Mono SemiBold"/>
                <a:ea typeface="Roboto Mono SemiBold"/>
                <a:cs typeface="Roboto Mono SemiBold"/>
                <a:sym typeface="Roboto Mono SemiBold"/>
              </a:endParaRPr>
            </a:p>
          </p:txBody>
        </p:sp>
      </p:grpSp>
      <p:grpSp>
        <p:nvGrpSpPr>
          <p:cNvPr id="755" name="Google Shape;755;p41"/>
          <p:cNvGrpSpPr/>
          <p:nvPr/>
        </p:nvGrpSpPr>
        <p:grpSpPr>
          <a:xfrm>
            <a:off x="381000" y="381000"/>
            <a:ext cx="8382000" cy="714525"/>
            <a:chOff x="0" y="0"/>
            <a:chExt cx="8382000" cy="714525"/>
          </a:xfrm>
        </p:grpSpPr>
        <p:sp>
          <p:nvSpPr>
            <p:cNvPr id="756" name="Google Shape;756;p41"/>
            <p:cNvSpPr txBox="1"/>
            <p:nvPr/>
          </p:nvSpPr>
          <p:spPr>
            <a:xfrm>
              <a:off x="0" y="0"/>
              <a:ext cx="8382000" cy="381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2100" b="0">
                  <a:solidFill>
                    <a:srgbClr val="0A192F"/>
                  </a:solidFill>
                  <a:latin typeface="Inter ExtraBold"/>
                  <a:ea typeface="Inter ExtraBold"/>
                  <a:cs typeface="Inter ExtraBold"/>
                  <a:sym typeface="Inter ExtraBold"/>
                </a:rPr>
                <a:t>Phase II &amp; Future Work</a:t>
              </a:r>
              <a:endParaRPr sz="2100" b="0">
                <a:solidFill>
                  <a:srgbClr val="0A192F"/>
                </a:solidFill>
                <a:latin typeface="Inter ExtraBold"/>
                <a:ea typeface="Inter ExtraBold"/>
                <a:cs typeface="Inter ExtraBold"/>
                <a:sym typeface="Inter ExtraBold"/>
              </a:endParaRPr>
            </a:p>
          </p:txBody>
        </p:sp>
        <p:sp>
          <p:nvSpPr>
            <p:cNvPr id="757" name="Google Shape;757;p41"/>
            <p:cNvSpPr txBox="1"/>
            <p:nvPr/>
          </p:nvSpPr>
          <p:spPr>
            <a:xfrm>
              <a:off x="0" y="381000"/>
              <a:ext cx="8382000" cy="2382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1200" b="0">
                  <a:solidFill>
                    <a:srgbClr val="0055FF"/>
                  </a:solidFill>
                  <a:latin typeface="Inter Medium"/>
                  <a:ea typeface="Inter Medium"/>
                  <a:cs typeface="Inter Medium"/>
                  <a:sym typeface="Inter Medium"/>
                </a:rPr>
                <a:t>Strategic Future Horizons</a:t>
              </a:r>
              <a:endParaRPr sz="1200" b="0">
                <a:solidFill>
                  <a:srgbClr val="0055FF"/>
                </a:solidFill>
                <a:latin typeface="Inter Medium"/>
                <a:ea typeface="Inter Medium"/>
                <a:cs typeface="Inter Medium"/>
                <a:sym typeface="Inter Medium"/>
              </a:endParaRPr>
            </a:p>
          </p:txBody>
        </p:sp>
        <p:cxnSp>
          <p:nvCxnSpPr>
            <p:cNvPr id="758" name="Google Shape;758;p41"/>
            <p:cNvCxnSpPr/>
            <p:nvPr/>
          </p:nvCxnSpPr>
          <p:spPr>
            <a:xfrm>
              <a:off x="0" y="685800"/>
              <a:ext cx="952500" cy="0"/>
            </a:xfrm>
            <a:prstGeom prst="straightConnector1">
              <a:avLst/>
            </a:prstGeom>
            <a:solidFill>
              <a:srgbClr val="FFFFFF"/>
            </a:solidFill>
            <a:ln w="19050" cap="flat" cmpd="sng">
              <a:solidFill>
                <a:srgbClr val="0055FF"/>
              </a:solidFill>
              <a:prstDash val="solid"/>
              <a:round/>
              <a:headEnd type="none" w="sm" len="sm"/>
              <a:tailEnd type="none" w="sm" len="sm"/>
            </a:ln>
          </p:spPr>
        </p:cxnSp>
        <p:sp>
          <p:nvSpPr>
            <p:cNvPr id="759" name="Google Shape;759;p41"/>
            <p:cNvSpPr/>
            <p:nvPr/>
          </p:nvSpPr>
          <p:spPr>
            <a:xfrm>
              <a:off x="952500" y="657225"/>
              <a:ext cx="57300" cy="573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760" name="Google Shape;760;p41"/>
          <p:cNvGrpSpPr/>
          <p:nvPr/>
        </p:nvGrpSpPr>
        <p:grpSpPr>
          <a:xfrm>
            <a:off x="381000" y="1285875"/>
            <a:ext cx="4000500" cy="428700"/>
            <a:chOff x="0" y="0"/>
            <a:chExt cx="4000500" cy="428700"/>
          </a:xfrm>
        </p:grpSpPr>
        <p:sp>
          <p:nvSpPr>
            <p:cNvPr id="761" name="Google Shape;761;p41"/>
            <p:cNvSpPr/>
            <p:nvPr/>
          </p:nvSpPr>
          <p:spPr>
            <a:xfrm>
              <a:off x="0" y="47625"/>
              <a:ext cx="57300" cy="573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2" name="Google Shape;762;p41"/>
            <p:cNvSpPr txBox="1"/>
            <p:nvPr/>
          </p:nvSpPr>
          <p:spPr>
            <a:xfrm>
              <a:off x="190500" y="0"/>
              <a:ext cx="3810000" cy="428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975" b="1">
                  <a:solidFill>
                    <a:srgbClr val="0A192F"/>
                  </a:solidFill>
                  <a:latin typeface="Inter"/>
                  <a:ea typeface="Inter"/>
                  <a:cs typeface="Inter"/>
                  <a:sym typeface="Inter"/>
                </a:rPr>
                <a:t>Accuracy Upgrades:</a:t>
              </a:r>
              <a:r>
                <a:rPr lang="en" sz="975" b="0">
                  <a:solidFill>
                    <a:srgbClr val="475569"/>
                  </a:solidFill>
                  <a:latin typeface="Inter"/>
                  <a:ea typeface="Inter"/>
                  <a:cs typeface="Inter"/>
                  <a:sym typeface="Inter"/>
                </a:rPr>
                <a:t> Integrate real-time geographic telemetry and advanced transformer models.</a:t>
              </a:r>
              <a:endParaRPr sz="975" b="1">
                <a:solidFill>
                  <a:srgbClr val="0A192F"/>
                </a:solidFill>
                <a:latin typeface="Inter"/>
                <a:ea typeface="Inter"/>
                <a:cs typeface="Inter"/>
                <a:sym typeface="Inter"/>
              </a:endParaRPr>
            </a:p>
          </p:txBody>
        </p:sp>
      </p:grpSp>
      <p:grpSp>
        <p:nvGrpSpPr>
          <p:cNvPr id="763" name="Google Shape;763;p41"/>
          <p:cNvGrpSpPr/>
          <p:nvPr/>
        </p:nvGrpSpPr>
        <p:grpSpPr>
          <a:xfrm>
            <a:off x="381000" y="1762125"/>
            <a:ext cx="4000500" cy="476400"/>
            <a:chOff x="0" y="0"/>
            <a:chExt cx="4000500" cy="476400"/>
          </a:xfrm>
        </p:grpSpPr>
        <p:sp>
          <p:nvSpPr>
            <p:cNvPr id="764" name="Google Shape;764;p41"/>
            <p:cNvSpPr/>
            <p:nvPr/>
          </p:nvSpPr>
          <p:spPr>
            <a:xfrm>
              <a:off x="0" y="47625"/>
              <a:ext cx="57300" cy="573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5" name="Google Shape;765;p41"/>
            <p:cNvSpPr txBox="1"/>
            <p:nvPr/>
          </p:nvSpPr>
          <p:spPr>
            <a:xfrm>
              <a:off x="190500" y="0"/>
              <a:ext cx="3810000" cy="4764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975" b="1">
                  <a:solidFill>
                    <a:srgbClr val="0A192F"/>
                  </a:solidFill>
                  <a:latin typeface="Inter"/>
                  <a:ea typeface="Inter"/>
                  <a:cs typeface="Inter"/>
                  <a:sym typeface="Inter"/>
                </a:rPr>
                <a:t>Calibration Tuning:</a:t>
              </a:r>
              <a:r>
                <a:rPr lang="en" sz="975" b="0">
                  <a:solidFill>
                    <a:srgbClr val="475569"/>
                  </a:solidFill>
                  <a:latin typeface="Inter"/>
                  <a:ea typeface="Inter"/>
                  <a:cs typeface="Inter"/>
                  <a:sym typeface="Inter"/>
                </a:rPr>
                <a:t> Implement dynamic conformal prediction to make intervals highly robust to unexpected weather anomalies.</a:t>
              </a:r>
              <a:endParaRPr sz="975" b="1">
                <a:solidFill>
                  <a:srgbClr val="0A192F"/>
                </a:solidFill>
                <a:latin typeface="Inter"/>
                <a:ea typeface="Inter"/>
                <a:cs typeface="Inter"/>
                <a:sym typeface="Inter"/>
              </a:endParaRPr>
            </a:p>
          </p:txBody>
        </p:sp>
      </p:grpSp>
      <p:grpSp>
        <p:nvGrpSpPr>
          <p:cNvPr id="766" name="Google Shape;766;p41"/>
          <p:cNvGrpSpPr/>
          <p:nvPr/>
        </p:nvGrpSpPr>
        <p:grpSpPr>
          <a:xfrm>
            <a:off x="381000" y="2286075"/>
            <a:ext cx="4000500" cy="428700"/>
            <a:chOff x="0" y="0"/>
            <a:chExt cx="4000500" cy="428700"/>
          </a:xfrm>
        </p:grpSpPr>
        <p:sp>
          <p:nvSpPr>
            <p:cNvPr id="767" name="Google Shape;767;p41"/>
            <p:cNvSpPr/>
            <p:nvPr/>
          </p:nvSpPr>
          <p:spPr>
            <a:xfrm>
              <a:off x="0" y="47625"/>
              <a:ext cx="57300" cy="573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8" name="Google Shape;768;p41"/>
            <p:cNvSpPr txBox="1"/>
            <p:nvPr/>
          </p:nvSpPr>
          <p:spPr>
            <a:xfrm>
              <a:off x="190500" y="0"/>
              <a:ext cx="3810000" cy="428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975" b="1" dirty="0">
                  <a:solidFill>
                    <a:srgbClr val="0A192F"/>
                  </a:solidFill>
                  <a:latin typeface="Inter"/>
                  <a:ea typeface="Inter"/>
                  <a:cs typeface="Inter"/>
                  <a:sym typeface="Inter"/>
                </a:rPr>
                <a:t>Policy Expansion:</a:t>
              </a:r>
              <a:r>
                <a:rPr lang="en" sz="975" b="0" dirty="0">
                  <a:solidFill>
                    <a:srgbClr val="475569"/>
                  </a:solidFill>
                  <a:latin typeface="Inter"/>
                  <a:ea typeface="Inter"/>
                  <a:cs typeface="Inter"/>
                  <a:sym typeface="Inter"/>
                </a:rPr>
                <a:t> Expand local vector databases with regional grid regulations.</a:t>
              </a:r>
              <a:endParaRPr sz="975" b="1" dirty="0">
                <a:solidFill>
                  <a:srgbClr val="0A192F"/>
                </a:solidFill>
                <a:latin typeface="Inter"/>
                <a:ea typeface="Inter"/>
                <a:cs typeface="Inter"/>
                <a:sym typeface="Inter"/>
              </a:endParaRPr>
            </a:p>
          </p:txBody>
        </p:sp>
      </p:grpSp>
      <p:grpSp>
        <p:nvGrpSpPr>
          <p:cNvPr id="769" name="Google Shape;769;p41"/>
          <p:cNvGrpSpPr/>
          <p:nvPr/>
        </p:nvGrpSpPr>
        <p:grpSpPr>
          <a:xfrm>
            <a:off x="381000" y="2905125"/>
            <a:ext cx="4000500" cy="523800"/>
            <a:chOff x="0" y="0"/>
            <a:chExt cx="4000500" cy="523800"/>
          </a:xfrm>
        </p:grpSpPr>
        <p:sp>
          <p:nvSpPr>
            <p:cNvPr id="770" name="Google Shape;770;p41"/>
            <p:cNvSpPr/>
            <p:nvPr/>
          </p:nvSpPr>
          <p:spPr>
            <a:xfrm>
              <a:off x="0" y="47625"/>
              <a:ext cx="57300" cy="573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1" name="Google Shape;771;p41"/>
            <p:cNvSpPr txBox="1"/>
            <p:nvPr/>
          </p:nvSpPr>
          <p:spPr>
            <a:xfrm>
              <a:off x="190500" y="0"/>
              <a:ext cx="3810000" cy="5238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 sz="975" b="1" dirty="0">
                  <a:solidFill>
                    <a:srgbClr val="0A192F"/>
                  </a:solidFill>
                  <a:latin typeface="Inter"/>
                  <a:ea typeface="Inter"/>
                  <a:cs typeface="Inter"/>
                  <a:sym typeface="Inter"/>
                </a:rPr>
                <a:t>Production Deployment:</a:t>
              </a:r>
              <a:r>
                <a:rPr lang="en" sz="975" b="0" dirty="0">
                  <a:solidFill>
                    <a:srgbClr val="475569"/>
                  </a:solidFill>
                  <a:latin typeface="Inter"/>
                  <a:ea typeface="Inter"/>
                  <a:cs typeface="Inter"/>
                  <a:sym typeface="Inter"/>
                </a:rPr>
                <a:t> Move Streamlit deployment to cloud enterprise architectures with automated weekly retraining loops.</a:t>
              </a:r>
              <a:endParaRPr sz="975" b="1" dirty="0">
                <a:solidFill>
                  <a:srgbClr val="0A192F"/>
                </a:solidFill>
                <a:latin typeface="Inter"/>
                <a:ea typeface="Inter"/>
                <a:cs typeface="Inter"/>
                <a:sym typeface="Inter"/>
              </a:endParaRPr>
            </a:p>
          </p:txBody>
        </p:sp>
      </p:grpSp>
      <p:grpSp>
        <p:nvGrpSpPr>
          <p:cNvPr id="772" name="Google Shape;772;p41"/>
          <p:cNvGrpSpPr/>
          <p:nvPr/>
        </p:nvGrpSpPr>
        <p:grpSpPr>
          <a:xfrm>
            <a:off x="4762500" y="1428750"/>
            <a:ext cx="4000650" cy="2286150"/>
            <a:chOff x="0" y="0"/>
            <a:chExt cx="4000650" cy="2286150"/>
          </a:xfrm>
        </p:grpSpPr>
        <p:sp>
          <p:nvSpPr>
            <p:cNvPr id="773" name="Google Shape;773;p41"/>
            <p:cNvSpPr/>
            <p:nvPr/>
          </p:nvSpPr>
          <p:spPr>
            <a:xfrm>
              <a:off x="0" y="0"/>
              <a:ext cx="38100" cy="2286000"/>
            </a:xfrm>
            <a:prstGeom prst="rect">
              <a:avLst/>
            </a:prstGeom>
            <a:solidFill>
              <a:srgbClr val="0055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4" name="Google Shape;774;p41"/>
            <p:cNvSpPr/>
            <p:nvPr/>
          </p:nvSpPr>
          <p:spPr>
            <a:xfrm>
              <a:off x="0" y="2228850"/>
              <a:ext cx="38100" cy="57300"/>
            </a:xfrm>
            <a:prstGeom prst="rect">
              <a:avLst/>
            </a:prstGeom>
            <a:solidFill>
              <a:srgbClr val="FF550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5" name="Google Shape;775;p41"/>
            <p:cNvSpPr txBox="1"/>
            <p:nvPr/>
          </p:nvSpPr>
          <p:spPr>
            <a:xfrm>
              <a:off x="285750" y="0"/>
              <a:ext cx="3714900" cy="2286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825" b="0">
                <a:solidFill>
                  <a:srgbClr val="FF5500"/>
                </a:solidFill>
                <a:latin typeface="Roboto Mono SemiBold"/>
                <a:ea typeface="Roboto Mono SemiBold"/>
                <a:cs typeface="Roboto Mono SemiBold"/>
                <a:sym typeface="Roboto Mono SemiBold"/>
              </a:endParaRPr>
            </a:p>
            <a:p>
              <a:pPr marL="0" lvl="0" indent="0" algn="l" rtl="0">
                <a:spcBef>
                  <a:spcPts val="900"/>
                </a:spcBef>
                <a:spcAft>
                  <a:spcPts val="0"/>
                </a:spcAft>
                <a:buNone/>
              </a:pPr>
              <a:r>
                <a:rPr lang="en" sz="3600" b="0">
                  <a:solidFill>
                    <a:srgbClr val="0A192F"/>
                  </a:solidFill>
                  <a:latin typeface="Inter ExtraBold"/>
                  <a:ea typeface="Inter ExtraBold"/>
                  <a:cs typeface="Inter ExtraBold"/>
                  <a:sym typeface="Inter ExtraBold"/>
                </a:rPr>
                <a:t>Thank You</a:t>
              </a:r>
              <a:endParaRPr sz="825" b="0">
                <a:solidFill>
                  <a:srgbClr val="FF5500"/>
                </a:solidFill>
                <a:latin typeface="Roboto Mono SemiBold"/>
                <a:ea typeface="Roboto Mono SemiBold"/>
                <a:cs typeface="Roboto Mono SemiBold"/>
                <a:sym typeface="Roboto Mono SemiBold"/>
              </a:endParaRPr>
            </a:p>
            <a:p>
              <a:pPr marL="0" lvl="0" indent="0" algn="l" rtl="0">
                <a:spcBef>
                  <a:spcPts val="900"/>
                </a:spcBef>
                <a:spcAft>
                  <a:spcPts val="900"/>
                </a:spcAft>
                <a:buNone/>
              </a:pPr>
              <a:endParaRPr sz="825" b="0">
                <a:solidFill>
                  <a:srgbClr val="FF5500"/>
                </a:solidFill>
                <a:latin typeface="Roboto Mono SemiBold"/>
                <a:ea typeface="Roboto Mono SemiBold"/>
                <a:cs typeface="Roboto Mono SemiBold"/>
                <a:sym typeface="Roboto Mono SemiBold"/>
              </a:endParaRPr>
            </a:p>
          </p:txBody>
        </p:sp>
      </p:grpSp>
      <p:grpSp>
        <p:nvGrpSpPr>
          <p:cNvPr id="776" name="Google Shape;776;p41"/>
          <p:cNvGrpSpPr/>
          <p:nvPr/>
        </p:nvGrpSpPr>
        <p:grpSpPr>
          <a:xfrm>
            <a:off x="8239125" y="142875"/>
            <a:ext cx="190500" cy="190500"/>
            <a:chOff x="0" y="0"/>
            <a:chExt cx="190500" cy="190500"/>
          </a:xfrm>
        </p:grpSpPr>
        <p:sp>
          <p:nvSpPr>
            <p:cNvPr id="777" name="Google Shape;777;p41"/>
            <p:cNvSpPr/>
            <p:nvPr/>
          </p:nvSpPr>
          <p:spPr>
            <a:xfrm>
              <a:off x="0" y="0"/>
              <a:ext cx="190500" cy="190500"/>
            </a:xfrm>
            <a:prstGeom prst="roundRect">
              <a:avLst>
                <a:gd name="adj" fmla="val 15000"/>
              </a:avLst>
            </a:prstGeom>
            <a:solidFill>
              <a:srgbClr val="0A192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8" name="Google Shape;778;p41"/>
            <p:cNvSpPr txBox="1"/>
            <p:nvPr/>
          </p:nvSpPr>
          <p:spPr>
            <a:xfrm>
              <a:off x="0" y="0"/>
              <a:ext cx="190500" cy="190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750" b="1" dirty="0">
                  <a:solidFill>
                    <a:srgbClr val="FFFFFF"/>
                  </a:solidFill>
                  <a:latin typeface="Roboto Mono"/>
                  <a:ea typeface="Roboto Mono"/>
                  <a:cs typeface="Roboto Mono"/>
                  <a:sym typeface="Roboto Mono"/>
                </a:rPr>
                <a:t>15</a:t>
              </a:r>
              <a:endParaRPr sz="750" b="1" dirty="0">
                <a:solidFill>
                  <a:srgbClr val="FFFFFF"/>
                </a:solidFill>
                <a:latin typeface="Roboto Mono"/>
                <a:ea typeface="Roboto Mono"/>
                <a:cs typeface="Roboto Mono"/>
                <a:sym typeface="Roboto Mono"/>
              </a:endParaRPr>
            </a:p>
          </p:txBody>
        </p:sp>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1590</Words>
  <Application>Microsoft Office PowerPoint</Application>
  <PresentationFormat>On-screen Show (16:9)</PresentationFormat>
  <Paragraphs>224</Paragraphs>
  <Slides>15</Slides>
  <Notes>15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Inter</vt:lpstr>
      <vt:lpstr>Roboto Mono SemiBold</vt:lpstr>
      <vt:lpstr>Inter Medium</vt:lpstr>
      <vt:lpstr>Arial</vt:lpstr>
      <vt:lpstr>Roboto Mono</vt:lpstr>
      <vt:lpstr>Inter ExtraBold</vt:lpstr>
      <vt:lpstr>Inter SemiBold</vt:lpstr>
      <vt:lpstr>Simple Light</vt:lpstr>
      <vt:lpstr>Simple Light</vt:lpstr>
      <vt:lpstr>A Confidence-Driven Probabilistic Machine Learning Framework for Electricity Demand–Supply Gap Forecasting and RAG-Based Energy Planning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Tamil arasu</cp:lastModifiedBy>
  <cp:revision>7</cp:revision>
  <dcterms:modified xsi:type="dcterms:W3CDTF">2026-08-19T04:15:33Z</dcterms:modified>
</cp:coreProperties>
</file>