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 (ACADEMIC YEAR 2026–2027)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Confidence-Driven Probabilistic Machine Learning Framework for Electricity Demand–Supply Gap Forecasting and RAG-Based Energy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10545775" cy="38404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B3C73"/>
                </a:solidFill>
                <a:latin typeface="Calibri"/>
              </a:defRPr>
            </a:pPr>
            <a:r>
              <a:t>Domain: Machine Learning &amp; Deep Learning  •  Probabilistic Uncertainty Quantification  •  RAG Decision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264408"/>
            <a:ext cx="47914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D40"/>
                </a:solidFill>
                <a:latin typeface="Calibri"/>
              </a:defRPr>
            </a:pPr>
            <a:r>
              <a:t>STUDENT PRESENTERS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76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 b="1">
                <a:solidFill>
                  <a:srgbClr val="0F1D40"/>
                </a:solidFill>
                <a:latin typeface="Calibri"/>
              </a:defRPr>
            </a:pPr>
            <a:r>
              <a:t>•  S. Udayakumar  (43120227)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    Role: Model Architecture &amp; Time-Series Engineering</a:t>
            </a:r>
          </a:p>
          <a:p>
            <a:pPr>
              <a:spcBef>
                <a:spcPts val="600"/>
              </a:spcBef>
              <a:defRPr sz="1200" b="1">
                <a:solidFill>
                  <a:srgbClr val="0F1D40"/>
                </a:solidFill>
                <a:latin typeface="Calibri"/>
              </a:defRPr>
            </a:pPr>
            <a:r>
              <a:t>•  D. Tamilarasu  (43120224)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    Role: Uncertainty Estimation &amp; Gap Analytics</a:t>
            </a:r>
          </a:p>
          <a:p>
            <a:pPr>
              <a:spcBef>
                <a:spcPts val="600"/>
              </a:spcBef>
              <a:defRPr sz="1200" b="1">
                <a:solidFill>
                  <a:srgbClr val="0F1D40"/>
                </a:solidFill>
                <a:latin typeface="Calibri"/>
              </a:defRPr>
            </a:pPr>
            <a:r>
              <a:t>•  Suganth Kesavan  (43120216)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    Role: RAG Pipeline &amp; Decision Support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15468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2687" y="3264408"/>
            <a:ext cx="47914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D40"/>
                </a:solidFill>
                <a:latin typeface="Calibri"/>
              </a:defRPr>
            </a:pPr>
            <a:r>
              <a:t>PROJECT SUPERVISOR &amp; INSTITUTION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Project Supervisor: </a:t>
            </a:r>
            <a:r>
              <a:rPr sz="1150" b="1">
                <a:solidFill>
                  <a:srgbClr val="0F1D40"/>
                </a:solidFill>
                <a:latin typeface="Calibri"/>
              </a:rPr>
              <a:t>Dr. Kamatchi K. S</a:t>
            </a:r>
          </a:p>
          <a:p>
            <a:pPr>
              <a:spcBef>
                <a:spcPts val="60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Academic Designation: </a:t>
            </a:r>
            <a:r>
              <a:rPr sz="1150" b="0">
                <a:solidFill>
                  <a:srgbClr val="1E293B"/>
                </a:solidFill>
                <a:latin typeface="Calibri"/>
              </a:rPr>
              <a:t>Associate Professor</a:t>
            </a:r>
          </a:p>
          <a:p>
            <a:pPr>
              <a:spcBef>
                <a:spcPts val="60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Department: </a:t>
            </a:r>
            <a:r>
              <a:rPr sz="1150" b="0">
                <a:solidFill>
                  <a:srgbClr val="1E293B"/>
                </a:solidFill>
                <a:latin typeface="Calibri"/>
              </a:rPr>
              <a:t>Department of Information Technology</a:t>
            </a:r>
          </a:p>
          <a:p>
            <a:pPr>
              <a:spcBef>
                <a:spcPts val="60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Focus Area: </a:t>
            </a:r>
            <a:r>
              <a:rPr sz="1150" b="0">
                <a:solidFill>
                  <a:srgbClr val="1E293B"/>
                </a:solidFill>
                <a:latin typeface="Calibri"/>
              </a:rPr>
              <a:t>Energy Analytics, Deep Learning &amp; Applied AI</a:t>
            </a:r>
          </a:p>
          <a:p>
            <a:pPr>
              <a:spcBef>
                <a:spcPts val="60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Academic Year: </a:t>
            </a:r>
            <a:r>
              <a:rPr sz="1150" b="0">
                <a:solidFill>
                  <a:srgbClr val="1E293B"/>
                </a:solidFill>
                <a:latin typeface="Calibri"/>
              </a:rPr>
              <a:t>2026 – 2027 (Final Year Engineering Project)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Presentation Agenda &amp; Review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34416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30759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Introduction &amp; Background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Electricity demand growth, renewable intermittency, and the balancing dilemma.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34416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0759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Statement &amp; Gaps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Identified limitations in isolated forecasting and unquantified prediction uncertainty.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35000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31343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Aim, Objectives &amp; Scope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Project goals, 7 specific technical objectives, and Tamil Nadu grid scope.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24028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1928" y="235000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1343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Expected Technical Outcomes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Dual forecasting, 90/95/99% PIs, gap quantification, and RAG energy planning.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335584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31927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Literature Survey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Analysis of 5 major benchmark papers with methodology and limitation mapping.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24612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81928" y="335584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31927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Research Gap Analysis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Structured comparative matrix contrasting conventional approaches with our framework.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5196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" y="436168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32511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Feasibility &amp; Risk Assessment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Technical, economic, operational, and environmental feasibility with risk matrix.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25196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81928" y="436168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32511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System Architecture &amp; Flow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Decoupled dual-stream forecasting architecture and RAG knowledge retrieval pipeline.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5780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36752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33095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Materials, Methods &amp; Data Analysis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Datasets, feature engineering, ML algorithms, and statistical uncertainty formulation.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25780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81928" y="536752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33095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Validation, Timeline &amp; Future Work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Jan–Mar 2026 test benchmark, model performance metrics, Gantt chart, and Phase II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Introduction &amp; Background: Power Grid Dynamics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1. Rising Electricity Demand &amp; Urbanization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09928"/>
            <a:ext cx="48920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Rapid economic expansion, EV adoption, industrial automation, and digital infrastructure drive steep surges in power demand.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Peak load swings exhibit sharp seasonal variations and extreme non-linear intraday fluctuations.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2. Renewable Integration &amp; Intermittency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09928"/>
            <a:ext cx="48920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Accelerated transition towards carbon neutrality via massive integration of Solar PV and Wind energy systems.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Generation is strictly weather-dependent (solar irradiance, wind velocity, ambient temperature, monsoon precipitation).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630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3. The Demand–Supply Balancing Dilemma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5928"/>
            <a:ext cx="48920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Severe operational challenge in maintaining instantaneous generation-load equilibrium at State Load Despatch Centres (SLDC).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Unsynchronized demand surges and generation drop-offs cause acute grid frequency deviations and reserve strain.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204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630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4. Paradigm Shift: Uncertainty &amp; RAG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995928"/>
            <a:ext cx="48920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Conventional point forecasts fail to provide operational confidence margins or risk boundaries for spinning reserves.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Critical need for probabilistic prediction intervals (90%, 95%, 99%) coupled with knowledge-grounded RAG energy planning.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97880"/>
            <a:ext cx="1069848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618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C73"/>
                </a:solidFill>
                <a:latin typeface="Calibri"/>
              </a:defRPr>
            </a:pPr>
            <a:r>
              <a:t>Key Insight: Safe grid planning requires simultaneous demand-supply gap forecasting, multi-level confidence bounds, and actionable policy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Problem Statement: Key Limitations in Existing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1: Isolated &amp; Siloed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8920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 Existing literature overwhelmingly treats electricity demand and renewable supply as separate problems.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Failing to model both dimensions simultaneously prevents grid planners from knowing the net imbalance in advance.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2: Deterministic Point Prediction Deficits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48920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 Standard ML/DL systems produce single deterministic values (point forecasts) without confidence bounds.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Point predictions fail to communicate forecast uncertainty, leaving operators blind to tail-risk extreme scenarios.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4015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3: Absence of Integrated Gap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48920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 Direct mathematical gap forecasting with combined uncertainty quantification is practically non-existent in state grids.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Without a synchronized gap model, reserve capacity allocation is either over-provisioned (wasteful) or under-provisioned (outages).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918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4015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4: Disconnect from Actionable Energy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94760"/>
            <a:ext cx="48920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 Existing forecasting algorithms output raw numbers and terminate without contextualized operational guidance.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Grid operators lack automated, policy-grounded decision support to translate numerical shortages into concrete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40680"/>
            <a:ext cx="10698480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0468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Calibri"/>
              </a:defRPr>
            </a:pPr>
            <a:r>
              <a:t>CORE RESEARCH OBJECTIVE ADDRESSED: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To bridge this gap by designing an end-to-end framework integrating: (1) Decoupled Demand and Supply ML Forecasting, (2) Probabilistic Uncertainty &amp; Prediction Intervals (90%, 95%, 99%), (3) Demand–Supply Gap Quantification, and (4) RAG-based Energy Planning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Aim, Key Objectives &amp; Operational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49377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608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PROJECT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4572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To develop a confidence-driven probabilistic machine learning framework that forecasts electricity demand and source-wise supply, quantifies prediction uncertainty through multi-level prediction intervals, estimates the future demand–supply gap, and provides knowledge-grounded energy planning recommendations via Retrieval-Augmented Generation (RAG).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49377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813048"/>
            <a:ext cx="4608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PROJECT SCOPE &amp;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572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Geographical Focus: </a:t>
            </a:r>
            <a:r>
              <a:rPr sz="950" b="0">
                <a:solidFill>
                  <a:srgbClr val="1E293B"/>
                </a:solidFill>
                <a:latin typeface="Calibri"/>
              </a:rPr>
              <a:t>Tamil Nadu Power System &amp; State Load Despatch Centre (SLDC).</a:t>
            </a:r>
          </a:p>
          <a:p>
            <a:pPr>
              <a:spcBef>
                <a:spcPts val="3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Temporal Scope: </a:t>
            </a:r>
            <a:r>
              <a:rPr sz="950" b="0">
                <a:solidFill>
                  <a:srgbClr val="1E293B"/>
                </a:solidFill>
                <a:latin typeface="Calibri"/>
              </a:rPr>
              <a:t>129 monthly observations (April 2015 – December 2025).</a:t>
            </a:r>
          </a:p>
          <a:p>
            <a:pPr>
              <a:spcBef>
                <a:spcPts val="3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Forecast Horizon: </a:t>
            </a:r>
            <a:r>
              <a:rPr sz="950" b="0">
                <a:solidFill>
                  <a:srgbClr val="1E293B"/>
                </a:solidFill>
                <a:latin typeface="Calibri"/>
              </a:rPr>
              <a:t>3-month forward operational planning window (Jan–Mar 2026).</a:t>
            </a:r>
          </a:p>
          <a:p>
            <a:pPr>
              <a:spcBef>
                <a:spcPts val="3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Supply Sources (8): </a:t>
            </a:r>
            <a:r>
              <a:rPr sz="950" b="0">
                <a:solidFill>
                  <a:srgbClr val="1E293B"/>
                </a:solidFill>
                <a:latin typeface="Calibri"/>
              </a:rPr>
              <a:t>Coal, Oil &amp; Gas, Nuclear, Hydro, Solar, Wind, Small Hydro, Bio-Power.</a:t>
            </a:r>
          </a:p>
          <a:p>
            <a:pPr>
              <a:spcBef>
                <a:spcPts val="3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Meteorological Data: </a:t>
            </a:r>
            <a:r>
              <a:rPr sz="950" b="0">
                <a:solidFill>
                  <a:srgbClr val="1E293B"/>
                </a:solidFill>
                <a:latin typeface="Calibri"/>
              </a:rPr>
              <a:t>Temperature, Relative Humidity, Rainfall, Solar Irradiance.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234440"/>
            <a:ext cx="55778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1344168"/>
            <a:ext cx="52486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SPECIFIC TECHNICAL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1. Demand Forecasting: </a:t>
            </a:r>
            <a:r>
              <a:rPr sz="950" b="0">
                <a:solidFill>
                  <a:srgbClr val="1E293B"/>
                </a:solidFill>
                <a:latin typeface="Calibri"/>
              </a:rPr>
              <a:t>Develop ML/DL models (RF, XGBoost, LightGBM, LSTM) to forecast monthly electricity demand using lag and weather features.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2. Supply Forecasting: </a:t>
            </a:r>
            <a:r>
              <a:rPr sz="950" b="0">
                <a:solidFill>
                  <a:srgbClr val="1E293B"/>
                </a:solidFill>
                <a:latin typeface="Calibri"/>
              </a:rPr>
              <a:t>Train independent ML/DL models to forecast monthly source-wise power generation across thermal, nuclear, and renewable sources.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3. Uncertainty Quantification: </a:t>
            </a:r>
            <a:r>
              <a:rPr sz="950" b="0">
                <a:solidFill>
                  <a:srgbClr val="1E293B"/>
                </a:solidFill>
                <a:latin typeface="Calibri"/>
              </a:rPr>
              <a:t>Estimate prediction uncertainty using the historical validation residual distribution (standard error sigma).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4. Multi-Level Prediction Intervals: </a:t>
            </a:r>
            <a:r>
              <a:rPr sz="950" b="0">
                <a:solidFill>
                  <a:srgbClr val="1E293B"/>
                </a:solidFill>
                <a:latin typeface="Calibri"/>
              </a:rPr>
              <a:t>Construct 90%, 95%, and 99% symmetric confidence bounds around point forecasts using standard normal critical values.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5. Demand–Supply Gap Analysis: </a:t>
            </a:r>
            <a:r>
              <a:rPr sz="950" b="0">
                <a:solidFill>
                  <a:srgbClr val="1E293B"/>
                </a:solidFill>
                <a:latin typeface="Calibri"/>
              </a:rPr>
              <a:t>Calculate the net operational gap (Gap = Predicted Demand - Predicted Supply) and combine standard errors (sigma_G = sqrt(sigma_D^2 + sigma_S^2)).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6. Risk &amp; Condition Classification: </a:t>
            </a:r>
            <a:r>
              <a:rPr sz="950" b="0">
                <a:solidFill>
                  <a:srgbClr val="1E293B"/>
                </a:solidFill>
                <a:latin typeface="Calibri"/>
              </a:rPr>
              <a:t>Perform deterministic threshold classification (Shortage/Surplus/Balanced; Low &lt;3000 MU, Moderate 3000-4500 MU, High &gt;4500 MU).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7. RAG Knowledge Planning: </a:t>
            </a:r>
            <a:r>
              <a:rPr sz="950" b="0">
                <a:solidFill>
                  <a:srgbClr val="1E293B"/>
                </a:solidFill>
                <a:latin typeface="Calibri"/>
              </a:rPr>
              <a:t>Retrieve trusted energy policies, grid regulations, and CEA guidelines from a FAISS vector database to generate LLM-powered planning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Expected Technical Outcomes &amp; System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1. Accurate Demand Forecasting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High-accuracy monthly demand point forecasts.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LSTM outperforms baselines with R² = 0.78, MAE = 368.72 MU, MAPE = 3.41%.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2. Source-Wise Supply Forecasting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Independent forecasting of 8 energy generation sources.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LSTM captures renewable intermittency with R² = 0.56, MAE = 731.56 MU, MAPE = 6.30%.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03580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3. Multi-Level Prediction Intervals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Quantified uncertainty with 90%, 95%, and 99% confidence bands.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Provides grid operators with rigorous statistical boundaries for tail-risk planning.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03580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4. Mathematical Demand–Supply Gap Estimation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83280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Direct quantification of net state electricity deficit/surplus.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Propagated standard error: sigma_G = sqrt(sigma_D^2 + sigma_S^2) = 1,070.88 MU.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72744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5. Deterministic Risk &amp; Threshold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Clear operational condition status: Shortage, Balanced, or Surplus.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Threshold severity bands: Low (&lt;3000 MU), Moderate (3000–4500 MU), High (&gt;4500 MU).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61772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72744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6. RAG-Powered Energy Planning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74920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Knowledge-grounded recommendations synthesized by LLM.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Grounded in CEA, TNERC regulations, spinning reserves, and demand response protocols.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Survey: Summary of Key Benchmark Studies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377440"/>
                <a:gridCol w="2316175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/ Year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 / Model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Application Domain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Major Finding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Identified Limitation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Chisale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(2025) [5]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ECEEMDAN-BiGRU &amp;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Quantile Regression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Electricity Demand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Forecasting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Signal decomposition effectively extracts non-linear trends; quantile regression yields robust demand intervals.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Focuses exclusively on demand; completely omits supply-side forecasting &amp; gap estimation.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Cao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(2022) [15]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Transformer-Guided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State Space (TPEDF)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Probabilistic Demand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Transformer attention captures long-term dependencies while state-space model quantifies uncertainty distributions.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Single-side forecasting; lacks demand-supply integration and actionable decision support.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Terrón-Serrano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(2026) [13]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Shared Probabilistic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Distributions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Day-Ahead Demand &amp;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Renewables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Joint probabilistic modeling of load and renewables using weather data improves reserve scheduling efficiency.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Does not compute operational gap intervals or incorporate RAG-based regulatory planning.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Ni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(2024) [16]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ChatGrid: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 + RAG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Power Dispatching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Knowledge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Retrieval-Augmented Generation grounds LLM answers in grid dispatch rules, dramatically cutting hallucinations.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Standalone conversational Q&amp;A system; lacks integration with numerical ML forecasting engines.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Debnath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(2025) [29]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Weather-Informed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LSTM &amp; Transformer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Extreme Weather Grid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Load Forecasting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Incorporating multi-source weather variables (temperature, humidity) significantly reduces peak load forecast errors.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point predictions only; no confidence intervals or supply-gap risk assessment.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Research Gap Analysis: Conventional vs Proposed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3444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926080"/>
                <a:gridCol w="2956255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Existing Approaches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Framework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Gap Addressed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Forecasting Scope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Forecasts demand or supply in isolation (siloed models)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Decoupled, synchronized dual-stream forecasting (Demand + Supply)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Eliminates operational mismatch between generation and load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Prediction 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point forecasts (single values)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Confidence-driven probabilistic forecasting with multi-level bounds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Quantifies prediction uncertainty for tail-risk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Prediction Intervals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Rarely implemented, or single-level (e.g., 95% only)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Multi-level 90%, 95%, and 99% symmetric prediction intervals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Offers customizable risk tolerance margins for SLDC operators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Demand–Supply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Heuristic or post-hoc comparison without 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Dedicated mathematical gap engine with combined sigma_G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Provides rigorous statistical confidence bounds for net deficit/surplus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Risk Assessment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Manual, ad-hoc threshold inspection by engineers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3-tier severity classification (Low, Moderate, High)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Standardizes automated dispatch alerts and operational priority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Energy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Disconnected static rulebooks or ungrounded LLMs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Integrated RAG engine with FAISS vector retrieval &amp; grounded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Bridges numerical forecast outputs directly to policy-grounded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669280"/>
            <a:ext cx="10728655" cy="7772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C73"/>
                </a:solidFill>
                <a:latin typeface="Calibri"/>
              </a:defRPr>
            </a:pPr>
            <a:r>
              <a:t>Key Innovation Summary: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Our framework uniquely closes the loop: Data Ingestion -&gt; Decoupled ML Forecasting -&gt; Multi-Level Residual Uncertainty -&gt; Mathematical Gap Estimation -&gt; Deterministic Risk Classification -&gt; RAG-Grounded Energy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Feasibility Analysis: Technical, Economic, Operational &amp; Environmental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Technical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892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Leverages proven deep learning architectures (LSTM) and gradient boosting frameworks (XGBoost, LightGBM, Random Forest).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Residual uncertainty modeling uses robust statistical principles (standard normal critical values z_0.95, z_0.975, z_0.995).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RAG pipeline is built using efficient FAISS vector indexing and state-of-the-art quantized LLMs (Llama-3/Mistral/Ollama).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Economic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4892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Zero data acquisition costs: utilizes openly accessible public datasets from CEA, Grid-India, and NASA POWER.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100% open-source software stack (Python, TensorFlow, Scikit-learn, FAISS, Streamlit) eliminates proprietary licensing fees.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Minimal computational footprint: training and inference execute seamlessly on standard workstation GPUs / multi-core CPUs.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81304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Operational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4892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Seamlessly integrates into existing SLDC and utility operational workflows via intuitive dashboard visualizations.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Translates complex probabilistic interval math into clear, color-coded risk alerts and transparent numerical bounds.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Maintains human-in-the-loop governance: RAG provides actionable recommendations while engineers retain final dispatch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81304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Environmental Feasibility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06240"/>
            <a:ext cx="4892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Facilitates maximum integration of intermittent renewable sources (solar and wind) into the state energy mix.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Minimizes fossil-fuel spinning reserve wastage and renewable curtailment through accurate 3-month lookahead gap forecasts.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Directly aligns with India's carbon neutrality targets and state-level renewable purchase obligations (RPO).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Resource Requirements &amp; Risk Assessment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49377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608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SYSTEM RESOURCE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B3C73"/>
                </a:solidFill>
                <a:latin typeface="Calibri"/>
              </a:defRPr>
            </a:pPr>
            <a:r>
              <a:t>Hardware Requirements: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Processor: Multi-core CPU (Intel Core i5/i7/i9 or AMD Ryzen 5/7/9)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System Memory: 16 GB DDR4/DDR5 RAM (minimum)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Graphics Accelerator: NVIDIA GPU (CUDA-compatible) for deep learning and vector operations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Storage: 50 GB SSD for datasets, trained model weights, and FAISS indices</a:t>
            </a:r>
          </a:p>
          <a:p>
            <a:pPr>
              <a:spcBef>
                <a:spcPts val="800"/>
              </a:spcBef>
              <a:defRPr sz="1050" b="1">
                <a:solidFill>
                  <a:srgbClr val="1B3C73"/>
                </a:solidFill>
                <a:latin typeface="Calibri"/>
              </a:defRPr>
            </a:pPr>
            <a:r>
              <a:t>Software &amp; Development Stack: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Operating System: Windows 11 / Linux (Ubuntu 22.04 LTS)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Programming Runtime: Python 3.11 / Python 3.12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ML/DL Libraries: TensorFlow/Keras, Scikit-learn, XGBoost, LightGBM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Data &amp; Scientific: Pandas, NumPy, SciPy, Joblib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RAG &amp; Vector Database: FAISS (CPU/GPU), LangChain / LlamaIndex, Ollama / HuggingFace Transformers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Development Environment: Jupyter Notebook, VS Code / Antigravity 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234440"/>
            <a:ext cx="55778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1344168"/>
            <a:ext cx="52486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RISK ASSESSMENT &amp; MITIGATION MATRIX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89320" y="1737360"/>
          <a:ext cx="53035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2834640"/>
              </a:tblGrid>
              <a:tr h="89611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Identified Risk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Renewable Weather Volatility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Integrate multi-source weather data (temperature, irradiance, humidity) &amp; multi-tier 90/95/99% prediction intervals.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Overfitting on Seasonal Peaks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Implement time-series chronological train/test split, lag features, rolling windows, and cyclical harmonic encoders.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 Hallucination in Planning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Strict RAG architecture with top-k vector retrieval from authoritative energy policies, temperature clamping &amp; prompt constraints.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 Inconsistency across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Robust preprocessing pipeline with automated date normalization, missing-value interpolation, and unit harmonization.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Proposed System Overview &amp; End-to-End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1188720"/>
            <a:ext cx="7619695" cy="5943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234440"/>
            <a:ext cx="74368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C73"/>
                </a:solidFill>
                <a:latin typeface="Calibri"/>
              </a:defRPr>
            </a:pPr>
            <a:r>
              <a:t>DATA INGESTION LAYER: Historical Energy Records (CEA, NITI Aayog) + Weather Data (NASA POWER, IMD)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1810512"/>
            <a:ext cx="36576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2057400"/>
            <a:ext cx="761969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103120"/>
            <a:ext cx="74368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Calibri"/>
              </a:defRPr>
            </a:pPr>
            <a:r>
              <a:t>PREPROCESSING &amp; FEATURE ENGINEERING: Missing Value Imputation • Date Alignment • Lag (1,2,3,6,12) • Rolling Averages • Cyclical Encoders • MinMax Scaling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657600" y="2679192"/>
            <a:ext cx="32004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138160" y="2679192"/>
            <a:ext cx="32004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2926080"/>
            <a:ext cx="4389120" cy="10515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4206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369A1"/>
                </a:solidFill>
                <a:latin typeface="Calibri"/>
              </a:defRPr>
            </a:pPr>
            <a:r>
              <a:t>MODULE A: ELECTRICITY DEMAND FORECASTING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Model: LSTM Sequence Model (Lookback = 3)</a:t>
            </a:r>
            <a:br/>
            <a:r>
              <a:t>• Outputs: Point Demand (D_hat) &amp; Uncertainty (sigma_D = 391.30 MU)</a:t>
            </a:r>
            <a:br/>
            <a:r>
              <a:t>• Multi-Level Intervals: 90%, 95%, 99% Demand 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4389120" cy="1051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971800"/>
            <a:ext cx="4206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5803D"/>
                </a:solidFill>
                <a:latin typeface="Calibri"/>
              </a:defRPr>
            </a:pPr>
            <a:r>
              <a:t>MODULE B: ELECTRICITY SUPPLY FORECASTING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Model: LSTM Sequence Model (8 Sources, Lookback = 6)</a:t>
            </a:r>
            <a:br/>
            <a:r>
              <a:t>• Outputs: Point Supply (S_hat) &amp; Uncertainty (sigma_S = 996.83 MU)</a:t>
            </a:r>
            <a:br/>
            <a:r>
              <a:t>• Multi-Level Intervals: 90%, 95%, 99% Supply PIs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657600" y="4005072"/>
            <a:ext cx="320040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8138160" y="4005072"/>
            <a:ext cx="320040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4224528"/>
            <a:ext cx="9418320" cy="7772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261104"/>
            <a:ext cx="9235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D40"/>
                </a:solidFill>
                <a:latin typeface="Calibri"/>
              </a:defRPr>
            </a:pPr>
            <a:r>
              <a:t>DEMAND–SUPPLY GAP ANALYSIS &amp; PROBABILISTIC UNCERTAINTY PROPAGATION</a:t>
            </a:r>
          </a:p>
          <a:p>
            <a:pPr algn="ctr">
              <a:defRPr sz="850">
                <a:solidFill>
                  <a:srgbClr val="1E293B"/>
                </a:solidFill>
                <a:latin typeface="Calibri"/>
              </a:defRPr>
            </a:pPr>
            <a:r>
              <a:t>Gap Equation: G_hat = D_hat - S_hat  |  Combined Uncertainty: sigma_G = sqrt(sigma_D^2 + sigma_S^2) = 1,070.88 MU  |  90%, 95%, 99% Gap Prediction Intervals</a:t>
            </a:r>
            <a:br/>
            <a:r>
              <a:t>Condition Classification: Shortage (G_hat &gt; 0) • Balanced (G_hat = 0) • Surplus (G_hat &lt; 0)  |  Deterministic Risk: Low (&lt;3000) • Moderate (3000-4500) • High (&gt;4500 MU)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97880" y="5029200"/>
            <a:ext cx="365760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257800"/>
            <a:ext cx="1036289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101800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Calibri"/>
              </a:defRPr>
            </a:pPr>
            <a:r>
              <a:t>RETRIEVAL-AUGMENTED GENERATION (RAG) &amp; ENERGY PLANNING RECOMMENDATION ENGINE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Knowledge Base: Energy Acts, TNERC Grid Codes, CEA Planning Reports, SLDC Operating Norms, Demand Response Protocols</a:t>
            </a:r>
            <a:br/>
            <a:r>
              <a:t>• Vector Store &amp; Retrieval: Domain Text Chunking -&gt; Dense Embeddings -&gt; FAISS Vector Database (Top-k Semantic Similarity Search)</a:t>
            </a:r>
            <a:br/>
            <a:r>
              <a:t>• LLM Synthesis: Forecast Numbers + Risk Severity + Retrieved Regulatory Evidence -&gt; Contextual Energy Planning Actions</a:t>
            </a:r>
            <a:br/>
            <a:r>
              <a:t>• Final Deliverable: Generation Scheduling, Power Trading, Peaking Plant Dispatch, Maintenance Planning &amp; Grid Reliability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Methodology Flowchart &amp; Stage-by-Stage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2529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1: Data Collection (CEA, NITI Aayog, NASA POWER, IMD: 129 monthly records)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00784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37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2: Data Preprocessing &amp; Feature Engineering (Lags 1-12, Rolling Means, Sin/Cos)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12848"/>
            <a:ext cx="5486400" cy="43891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942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D40"/>
                </a:solidFill>
                <a:latin typeface="Calibri"/>
              </a:defRPr>
            </a:pPr>
            <a:r>
              <a:t>Step 3: Independent ML Training: RF, XGBoost, LightGBM, LSTM (80/20 Chronological Split)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24912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6148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4: Model Evaluation &amp; Selection via MAE, RMSE, MAPE, and R²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36976"/>
            <a:ext cx="5486400" cy="43891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D40"/>
                </a:solidFill>
                <a:latin typeface="Calibri"/>
              </a:defRPr>
            </a:pPr>
            <a:r>
              <a:t>Step 5: Point Forecasting for Demand (D_hat) and Source-Wise Generation (S_hat)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40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8561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6: Residual Uncertainty Quantification: sigma_D = 391.30 MU, sigma_S = 996.83 MU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61104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7: Multi-Level Prediction Intervals Generation: 90%, 95%, and 99% Bounds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73168"/>
            <a:ext cx="5486400" cy="43891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0974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D40"/>
                </a:solidFill>
                <a:latin typeface="Calibri"/>
              </a:defRPr>
            </a:pPr>
            <a:r>
              <a:t>Step 8: Demand–Supply Gap &amp; Combined Uncertainty: G_hat = D_hat - S_hat, sigma_G = 1070.88 MU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85232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2180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9: Deterministic Risk Classification (Shortage/Surplus; Low, Moderate, High Impact)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97296"/>
            <a:ext cx="5486400" cy="43891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3387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D40"/>
                </a:solidFill>
                <a:latin typeface="Calibri"/>
              </a:defRPr>
            </a:pPr>
            <a:r>
              <a:t>Step 10: RAG Vector Retrieval (FAISS) + LLM Synthesis -&gt; Energy Planning Policy Actions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1188720"/>
            <a:ext cx="49377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1298448"/>
            <a:ext cx="4608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METHODOLOGICAL STAGES BREAKDOWN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160020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1B3C73"/>
                </a:solidFill>
                <a:latin typeface="Calibri"/>
              </a:defRPr>
            </a:pPr>
            <a:r>
              <a:t>Phase I: Data Integration &amp; Engineering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129 monthly rows (Apr 2015 – Dec 2025). Missing values imputed. Features include 3-month and 6-month historical lookbacks, rolling statistics, and cyclical calendar harmonics.</a:t>
            </a:r>
          </a:p>
          <a:p>
            <a:pPr>
              <a:spcBef>
                <a:spcPts val="600"/>
              </a:spcBef>
              <a:defRPr sz="1000" b="1">
                <a:solidFill>
                  <a:srgbClr val="1B3C73"/>
                </a:solidFill>
                <a:latin typeface="Calibri"/>
              </a:defRPr>
            </a:pPr>
            <a:r>
              <a:t>Phase II: Decoupled ML Modeling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Four candidate architectures evaluated (RF, XGBoost, LightGBM, LSTM). Models trained separately on demand and 8 supply sources. LSTM demonstrated superior long-term dependency capture.</a:t>
            </a:r>
          </a:p>
          <a:p>
            <a:pPr>
              <a:spcBef>
                <a:spcPts val="600"/>
              </a:spcBef>
              <a:defRPr sz="1000" b="1">
                <a:solidFill>
                  <a:srgbClr val="1B3C73"/>
                </a:solidFill>
                <a:latin typeface="Calibri"/>
              </a:defRPr>
            </a:pPr>
            <a:r>
              <a:t>Phase III: Residual Uncertainty &amp; Gap Math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Residual distributions quantify empirical standard errors (sigma_e). Symmetric prediction intervals generated using standard normal critical multipliers (z=1.645, 1.960, 2.576). Gap error propagated orthogonally.</a:t>
            </a:r>
          </a:p>
          <a:p>
            <a:pPr>
              <a:spcBef>
                <a:spcPts val="600"/>
              </a:spcBef>
              <a:defRPr sz="1000" b="1">
                <a:solidFill>
                  <a:srgbClr val="1B3C73"/>
                </a:solidFill>
                <a:latin typeface="Calibri"/>
              </a:defRPr>
            </a:pPr>
            <a:r>
              <a:t>Phase IV: RAG-Grounded Decision Support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Forecast outputs and risk levels form a structured semantic query. FAISS retrieves top-k relevant energy policy clauses. LLM generates explainable dispatch and resource planning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Materials, Methods &amp; Experimental Data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298448"/>
            <a:ext cx="47914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DATASET SPECIFICATIONS &amp; SOURCES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8680" y="1600200"/>
          <a:ext cx="48463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 / Dataset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Official Source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Records / Range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Electricity Demand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NITI Aayog / CEA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129 Months (2015-2025)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Source-Wise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NITI Aayog / CEA (8 sources)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129 Months (2015-2025)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Temperature &amp; Humidity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NASA POWER Portal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129 Months (Tamil Nadu)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Rainfall &amp; Solar Irradiance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IMD / National Water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129 Months (Aggregated)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035040" y="1188720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298448"/>
            <a:ext cx="50657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MATHEMATICAL FORMULATIONS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00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Residual Standard Error:  </a:t>
            </a:r>
            <a:r>
              <a:rPr sz="900" b="0">
                <a:solidFill>
                  <a:srgbClr val="1B3C73"/>
                </a:solidFill>
                <a:latin typeface="Calibri"/>
              </a:rPr>
              <a:t>sigma_e = sqrt( sum( (y_act - y_pred)^2 ) / (N - 1) )</a:t>
            </a:r>
          </a:p>
          <a:p>
            <a:pPr>
              <a:spcBef>
                <a:spcPts val="3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Prediction Intervals (PI):  </a:t>
            </a:r>
            <a:r>
              <a:rPr sz="900" b="0">
                <a:solidFill>
                  <a:srgbClr val="1B3C73"/>
                </a:solidFill>
                <a:latin typeface="Calibri"/>
              </a:rPr>
              <a:t>PI_(1-alpha) = [ y_hat - z_(1-alpha/2) * sigma,  y_hat + z_(1-alpha/2) * sigma ]</a:t>
            </a:r>
          </a:p>
          <a:p>
            <a:pPr>
              <a:spcBef>
                <a:spcPts val="3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Critical Z-Multipliers:  </a:t>
            </a:r>
            <a:r>
              <a:rPr sz="900" b="0">
                <a:solidFill>
                  <a:srgbClr val="1B3C73"/>
                </a:solidFill>
                <a:latin typeface="Calibri"/>
              </a:rPr>
              <a:t>90% -&gt; z=1.645  |  95% -&gt; z=1.960  |  99% -&gt; z=2.576</a:t>
            </a:r>
          </a:p>
          <a:p>
            <a:pPr>
              <a:spcBef>
                <a:spcPts val="3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Combined Gap &amp; Sigma:  </a:t>
            </a:r>
            <a:r>
              <a:rPr sz="900" b="0">
                <a:solidFill>
                  <a:srgbClr val="1B3C73"/>
                </a:solidFill>
                <a:latin typeface="Calibri"/>
              </a:rPr>
              <a:t>G_hat = D_hat - S_hat  |  sigma_Gap = sqrt( sigma_Demand^2 + sigma_Supply^2 )</a:t>
            </a:r>
          </a:p>
          <a:p>
            <a:pPr>
              <a:spcBef>
                <a:spcPts val="3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Deterministic Risk Bands:  </a:t>
            </a:r>
            <a:r>
              <a:rPr sz="900" b="0">
                <a:solidFill>
                  <a:srgbClr val="1B3C73"/>
                </a:solidFill>
                <a:latin typeface="Calibri"/>
              </a:rPr>
              <a:t>Low: Gap &lt; 3000 MU  |  Moderate: 3000-4500 MU  |  High: Gap &gt; 4500 MU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120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904488"/>
            <a:ext cx="47914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DEMAND MODEL PERFORMANCE COMPARISON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68680" y="4206240"/>
          <a:ext cx="4846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68680"/>
                <a:gridCol w="868680"/>
                <a:gridCol w="91440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(MU)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(MU)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741.63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909.69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6.56%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619.18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724.51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634.18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748.24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5.66%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LSTM (Selected)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368.72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412.93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3.41%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035040" y="3794760"/>
            <a:ext cx="53949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904488"/>
            <a:ext cx="50657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SUPPLY MODEL PERFORMANCE COMPARISON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72200" y="4206240"/>
          <a:ext cx="5120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960120"/>
                <a:gridCol w="868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(MU)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(MU)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823.30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1220.90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6.89%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847.76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1215.30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802.74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1157.40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6.74%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LSTM (Selected)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731.56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973.93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6.30%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Experimental Validation, Project Timeline &amp;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107286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298448"/>
            <a:ext cx="1039947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HOLD-OUT FUTURE VALIDATION BENCHMARK (JANUARY – MARCH 2026)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8680" y="1554480"/>
          <a:ext cx="1045433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188720"/>
                <a:gridCol w="1097280"/>
                <a:gridCol w="1188720"/>
                <a:gridCol w="1005840"/>
                <a:gridCol w="1097280"/>
                <a:gridCol w="1645920"/>
                <a:gridCol w="1218895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Dem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Demand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Sup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Supply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Gap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Gap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95% Gap PI [Lower, Upper]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 / Risk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Jan 2026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10,067.00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11,047.51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10,189.56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8,809.63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-122.56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+2,237.88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[138.99,  4,336.77] MU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Shortage (Low Risk)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10,125.00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12,308.25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10,405.60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9,229.95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-280.60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+3,078.30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[979.41,  5,177.19] 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Shortage (Moderate)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Mar 2026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12,233.00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12,594.89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11,247.51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9,574.64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+985.49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+3,020.25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[921.36,  5,119.14] MU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Shortage (Moderate)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" y="3566160"/>
            <a:ext cx="62179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75888"/>
            <a:ext cx="58887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PROJECT IMPLEMENTATION TIMELINE (PHASE I &amp; II)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68680" y="3977639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1005840"/>
                <a:gridCol w="100584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Phase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Deliverables &amp; Milestones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I: Initiation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Literature Survey, Dataset Collection &amp; Cleaning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Months 1–2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I: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 Training (RF, XGB, LGBM, LSTM) &amp;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Months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I: Analytics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Uncertainty Quantification (90/95/99% PIs) &amp; Gap Math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 5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I: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RAG Pipeline Prototype &amp; IEEE Paper Preparation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II: Deployment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Interactive Web UI, Multi-Agent RAG &amp; Live APIs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Months 7–10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132320" y="3566160"/>
            <a:ext cx="4327855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3675888"/>
            <a:ext cx="399867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ACADEMIC PROJECT BUDGET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269480" y="3977639"/>
          <a:ext cx="405353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27455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Resource Category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Provisioning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(INR)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Hardware / Compute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Institutional Lab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 0 (In-house)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Datasets (CEA/NASA)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Open Public Portals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 0 (Open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Software Frameworks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Open-Source Python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 0 (FOSS)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Vector DB &amp; Local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FAISS / Ollama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 0 (Zero-cost)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II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Phase II Implementation Plan, Future Scope &amp;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PLANNED PHASE II IMPLEMENTATION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8920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Interactive Web Dashboard: </a:t>
            </a:r>
            <a:r>
              <a:rPr sz="900" b="0">
                <a:solidFill>
                  <a:srgbClr val="1E293B"/>
                </a:solidFill>
                <a:latin typeface="Calibri"/>
              </a:rPr>
              <a:t>Deploy a production-grade Streamlit/FastAPI web interface featuring live scenario sliders, interval toggles, and condition gauges.</a:t>
            </a:r>
          </a:p>
          <a:p>
            <a:pPr>
              <a:spcBef>
                <a:spcPts val="4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Real-Time Data Ingestion: </a:t>
            </a:r>
            <a:r>
              <a:rPr sz="900" b="0">
                <a:solidFill>
                  <a:srgbClr val="1E293B"/>
                </a:solidFill>
                <a:latin typeface="Calibri"/>
              </a:rPr>
              <a:t>Integrate automated live weather APIs (OpenWeather / IMD) and real-time SCADA generation data streams.</a:t>
            </a:r>
          </a:p>
          <a:p>
            <a:pPr>
              <a:spcBef>
                <a:spcPts val="4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Multi-Agent RAG Architecture: </a:t>
            </a:r>
            <a:r>
              <a:rPr sz="900" b="0">
                <a:solidFill>
                  <a:srgbClr val="1E293B"/>
                </a:solidFill>
                <a:latin typeface="Calibri"/>
              </a:rPr>
              <a:t>Implement multi-agent cooperative verification where specialized LLM agents debate and refine dispatch recommendations.</a:t>
            </a:r>
          </a:p>
          <a:p>
            <a:pPr>
              <a:spcBef>
                <a:spcPts val="4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Hyperparameter Optimization: </a:t>
            </a:r>
            <a:r>
              <a:rPr sz="900" b="0">
                <a:solidFill>
                  <a:srgbClr val="1E293B"/>
                </a:solidFill>
                <a:latin typeface="Calibri"/>
              </a:rPr>
              <a:t>Explore Bayesian optimization for deep recurrent networks and automated residual calibration across shifting seasons.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44168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FUTURE RESEARCH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48920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0E7490"/>
                </a:solidFill>
                <a:latin typeface="Calibri"/>
              </a:defRPr>
            </a:pPr>
            <a:r>
              <a:t>•  Advanced Transformer Architectures: </a:t>
            </a:r>
            <a:r>
              <a:rPr sz="900" b="0">
                <a:solidFill>
                  <a:srgbClr val="1E293B"/>
                </a:solidFill>
                <a:latin typeface="Calibri"/>
              </a:rPr>
              <a:t>Investigate Temporal Fusion Transformers (TFT) and Informer models for high-resolution sub-hourly load forecasting.</a:t>
            </a:r>
          </a:p>
          <a:p>
            <a:pPr>
              <a:spcBef>
                <a:spcPts val="400"/>
              </a:spcBef>
              <a:defRPr sz="950" b="1">
                <a:solidFill>
                  <a:srgbClr val="0E7490"/>
                </a:solidFill>
                <a:latin typeface="Calibri"/>
              </a:defRPr>
            </a:pPr>
            <a:r>
              <a:t>•  Dynamic Conformal Prediction: </a:t>
            </a:r>
            <a:r>
              <a:rPr sz="900" b="0">
                <a:solidFill>
                  <a:srgbClr val="1E293B"/>
                </a:solidFill>
                <a:latin typeface="Calibri"/>
              </a:rPr>
              <a:t>Implement non-parametric conformal prediction intervals to capture extreme climate anomalies without assuming normal residuals.</a:t>
            </a:r>
          </a:p>
          <a:p>
            <a:pPr>
              <a:spcBef>
                <a:spcPts val="400"/>
              </a:spcBef>
              <a:defRPr sz="950" b="1">
                <a:solidFill>
                  <a:srgbClr val="0E7490"/>
                </a:solidFill>
                <a:latin typeface="Calibri"/>
              </a:defRPr>
            </a:pPr>
            <a:r>
              <a:t>•  Battery Energy Storage (BESS) Dispatch: </a:t>
            </a:r>
            <a:r>
              <a:rPr sz="900" b="0">
                <a:solidFill>
                  <a:srgbClr val="1E293B"/>
                </a:solidFill>
                <a:latin typeface="Calibri"/>
              </a:rPr>
              <a:t>Incorporate automated optimal BESS charge/discharge scheduling algorithms directly into the RAG recommendation loop.</a:t>
            </a:r>
          </a:p>
          <a:p>
            <a:pPr>
              <a:spcBef>
                <a:spcPts val="400"/>
              </a:spcBef>
              <a:defRPr sz="950" b="1">
                <a:solidFill>
                  <a:srgbClr val="0E7490"/>
                </a:solidFill>
                <a:latin typeface="Calibri"/>
              </a:defRPr>
            </a:pPr>
            <a:r>
              <a:t>•  Inter-State Grid Power Wheeling: </a:t>
            </a:r>
            <a:r>
              <a:rPr sz="900" b="0">
                <a:solidFill>
                  <a:srgbClr val="1E293B"/>
                </a:solidFill>
                <a:latin typeface="Calibri"/>
              </a:rPr>
              <a:t>Extend gap analytics to regional inter-state exchange corridors and dynamic spot market pricing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00600"/>
            <a:ext cx="10744200" cy="1600200"/>
          </a:xfrm>
          <a:prstGeom prst="roundRect">
            <a:avLst/>
          </a:prstGeom>
          <a:solidFill>
            <a:srgbClr val="0F1D40"/>
          </a:solidFill>
          <a:ln w="12700"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10378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3C5FD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</a:defRPr>
            </a:pPr>
            <a:r>
              <a:t>Confidence-Driven Probabilistic Machine Learning Framework for Electricity Demand–Supply Gap Forecasting and RAG-Based Energy Planning</a:t>
            </a:r>
            <a:br/>
            <a:r>
              <a:t>Department of Information Technology  •  Academic Year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